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69319D-7BE5-47CC-92A8-FE240B5B58D0}" v="78" dt="2026-01-08T11:58:30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277D5-7C18-98C1-16A9-4C7843308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E366-E26C-64B6-8CC0-C8A267920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0C852-1586-36F8-2B23-D403213F9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9CD3-4071-4D97-82A5-5F54AB9690A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22825-F76A-20E1-C18E-F657F5A02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C67C7-FF03-6A18-84FA-95423267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A77BC-502E-4B05-A575-4F66DECB3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169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40BDD-1D6D-FD65-50C2-C97583834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D662F-FEAC-F3D2-F6B5-EEDB8C777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E7C48-2337-7F1B-72C2-79B4A0D1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9CD3-4071-4D97-82A5-5F54AB9690A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2B916-6D5B-40B4-3846-FEBB3476B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4C419-C4EB-BA95-C481-F5456A5E6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A77BC-502E-4B05-A575-4F66DECB3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96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140C-8259-D874-36D1-223B594A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41F91-6DDE-9842-5AA0-052897C92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B5140-D1AC-8D16-1D5D-768C7626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9CD3-4071-4D97-82A5-5F54AB9690A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D08EC-573E-9544-E65F-73278A65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1032B-C709-9197-4353-AD4526FA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A77BC-502E-4B05-A575-4F66DECB3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57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1BA77-C07C-A8AB-4E7F-BD2C9992D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C21B0-0E5A-3881-1FD4-49466603C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27F7E-C9CF-F0FA-6006-FCB19DA6A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90012-F9DC-C1F7-DFCE-7EB469AB2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9CD3-4071-4D97-82A5-5F54AB9690A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798EF-4898-EE8A-C551-1D07863C1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03ACC-EE16-B8D7-9A7B-BE36EF758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A77BC-502E-4B05-A575-4F66DECB3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92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202A-3D6F-7D3B-B244-51A1DA04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C14FD-F28B-DA63-246F-717395360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387E5-9F39-CF86-D0F2-906419667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64AB7E-EC2F-536F-E130-D89861B1D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4A631-4446-8255-ED8F-5CF110FC7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1C1C63-275C-1C7F-B05C-0F44E9FD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9CD3-4071-4D97-82A5-5F54AB9690A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7E45F5-864B-2CD0-A4CB-749F4E60E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50C532-0921-C71B-23DE-37A560D8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A77BC-502E-4B05-A575-4F66DECB3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60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67422-E992-7181-7031-B240026C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37AAD-2180-0623-61A8-CCA4FA66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9CD3-4071-4D97-82A5-5F54AB9690A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DDFDA-8BC0-7369-0928-7671A3608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F302E-C3AC-7A4A-897F-FEDCE165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A77BC-502E-4B05-A575-4F66DECB3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9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FB3AF-AFBE-D931-09A8-38F1D52A7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9CD3-4071-4D97-82A5-5F54AB9690A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568DA-37AF-65E4-36E2-8E9BBC2B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22467-B527-E70B-B8F3-6CD11E2E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A77BC-502E-4B05-A575-4F66DECB3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57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86E4-37EE-F739-80A0-BB329652F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89CD1-6032-3E75-31FD-8A22D6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68A0C-D8FC-E5E1-D81D-568F05DE3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EE848-40B4-6ED1-448C-DE04A522B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9CD3-4071-4D97-82A5-5F54AB9690A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F894F-E055-9117-5B3C-E99ADA45A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2A56C-D062-7718-0A57-7A8B1E5BF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A77BC-502E-4B05-A575-4F66DECB3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677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0DE3B-C991-5F1C-3F65-141662BE2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83A83D-40E8-C6C7-68A6-7F0584BAC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C1474-EE04-1F7C-2529-62A4CD45F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59450-E6F1-26EE-6485-59A61D76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9CD3-4071-4D97-82A5-5F54AB9690A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81B90-E3D6-F843-9049-F25B6474A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35D92-C732-A828-1AFB-CACEF6E68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A77BC-502E-4B05-A575-4F66DECB3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85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FD30-30E8-AD3D-6FC8-45886B62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29F96-B245-C613-4141-15BA13320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A82A4-8072-1D7E-4637-D37F5387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9CD3-4071-4D97-82A5-5F54AB9690A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00329-4A51-BF90-7AAC-E1EA543B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626F2-B3A5-B747-338D-EDE92368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A77BC-502E-4B05-A575-4F66DECB3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26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05E0A8-D807-B0DC-54C8-C2AA7A57C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574B1-DB67-4768-B4CE-980F55933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B6F14-37E0-EE7E-830C-2ABEB0E2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B9CD3-4071-4D97-82A5-5F54AB9690A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50492-1757-9860-2072-A9EE3DB8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F467B-F7E1-A670-DC05-1D96B8E3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A77BC-502E-4B05-A575-4F66DECB3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776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C1BF86-2C84-A460-B733-27C50E43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BD68F-725E-3332-B5EA-0452F071A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5A4B6-E9EB-32AE-68FA-61ED4FCE0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B9CD3-4071-4D97-82A5-5F54AB9690A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81B6A-9844-66D3-6943-5615ACB97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4BB76-A5BF-1FC7-DE8A-EC5556925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A77BC-502E-4B05-A575-4F66DECB3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81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4794-365B-19D8-A5EA-5781BF63BC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Solid principle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49194-9981-44BE-96A3-78A0B8B467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325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A66F-EBCA-B170-628D-919F0C66A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</a:t>
            </a:r>
            <a:r>
              <a:rPr lang="en-GB" dirty="0"/>
              <a:t>SOLID principles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481B9-2E77-0084-E72D-97ACE83A6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The SOLID principles are a set of design principles intended to make software designs more understandable, flexible, and maintainable. </a:t>
            </a:r>
          </a:p>
          <a:p>
            <a:r>
              <a:rPr lang="en-GB" dirty="0"/>
              <a:t>These principles, introduced by Robert C. Martin, are widely recognized as the foundation for good object-oriented design and programming. </a:t>
            </a:r>
          </a:p>
          <a:p>
            <a:r>
              <a:rPr lang="en-GB" dirty="0"/>
              <a:t>The SOLID principles help in enhancing loose coupling. Loose coupling means a group of classes are less dependent on one another.</a:t>
            </a:r>
          </a:p>
          <a:p>
            <a:r>
              <a:rPr lang="en-GB" dirty="0"/>
              <a:t>Loose coupling helps in making code more reusable, maintainable, flexible and stable. </a:t>
            </a:r>
          </a:p>
          <a:p>
            <a:r>
              <a:rPr lang="en-GB" dirty="0"/>
              <a:t>Loosely coupled classes minimize changes in your code when some changes are required in some other code.</a:t>
            </a:r>
          </a:p>
          <a:p>
            <a:br>
              <a:rPr lang="en-GB" dirty="0"/>
            </a:br>
            <a:br>
              <a:rPr lang="en-GB" dirty="0"/>
            </a:br>
            <a:br>
              <a:rPr lang="en-IN" dirty="0"/>
            </a:br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573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A397-CE9C-51F0-584E-D51DF544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3135E-7B2E-3C3D-79DC-A002EF0E9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The acronym SOLID stands for:</a:t>
            </a:r>
          </a:p>
          <a:p>
            <a:pPr marL="457200" lvl="1" indent="0">
              <a:buNone/>
            </a:pPr>
            <a:endParaRPr lang="en-GB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	Single Responsibility Principle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	Open/Closed Principle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	</a:t>
            </a:r>
            <a:r>
              <a:rPr lang="en-IN" dirty="0" err="1"/>
              <a:t>Liskov</a:t>
            </a:r>
            <a:r>
              <a:rPr lang="en-IN" dirty="0"/>
              <a:t> Substitution Principle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	Interface Segregation Principle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	Dependency Inversion Principle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473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6217-4EC5-2000-5895-12B3F9EDE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Single Responsibility Principle (SRP)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96A73-3ADE-C014-A1FB-27946A7A4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 class should have only one reason to change, meaning it should have only one job or responsibility</a:t>
            </a:r>
          </a:p>
          <a:p>
            <a:endParaRPr lang="en-GB" dirty="0"/>
          </a:p>
          <a:p>
            <a:r>
              <a:rPr lang="en-GB" dirty="0"/>
              <a:t>This principle states that "A class should have only one reason to change" which means every class should have a single responsibility or single job or single purpose. </a:t>
            </a:r>
          </a:p>
          <a:p>
            <a:endParaRPr lang="en-GB" dirty="0"/>
          </a:p>
          <a:p>
            <a:r>
              <a:rPr lang="en-GB" dirty="0"/>
              <a:t>In other words, a class should have only one job or purpose within the software system.</a:t>
            </a:r>
          </a:p>
          <a:p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4577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BCD9-FABF-A164-5476-966E0B6F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Before SRP: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138F8-6052-F647-4D4D-6AA09E5BB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14400"/>
            <a:ext cx="5181600" cy="5262563"/>
          </a:xfrm>
        </p:spPr>
        <p:txBody>
          <a:bodyPr>
            <a:noAutofit/>
          </a:bodyPr>
          <a:lstStyle/>
          <a:p>
            <a:r>
              <a:rPr lang="en-GB" sz="1600" dirty="0"/>
              <a:t>Consider a User class that handles user data and also manages file storage.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public class User {</a:t>
            </a:r>
          </a:p>
          <a:p>
            <a:pPr marL="0" indent="0">
              <a:buNone/>
            </a:pPr>
            <a:r>
              <a:rPr lang="en-IN" sz="1600" dirty="0"/>
              <a:t>    private String name;</a:t>
            </a:r>
          </a:p>
          <a:p>
            <a:pPr marL="0" indent="0">
              <a:buNone/>
            </a:pPr>
            <a:r>
              <a:rPr lang="en-IN" sz="1600" dirty="0"/>
              <a:t>    private String email;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public User(String name, String email) {</a:t>
            </a:r>
          </a:p>
          <a:p>
            <a:pPr marL="0" indent="0">
              <a:buNone/>
            </a:pPr>
            <a:r>
              <a:rPr lang="en-IN" sz="1600" dirty="0"/>
              <a:t>        this.name = name;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this.email</a:t>
            </a:r>
            <a:r>
              <a:rPr lang="en-IN" sz="1600" dirty="0"/>
              <a:t> = email;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public String </a:t>
            </a:r>
            <a:r>
              <a:rPr lang="en-IN" sz="1600" dirty="0" err="1"/>
              <a:t>getName</a:t>
            </a:r>
            <a:r>
              <a:rPr lang="en-IN" sz="1600" dirty="0"/>
              <a:t>() {</a:t>
            </a:r>
          </a:p>
          <a:p>
            <a:pPr marL="0" indent="0">
              <a:buNone/>
            </a:pPr>
            <a:r>
              <a:rPr lang="en-IN" sz="1600" dirty="0"/>
              <a:t>        return name;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A776C-8EAB-6CF2-3948-867824A44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94675"/>
            <a:ext cx="5181600" cy="56822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public String </a:t>
            </a:r>
            <a:r>
              <a:rPr lang="en-IN" sz="1400" dirty="0" err="1"/>
              <a:t>getEmail</a:t>
            </a:r>
            <a:r>
              <a:rPr lang="en-IN" sz="1400" dirty="0"/>
              <a:t>() {</a:t>
            </a:r>
          </a:p>
          <a:p>
            <a:pPr marL="0" indent="0">
              <a:buNone/>
            </a:pPr>
            <a:r>
              <a:rPr lang="en-IN" sz="1400" dirty="0"/>
              <a:t>        return email;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r>
              <a:rPr lang="en-IN" sz="1400" dirty="0"/>
              <a:t>    // Bad practice: Handling file storage within the User class</a:t>
            </a:r>
          </a:p>
          <a:p>
            <a:pPr marL="0" indent="0">
              <a:buNone/>
            </a:pPr>
            <a:r>
              <a:rPr lang="en-IN" sz="1400" dirty="0"/>
              <a:t>    public void </a:t>
            </a:r>
            <a:r>
              <a:rPr lang="en-IN" sz="1400" dirty="0" err="1"/>
              <a:t>saveToFile</a:t>
            </a:r>
            <a:r>
              <a:rPr lang="en-IN" sz="1400" dirty="0"/>
              <a:t>() {</a:t>
            </a:r>
          </a:p>
          <a:p>
            <a:pPr marL="0" indent="0">
              <a:buNone/>
            </a:pPr>
            <a:r>
              <a:rPr lang="en-IN" sz="1400" dirty="0"/>
              <a:t>        try (</a:t>
            </a:r>
            <a:r>
              <a:rPr lang="en-IN" sz="1400" dirty="0" err="1"/>
              <a:t>FileWriter</a:t>
            </a:r>
            <a:r>
              <a:rPr lang="en-IN" sz="1400" dirty="0"/>
              <a:t> </a:t>
            </a:r>
            <a:r>
              <a:rPr lang="en-IN" sz="1400" dirty="0" err="1"/>
              <a:t>fileWriter</a:t>
            </a:r>
            <a:r>
              <a:rPr lang="en-IN" sz="1400" dirty="0"/>
              <a:t> = new </a:t>
            </a:r>
            <a:r>
              <a:rPr lang="en-IN" sz="1400" dirty="0" err="1"/>
              <a:t>FileWriter</a:t>
            </a:r>
            <a:r>
              <a:rPr lang="en-IN" sz="1400" dirty="0"/>
              <a:t>(name + ".txt")) {</a:t>
            </a:r>
          </a:p>
          <a:p>
            <a:pPr marL="0" indent="0">
              <a:buNone/>
            </a:pPr>
            <a:r>
              <a:rPr lang="en-IN" sz="1400" dirty="0"/>
              <a:t>            </a:t>
            </a:r>
            <a:r>
              <a:rPr lang="en-IN" sz="1400" dirty="0" err="1"/>
              <a:t>fileWriter.write</a:t>
            </a:r>
            <a:r>
              <a:rPr lang="en-IN" sz="1400" dirty="0"/>
              <a:t>("Name: " + name + "\n");</a:t>
            </a:r>
          </a:p>
          <a:p>
            <a:pPr marL="0" indent="0">
              <a:buNone/>
            </a:pPr>
            <a:r>
              <a:rPr lang="en-IN" sz="1400" dirty="0"/>
              <a:t>            </a:t>
            </a:r>
            <a:r>
              <a:rPr lang="en-IN" sz="1400" dirty="0" err="1"/>
              <a:t>fileWriter.write</a:t>
            </a:r>
            <a:r>
              <a:rPr lang="en-IN" sz="1400" dirty="0"/>
              <a:t>("Email: " + email + "\n");</a:t>
            </a:r>
          </a:p>
          <a:p>
            <a:pPr marL="0" indent="0">
              <a:buNone/>
            </a:pPr>
            <a:r>
              <a:rPr lang="en-IN" sz="1400" dirty="0"/>
              <a:t>            </a:t>
            </a:r>
            <a:r>
              <a:rPr lang="en-IN" sz="1400" dirty="0" err="1"/>
              <a:t>System.out.println</a:t>
            </a:r>
            <a:r>
              <a:rPr lang="en-IN" sz="1400" dirty="0"/>
              <a:t>("User data saved to file successfully.");</a:t>
            </a:r>
          </a:p>
          <a:p>
            <a:pPr marL="0" indent="0">
              <a:buNone/>
            </a:pPr>
            <a:r>
              <a:rPr lang="en-IN" sz="1400" dirty="0"/>
              <a:t>        } catch (</a:t>
            </a:r>
            <a:r>
              <a:rPr lang="en-IN" sz="1400" dirty="0" err="1"/>
              <a:t>IOException</a:t>
            </a:r>
            <a:r>
              <a:rPr lang="en-IN" sz="1400" dirty="0"/>
              <a:t> e) {</a:t>
            </a:r>
          </a:p>
          <a:p>
            <a:pPr marL="0" indent="0">
              <a:buNone/>
            </a:pPr>
            <a:r>
              <a:rPr lang="en-IN" sz="1400" dirty="0"/>
              <a:t>            </a:t>
            </a:r>
            <a:r>
              <a:rPr lang="en-IN" sz="1400" dirty="0" err="1"/>
              <a:t>e.printStackTrace</a:t>
            </a:r>
            <a:r>
              <a:rPr lang="en-IN" sz="1400" dirty="0"/>
              <a:t>();</a:t>
            </a:r>
          </a:p>
          <a:p>
            <a:pPr marL="0" indent="0">
              <a:buNone/>
            </a:pPr>
            <a:r>
              <a:rPr lang="en-IN" sz="1400" dirty="0"/>
              <a:t>        }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public static void main(String[] </a:t>
            </a:r>
            <a:r>
              <a:rPr lang="en-IN" sz="1400" dirty="0" err="1"/>
              <a:t>args</a:t>
            </a:r>
            <a:r>
              <a:rPr lang="en-IN" sz="1400" dirty="0"/>
              <a:t>) {</a:t>
            </a:r>
          </a:p>
          <a:p>
            <a:pPr marL="0" indent="0">
              <a:buNone/>
            </a:pPr>
            <a:r>
              <a:rPr lang="en-IN" sz="1400" dirty="0"/>
              <a:t>        User </a:t>
            </a:r>
            <a:r>
              <a:rPr lang="en-IN" sz="1400" dirty="0" err="1"/>
              <a:t>user</a:t>
            </a:r>
            <a:r>
              <a:rPr lang="en-IN" sz="1400" dirty="0"/>
              <a:t> = new User("John Doe", "john.doe@example.com");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user.saveToFile</a:t>
            </a:r>
            <a:r>
              <a:rPr lang="en-IN" sz="1400" dirty="0"/>
              <a:t>();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br>
              <a:rPr lang="en-IN" sz="1400" dirty="0"/>
            </a:b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76163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8463A5-1978-DAC5-F37F-8A55BA2F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841792-E7DC-045F-36FD-1C2C665BF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Output:</a:t>
            </a:r>
          </a:p>
          <a:p>
            <a:pPr marL="0" indent="0">
              <a:buNone/>
            </a:pPr>
            <a:r>
              <a:rPr lang="en-GB" sz="3200" dirty="0"/>
              <a:t>User data saved to file successfully.</a:t>
            </a:r>
          </a:p>
          <a:p>
            <a:pPr marL="0" indent="0">
              <a:buNone/>
            </a:pPr>
            <a:endParaRPr lang="en-GB" sz="3200" dirty="0"/>
          </a:p>
          <a:p>
            <a:r>
              <a:rPr lang="en-GB" sz="3200" dirty="0"/>
              <a:t>Explanation: </a:t>
            </a:r>
          </a:p>
          <a:p>
            <a:pPr lvl="1"/>
            <a:r>
              <a:rPr lang="en-GB" sz="3200" dirty="0"/>
              <a:t>The User class has two responsibilities: managing user data and handling file storage. </a:t>
            </a:r>
          </a:p>
          <a:p>
            <a:pPr lvl="1"/>
            <a:r>
              <a:rPr lang="en-GB" sz="3200" dirty="0"/>
              <a:t>This violates the Single Responsibility Principle because a change in the file storage mechanism would require modifications to the User class.</a:t>
            </a:r>
          </a:p>
          <a:p>
            <a:pPr marL="0" indent="0">
              <a:buNone/>
            </a:pPr>
            <a:br>
              <a:rPr lang="en-GB" sz="3200" dirty="0"/>
            </a:br>
            <a:br>
              <a:rPr lang="en-GB" sz="3200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1339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C336-4769-AB2D-FFC2-061B2805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After SRP: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B8C91-B478-4B12-2DB5-B24A8ADBA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09469"/>
            <a:ext cx="5181600" cy="6048531"/>
          </a:xfrm>
        </p:spPr>
        <p:txBody>
          <a:bodyPr>
            <a:noAutofit/>
          </a:bodyPr>
          <a:lstStyle/>
          <a:p>
            <a:r>
              <a:rPr lang="en-GB" sz="1400" dirty="0"/>
              <a:t>To adhere to SRP, we should separate these responsibilities into different classes.</a:t>
            </a:r>
            <a:br>
              <a:rPr lang="en-GB" sz="1400" dirty="0"/>
            </a:br>
            <a:br>
              <a:rPr lang="en-GB" sz="1400" dirty="0"/>
            </a:br>
            <a:r>
              <a:rPr lang="en-IN" sz="1400" dirty="0"/>
              <a:t>// User.java</a:t>
            </a:r>
          </a:p>
          <a:p>
            <a:pPr marL="0" indent="0">
              <a:buNone/>
            </a:pPr>
            <a:r>
              <a:rPr lang="en-IN" sz="1400" dirty="0"/>
              <a:t>public class User {</a:t>
            </a:r>
          </a:p>
          <a:p>
            <a:pPr marL="0" indent="0">
              <a:buNone/>
            </a:pPr>
            <a:r>
              <a:rPr lang="en-IN" sz="1400" dirty="0"/>
              <a:t>    private String name;</a:t>
            </a:r>
          </a:p>
          <a:p>
            <a:pPr marL="0" indent="0">
              <a:buNone/>
            </a:pPr>
            <a:r>
              <a:rPr lang="en-IN" sz="1400" dirty="0"/>
              <a:t>    private String email;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public User(String name, String email) {</a:t>
            </a:r>
          </a:p>
          <a:p>
            <a:pPr marL="0" indent="0">
              <a:buNone/>
            </a:pPr>
            <a:r>
              <a:rPr lang="en-IN" sz="1400" dirty="0"/>
              <a:t>        this.name = name;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this.email</a:t>
            </a:r>
            <a:r>
              <a:rPr lang="en-IN" sz="1400" dirty="0"/>
              <a:t> = email;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public String </a:t>
            </a:r>
            <a:r>
              <a:rPr lang="en-IN" sz="1400" dirty="0" err="1"/>
              <a:t>getName</a:t>
            </a:r>
            <a:r>
              <a:rPr lang="en-IN" sz="1400" dirty="0"/>
              <a:t>() {</a:t>
            </a:r>
          </a:p>
          <a:p>
            <a:pPr marL="0" indent="0">
              <a:buNone/>
            </a:pPr>
            <a:r>
              <a:rPr lang="en-IN" sz="1400" dirty="0"/>
              <a:t>        return name;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public String </a:t>
            </a:r>
            <a:r>
              <a:rPr lang="en-IN" sz="1400" dirty="0" err="1"/>
              <a:t>getEmail</a:t>
            </a:r>
            <a:r>
              <a:rPr lang="en-IN" sz="1400" dirty="0"/>
              <a:t>() {</a:t>
            </a:r>
          </a:p>
          <a:p>
            <a:pPr marL="0" indent="0">
              <a:buNone/>
            </a:pPr>
            <a:r>
              <a:rPr lang="en-IN" sz="1400" dirty="0"/>
              <a:t>        return email;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br>
              <a:rPr lang="en-IN" sz="1400" dirty="0"/>
            </a:br>
            <a:br>
              <a:rPr lang="en-GB" sz="1400" dirty="0"/>
            </a:b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br>
              <a:rPr lang="en-GB" sz="1400" dirty="0"/>
            </a:br>
            <a:endParaRPr lang="en-IN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5946D4-57B3-6B6D-E21C-56D2CC53A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09469"/>
            <a:ext cx="5181600" cy="536749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// UserFileManager.java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java.io.FileWriter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UserFileManager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void </a:t>
            </a:r>
            <a:r>
              <a:rPr lang="en-IN" dirty="0" err="1"/>
              <a:t>saveToFile</a:t>
            </a:r>
            <a:r>
              <a:rPr lang="en-IN" dirty="0"/>
              <a:t>(User user) {</a:t>
            </a:r>
          </a:p>
          <a:p>
            <a:pPr marL="0" indent="0">
              <a:buNone/>
            </a:pPr>
            <a:r>
              <a:rPr lang="en-IN" dirty="0"/>
              <a:t>        try (</a:t>
            </a:r>
            <a:r>
              <a:rPr lang="en-IN" dirty="0" err="1"/>
              <a:t>FileWriter</a:t>
            </a:r>
            <a:r>
              <a:rPr lang="en-IN" dirty="0"/>
              <a:t> </a:t>
            </a:r>
            <a:r>
              <a:rPr lang="en-IN" dirty="0" err="1"/>
              <a:t>fileWriter</a:t>
            </a:r>
            <a:r>
              <a:rPr lang="en-IN" dirty="0"/>
              <a:t> = new </a:t>
            </a:r>
            <a:r>
              <a:rPr lang="en-IN" dirty="0" err="1"/>
              <a:t>FileWriter</a:t>
            </a:r>
            <a:r>
              <a:rPr lang="en-IN" dirty="0"/>
              <a:t>(</a:t>
            </a:r>
            <a:r>
              <a:rPr lang="en-IN" dirty="0" err="1"/>
              <a:t>user.getName</a:t>
            </a:r>
            <a:r>
              <a:rPr lang="en-IN" dirty="0"/>
              <a:t>() + ".txt"))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fileWriter.write</a:t>
            </a:r>
            <a:r>
              <a:rPr lang="en-IN" dirty="0"/>
              <a:t>("Name: " + </a:t>
            </a:r>
            <a:r>
              <a:rPr lang="en-IN" dirty="0" err="1"/>
              <a:t>user.getName</a:t>
            </a:r>
            <a:r>
              <a:rPr lang="en-IN" dirty="0"/>
              <a:t>() + "\n");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fileWriter.write</a:t>
            </a:r>
            <a:r>
              <a:rPr lang="en-IN" dirty="0"/>
              <a:t>("Email: " + </a:t>
            </a:r>
            <a:r>
              <a:rPr lang="en-IN" dirty="0" err="1"/>
              <a:t>user.getEmail</a:t>
            </a:r>
            <a:r>
              <a:rPr lang="en-IN" dirty="0"/>
              <a:t>() + "\n");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("User data saved to file successfully.");</a:t>
            </a:r>
          </a:p>
          <a:p>
            <a:pPr marL="0" indent="0">
              <a:buNone/>
            </a:pPr>
            <a:r>
              <a:rPr lang="en-IN" dirty="0"/>
              <a:t>        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8667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C6BEA-6E85-7AFF-706A-B898B832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7897E-46B2-6C79-3AAB-D13ED4E0ED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Main.java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User </a:t>
            </a:r>
            <a:r>
              <a:rPr lang="en-IN" dirty="0" err="1"/>
              <a:t>user</a:t>
            </a:r>
            <a:r>
              <a:rPr lang="en-IN" dirty="0"/>
              <a:t> = new User("John Doe", "john.doe@example.com");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UserFileManager</a:t>
            </a:r>
            <a:r>
              <a:rPr lang="en-IN" dirty="0"/>
              <a:t> </a:t>
            </a:r>
            <a:r>
              <a:rPr lang="en-IN" dirty="0" err="1"/>
              <a:t>fileManager</a:t>
            </a:r>
            <a:r>
              <a:rPr lang="en-IN" dirty="0"/>
              <a:t> = new </a:t>
            </a:r>
            <a:r>
              <a:rPr lang="en-IN" dirty="0" err="1"/>
              <a:t>UserFileManager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fileManager.saveToFile</a:t>
            </a:r>
            <a:r>
              <a:rPr lang="en-IN" dirty="0"/>
              <a:t>(user);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C16EA-E213-F806-9588-39D09A930C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Output:</a:t>
            </a:r>
          </a:p>
          <a:p>
            <a:endParaRPr lang="en-GB" dirty="0"/>
          </a:p>
          <a:p>
            <a:r>
              <a:rPr lang="en-GB" dirty="0"/>
              <a:t>User data saved to file successfully.</a:t>
            </a:r>
          </a:p>
          <a:p>
            <a:r>
              <a:rPr lang="en-GB" dirty="0"/>
              <a:t>Explanation: </a:t>
            </a:r>
          </a:p>
          <a:p>
            <a:pPr lvl="1"/>
            <a:r>
              <a:rPr lang="en-GB" dirty="0"/>
              <a:t>The User class now only manages user data, while the </a:t>
            </a:r>
            <a:r>
              <a:rPr lang="en-GB" dirty="0" err="1"/>
              <a:t>UserFileManager</a:t>
            </a:r>
            <a:r>
              <a:rPr lang="en-GB" dirty="0"/>
              <a:t> class handles file storage. </a:t>
            </a:r>
          </a:p>
          <a:p>
            <a:pPr lvl="1"/>
            <a:br>
              <a:rPr lang="en-GB" dirty="0"/>
            </a:br>
            <a:r>
              <a:rPr lang="en-GB" dirty="0"/>
              <a:t>This adheres to the Single Responsibility Principle, as each class now has only one reason to change.</a:t>
            </a:r>
          </a:p>
          <a:p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305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41A9-8ABF-A93E-A6F0-50B92078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Open/Closed Principle (OCP)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71B827-F9A0-4A88-FCEC-9542B8862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entities should be open for extension but closed for modification.</a:t>
            </a:r>
          </a:p>
          <a:p>
            <a:r>
              <a:rPr lang="en-GB" dirty="0"/>
              <a:t>This principle states that "Software entities (classes, modules, functions, etc.) should be open for extension, but closed for modification" which means you should be able to extend a class </a:t>
            </a:r>
            <a:r>
              <a:rPr lang="en-GB" dirty="0" err="1"/>
              <a:t>behavior</a:t>
            </a:r>
            <a:r>
              <a:rPr lang="en-GB" dirty="0"/>
              <a:t>, without modifying it.</a:t>
            </a:r>
          </a:p>
          <a:p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9017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CCB8-F638-11D4-A2B1-87E9886ED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Before OCP: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CB9C-3C30-313A-B141-EE33D042F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44380"/>
            <a:ext cx="5181600" cy="5232583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Suppose we have a class that calculates discounts for different types of customers.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DiscountCalculator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double </a:t>
            </a:r>
            <a:r>
              <a:rPr lang="en-IN" dirty="0" err="1"/>
              <a:t>calculateDiscount</a:t>
            </a:r>
            <a:r>
              <a:rPr lang="en-IN" dirty="0"/>
              <a:t>(String </a:t>
            </a:r>
            <a:r>
              <a:rPr lang="en-IN" dirty="0" err="1"/>
              <a:t>customerType</a:t>
            </a:r>
            <a:r>
              <a:rPr lang="en-IN" dirty="0"/>
              <a:t>, double amount) {</a:t>
            </a:r>
          </a:p>
          <a:p>
            <a:pPr marL="0" indent="0">
              <a:buNone/>
            </a:pPr>
            <a:r>
              <a:rPr lang="en-IN" dirty="0"/>
              <a:t>        if (</a:t>
            </a:r>
            <a:r>
              <a:rPr lang="en-IN" dirty="0" err="1"/>
              <a:t>customerType.equals</a:t>
            </a:r>
            <a:r>
              <a:rPr lang="en-IN" dirty="0"/>
              <a:t>("Regular")) {</a:t>
            </a:r>
          </a:p>
          <a:p>
            <a:pPr marL="0" indent="0">
              <a:buNone/>
            </a:pPr>
            <a:r>
              <a:rPr lang="en-IN" dirty="0"/>
              <a:t>            return amount * 0.1;</a:t>
            </a:r>
          </a:p>
          <a:p>
            <a:pPr marL="0" indent="0">
              <a:buNone/>
            </a:pPr>
            <a:r>
              <a:rPr lang="en-IN" dirty="0"/>
              <a:t>        } else if (</a:t>
            </a:r>
            <a:r>
              <a:rPr lang="en-IN" dirty="0" err="1"/>
              <a:t>customerType.equals</a:t>
            </a:r>
            <a:r>
              <a:rPr lang="en-IN" dirty="0"/>
              <a:t>("Premium")) {</a:t>
            </a:r>
          </a:p>
          <a:p>
            <a:pPr marL="0" indent="0">
              <a:buNone/>
            </a:pPr>
            <a:r>
              <a:rPr lang="en-IN" dirty="0"/>
              <a:t>            return amount * 0.2;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    return 0;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br>
              <a:rPr lang="en-IN" dirty="0"/>
            </a:br>
            <a:br>
              <a:rPr lang="en-GB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78A01-281C-D82A-99EE-776CA6864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892"/>
            <a:ext cx="5181600" cy="601207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DiscountCalculator</a:t>
            </a:r>
            <a:r>
              <a:rPr lang="en-IN" dirty="0"/>
              <a:t> calculator = new </a:t>
            </a:r>
            <a:r>
              <a:rPr lang="en-IN" dirty="0" err="1"/>
              <a:t>DiscountCalculator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double </a:t>
            </a:r>
            <a:r>
              <a:rPr lang="en-IN" dirty="0" err="1"/>
              <a:t>regularDiscount</a:t>
            </a:r>
            <a:r>
              <a:rPr lang="en-IN" dirty="0"/>
              <a:t> = </a:t>
            </a:r>
            <a:r>
              <a:rPr lang="en-IN" dirty="0" err="1"/>
              <a:t>calculator.calculateDiscount</a:t>
            </a:r>
            <a:r>
              <a:rPr lang="en-IN" dirty="0"/>
              <a:t>("Regular", 100);</a:t>
            </a:r>
          </a:p>
          <a:p>
            <a:pPr marL="0" indent="0">
              <a:buNone/>
            </a:pPr>
            <a:r>
              <a:rPr lang="en-IN" dirty="0"/>
              <a:t>        double </a:t>
            </a:r>
            <a:r>
              <a:rPr lang="en-IN" dirty="0" err="1"/>
              <a:t>premiumDiscount</a:t>
            </a:r>
            <a:r>
              <a:rPr lang="en-IN" dirty="0"/>
              <a:t> = </a:t>
            </a:r>
            <a:r>
              <a:rPr lang="en-IN" dirty="0" err="1"/>
              <a:t>calculator.calculateDiscount</a:t>
            </a:r>
            <a:r>
              <a:rPr lang="en-IN" dirty="0"/>
              <a:t>("Premium", 100);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("Regular Discount: " + </a:t>
            </a:r>
            <a:r>
              <a:rPr lang="en-IN" dirty="0" err="1"/>
              <a:t>regularDiscount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("Premium Discount: " + </a:t>
            </a:r>
            <a:r>
              <a:rPr lang="en-IN" dirty="0" err="1"/>
              <a:t>premiumDiscount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GB" dirty="0"/>
              <a:t>Output: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Regular Discount: 10.0</a:t>
            </a:r>
          </a:p>
          <a:p>
            <a:pPr marL="0" indent="0">
              <a:buNone/>
            </a:pPr>
            <a:r>
              <a:rPr lang="en-GB" dirty="0"/>
              <a:t>Premium Discount: 20.0</a:t>
            </a:r>
          </a:p>
          <a:p>
            <a:pPr marL="0" indent="0">
              <a:buNone/>
            </a:pPr>
            <a:r>
              <a:rPr lang="en-GB" dirty="0"/>
              <a:t>Explanation: The </a:t>
            </a:r>
            <a:r>
              <a:rPr lang="en-GB" dirty="0" err="1"/>
              <a:t>DiscountCalculator</a:t>
            </a:r>
            <a:r>
              <a:rPr lang="en-GB" dirty="0"/>
              <a:t> class violates the Open/Closed Principle because it needs to be modified whenever a new type of discount is added.</a:t>
            </a:r>
          </a:p>
          <a:p>
            <a:pPr marL="0" indent="0">
              <a:buNone/>
            </a:pPr>
            <a:br>
              <a:rPr lang="en-GB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688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FD0F4-6E3D-2271-FFA1-3C1B3475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After OCP: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3FF12-D733-A305-E22A-96CFEDF4D2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44380"/>
            <a:ext cx="5181600" cy="5711253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To adhere to OCP, we can use polymorphism to extend the </a:t>
            </a:r>
            <a:r>
              <a:rPr lang="en-GB" dirty="0" err="1"/>
              <a:t>behavior</a:t>
            </a:r>
            <a:r>
              <a:rPr lang="en-GB" dirty="0"/>
              <a:t> without modifying the existing code.</a:t>
            </a:r>
          </a:p>
          <a:p>
            <a:pPr marL="0" indent="0">
              <a:buNone/>
            </a:pPr>
            <a:r>
              <a:rPr lang="en-IN" dirty="0"/>
              <a:t>// Discount.java</a:t>
            </a:r>
          </a:p>
          <a:p>
            <a:pPr marL="0" indent="0">
              <a:buNone/>
            </a:pPr>
            <a:r>
              <a:rPr lang="en-IN" dirty="0"/>
              <a:t>public abstract class Discount {</a:t>
            </a:r>
          </a:p>
          <a:p>
            <a:pPr marL="0" indent="0">
              <a:buNone/>
            </a:pPr>
            <a:r>
              <a:rPr lang="en-IN" dirty="0"/>
              <a:t>    public abstract double calculate(double amount);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RegularDiscount.java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RegularDiscount</a:t>
            </a:r>
            <a:r>
              <a:rPr lang="en-IN" dirty="0"/>
              <a:t> extends Discount {</a:t>
            </a:r>
          </a:p>
          <a:p>
            <a:pPr marL="0" indent="0">
              <a:buNone/>
            </a:pPr>
            <a:r>
              <a:rPr lang="en-IN" dirty="0"/>
              <a:t>    public double calculate(double amount) {</a:t>
            </a:r>
          </a:p>
          <a:p>
            <a:pPr marL="0" indent="0">
              <a:buNone/>
            </a:pPr>
            <a:r>
              <a:rPr lang="en-IN" dirty="0"/>
              <a:t>        return amount * 0.1;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br>
              <a:rPr lang="en-GB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5B8F2-3048-B82E-815D-651EF4351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7427" y="628572"/>
            <a:ext cx="5181600" cy="602706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// PremiumDiscount.java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PremiumDiscount</a:t>
            </a:r>
            <a:r>
              <a:rPr lang="en-IN" dirty="0"/>
              <a:t> extends Discount {</a:t>
            </a:r>
          </a:p>
          <a:p>
            <a:pPr marL="0" indent="0">
              <a:buNone/>
            </a:pPr>
            <a:r>
              <a:rPr lang="en-IN" dirty="0"/>
              <a:t>    public double calculate(double amount) {</a:t>
            </a:r>
          </a:p>
          <a:p>
            <a:pPr marL="0" indent="0">
              <a:buNone/>
            </a:pPr>
            <a:r>
              <a:rPr lang="en-IN" dirty="0"/>
              <a:t>        return amount * 0.2;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DiscountCalculator.java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DiscountCalculator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double </a:t>
            </a:r>
            <a:r>
              <a:rPr lang="en-IN" dirty="0" err="1"/>
              <a:t>calculateDiscount</a:t>
            </a:r>
            <a:r>
              <a:rPr lang="en-IN" dirty="0"/>
              <a:t>(Discount </a:t>
            </a:r>
            <a:r>
              <a:rPr lang="en-IN" dirty="0" err="1"/>
              <a:t>discount</a:t>
            </a:r>
            <a:r>
              <a:rPr lang="en-IN" dirty="0"/>
              <a:t>, double amount) {</a:t>
            </a:r>
          </a:p>
          <a:p>
            <a:pPr marL="0" indent="0">
              <a:buNone/>
            </a:pPr>
            <a:r>
              <a:rPr lang="en-IN" dirty="0"/>
              <a:t>        return </a:t>
            </a:r>
            <a:r>
              <a:rPr lang="en-IN" dirty="0" err="1"/>
              <a:t>discount.calculate</a:t>
            </a:r>
            <a:r>
              <a:rPr lang="en-IN" dirty="0"/>
              <a:t>(amount);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1034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A8B9-4815-EE1C-9225-1EEDD42DD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29784"/>
            <a:ext cx="5181600" cy="5847179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// Main.java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public class Main {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public static void main(String[]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Discount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regularDiscount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new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RegularDiscount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();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Discount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premiumDiscount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new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PremiumDiscount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();</a:t>
            </a:r>
          </a:p>
          <a:p>
            <a:pPr algn="l">
              <a:buNone/>
            </a:pPr>
            <a:endParaRPr lang="en-IN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DiscountCalculator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calculator = new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DiscountCalculator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();</a:t>
            </a:r>
          </a:p>
          <a:p>
            <a:pPr algn="l">
              <a:buNone/>
            </a:pPr>
            <a:endParaRPr lang="en-IN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double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regularDiscountAmount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calculator.calculateDiscount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regularDiscount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100);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double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premiumDiscountAmount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calculator.calculateDiscount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premiumDiscount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100);</a:t>
            </a:r>
          </a:p>
          <a:p>
            <a:pPr algn="l">
              <a:buNone/>
            </a:pPr>
            <a:endParaRPr lang="en-IN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("Regular Discount: " +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regularDiscountAmount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("Premium Discount: " +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premiumDiscountAmount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br>
              <a:rPr lang="en-IN" sz="1400" dirty="0"/>
            </a:br>
            <a:endParaRPr lang="en-IN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77FEB-516E-3062-DBDD-E947E647B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29784"/>
            <a:ext cx="5181600" cy="5847179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Output:</a:t>
            </a:r>
          </a:p>
          <a:p>
            <a:pPr algn="l">
              <a:buNone/>
            </a:pPr>
            <a:endParaRPr lang="en-GB" sz="2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Regular Discount: 10.0</a:t>
            </a:r>
          </a:p>
          <a:p>
            <a:pPr algn="l">
              <a:buNone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Premium Discount: 20.0</a:t>
            </a:r>
          </a:p>
          <a:p>
            <a:pPr algn="l">
              <a:buNone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Explanation: The </a:t>
            </a:r>
            <a:r>
              <a:rPr lang="en-GB" sz="2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DiscountCalculator</a:t>
            </a:r>
            <a:r>
              <a:rPr lang="en-GB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class now depends on the Discount interface, allowing new discount types to be added without modifying the existing code. This adheres to the Open/Closed Principle.</a:t>
            </a:r>
          </a:p>
          <a:p>
            <a:pPr>
              <a:buNone/>
            </a:pPr>
            <a:br>
              <a:rPr lang="en-GB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20691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27E0D-B7C0-578E-2B8A-6B4AE7E6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Liskov</a:t>
            </a:r>
            <a:r>
              <a:rPr lang="en-IN" dirty="0"/>
              <a:t> Substitution Principle (LSP)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7C6AE9-D271-B95C-010F-5FADA8C6E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principle was introduced by Barbara </a:t>
            </a:r>
            <a:r>
              <a:rPr lang="en-GB" dirty="0" err="1"/>
              <a:t>Liskov</a:t>
            </a:r>
            <a:r>
              <a:rPr lang="en-GB" dirty="0"/>
              <a:t> in 1987 and according to this principle "Derived or child classes must be substitutable for their base or parent classes". </a:t>
            </a:r>
          </a:p>
          <a:p>
            <a:r>
              <a:rPr lang="en-GB" dirty="0"/>
              <a:t>This principle ensures that any class that is the child of a parent class should be usable in place of its parent without any unexpected behaviour.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It says subtypes must be substitutable for their base types without altering the correctness of the program.</a:t>
            </a:r>
          </a:p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223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15F7-1E6D-690D-C03A-5C1F4469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Before LSP: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78F70-EE55-021E-1C2D-40F26F4BF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44380"/>
            <a:ext cx="5181600" cy="5666282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Consider a class hierarchy for rectangles and squares.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public class Rectangle {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protected int width;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protected int height;</a:t>
            </a:r>
          </a:p>
          <a:p>
            <a:pPr algn="l">
              <a:buNone/>
            </a:pPr>
            <a:endParaRPr lang="en-IN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public void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setWidth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(int width) {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this.width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width;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endParaRPr lang="en-IN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public void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setHeight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(int height) {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this.height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height;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endParaRPr lang="en-IN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public int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getArea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 {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return width * height;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br>
              <a:rPr lang="en-IN" sz="1400" dirty="0"/>
            </a:br>
            <a:endParaRPr lang="en-IN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BDC5A-071D-754F-581B-8D570512F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181600" cy="5811838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public class Square extends Rectangle {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public void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setWidth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(int width) {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this.width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width;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this.height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width;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public void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setHeight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(int height) {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this.width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height;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this.height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height;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endParaRPr lang="en-IN" sz="12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public static void main(String[]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Rectangle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rectangle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new Rectangle();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rectangle.setWidth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(5);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rectangle.setHeight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(10);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("Rectangle Area: " +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rectangle.getArea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());</a:t>
            </a:r>
          </a:p>
          <a:p>
            <a:pPr algn="l">
              <a:buNone/>
            </a:pPr>
            <a:endParaRPr lang="en-IN" sz="12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Square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square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new Square();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square.setWidth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(5);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("Square Area: " + </a:t>
            </a:r>
            <a:r>
              <a:rPr lang="en-IN" sz="12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square.getArea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());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br>
              <a:rPr lang="en-I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IN" sz="12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IN" sz="1200" dirty="0"/>
            </a:b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500101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8A291E-8F01-884D-2166-298803EDF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F34A8-E624-8994-0C5C-5F20D1709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Output:</a:t>
            </a:r>
          </a:p>
          <a:p>
            <a:pPr algn="l">
              <a:buNone/>
            </a:pPr>
            <a:endParaRPr lang="en-GB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Rectangle Area: 50</a:t>
            </a:r>
          </a:p>
          <a:p>
            <a:pPr algn="l"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Square Area: 25</a:t>
            </a:r>
          </a:p>
          <a:p>
            <a:pPr algn="l"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Explanation: The Square class does not behave like a Rectangle when setting the width and height, which violates the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Liskov</a:t>
            </a:r>
            <a:r>
              <a:rPr lang="en-GB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Substitution Principle.</a:t>
            </a:r>
          </a:p>
          <a:p>
            <a:pPr>
              <a:buNone/>
            </a:pPr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1724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52542-E814-F932-55BD-35F3BD1F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After LSP: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F49EA-60D2-2D59-E78B-6F98791B1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89548"/>
            <a:ext cx="5181600" cy="5487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/>
              <a:t>To adhere to LSP, we should use composition instead of inheritance.</a:t>
            </a:r>
            <a:r>
              <a:rPr lang="en-IN" sz="1600" dirty="0"/>
              <a:t> // Shape.java</a:t>
            </a:r>
          </a:p>
          <a:p>
            <a:pPr marL="0" indent="0">
              <a:buNone/>
            </a:pPr>
            <a:r>
              <a:rPr lang="en-IN" sz="1600" dirty="0"/>
              <a:t>public interface Shape {</a:t>
            </a:r>
          </a:p>
          <a:p>
            <a:pPr marL="0" indent="0">
              <a:buNone/>
            </a:pPr>
            <a:r>
              <a:rPr lang="en-IN" sz="1600" dirty="0"/>
              <a:t>    int </a:t>
            </a:r>
            <a:r>
              <a:rPr lang="en-IN" sz="1600" dirty="0" err="1"/>
              <a:t>getArea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r>
              <a:rPr lang="en-IN" sz="1600" dirty="0"/>
              <a:t>// Rectangle.java</a:t>
            </a:r>
          </a:p>
          <a:p>
            <a:pPr marL="0" indent="0">
              <a:buNone/>
            </a:pPr>
            <a:r>
              <a:rPr lang="en-IN" sz="1600" dirty="0"/>
              <a:t>public class Rectangle implements Shape {</a:t>
            </a:r>
          </a:p>
          <a:p>
            <a:pPr marL="0" indent="0">
              <a:buNone/>
            </a:pPr>
            <a:r>
              <a:rPr lang="en-IN" sz="1600" dirty="0"/>
              <a:t>    private int width;</a:t>
            </a:r>
          </a:p>
          <a:p>
            <a:pPr marL="0" indent="0">
              <a:buNone/>
            </a:pPr>
            <a:r>
              <a:rPr lang="en-IN" sz="1600" dirty="0"/>
              <a:t>    private int height;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public Rectangle(int width, int height) 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this.width</a:t>
            </a:r>
            <a:r>
              <a:rPr lang="en-IN" sz="1600" dirty="0"/>
              <a:t> = width;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this.height</a:t>
            </a:r>
            <a:r>
              <a:rPr lang="en-IN" sz="1600" dirty="0"/>
              <a:t> = height;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public int </a:t>
            </a:r>
            <a:r>
              <a:rPr lang="en-IN" sz="1600" dirty="0" err="1"/>
              <a:t>getArea</a:t>
            </a:r>
            <a:r>
              <a:rPr lang="en-IN" sz="1600" dirty="0"/>
              <a:t>() {</a:t>
            </a:r>
          </a:p>
          <a:p>
            <a:pPr marL="0" indent="0">
              <a:buNone/>
            </a:pPr>
            <a:r>
              <a:rPr lang="en-IN" sz="1600" dirty="0"/>
              <a:t>        return width * height;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br>
              <a:rPr lang="en-IN" sz="1600" dirty="0"/>
            </a:br>
            <a:br>
              <a:rPr lang="en-GB" sz="1600" dirty="0"/>
            </a:br>
            <a:br>
              <a:rPr lang="en-GB" sz="1600" dirty="0"/>
            </a:br>
            <a:br>
              <a:rPr lang="en-GB" sz="1600" dirty="0"/>
            </a:br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0C728-C955-F1C1-A1CF-546060338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9921"/>
            <a:ext cx="5181600" cy="695543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// Square.java</a:t>
            </a:r>
          </a:p>
          <a:p>
            <a:pPr marL="0" indent="0">
              <a:buNone/>
            </a:pPr>
            <a:r>
              <a:rPr lang="en-IN" dirty="0"/>
              <a:t>public class Square implements Shape {</a:t>
            </a:r>
          </a:p>
          <a:p>
            <a:pPr marL="0" indent="0">
              <a:buNone/>
            </a:pPr>
            <a:r>
              <a:rPr lang="en-IN" dirty="0"/>
              <a:t>    private int side;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Square(int side)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this.side</a:t>
            </a:r>
            <a:r>
              <a:rPr lang="en-IN" dirty="0"/>
              <a:t> = side;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int </a:t>
            </a:r>
            <a:r>
              <a:rPr lang="en-IN" dirty="0" err="1"/>
              <a:t>getArea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side * side;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Main.java</a:t>
            </a:r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Shape rectangle = new Rectangle(5, 10);</a:t>
            </a:r>
          </a:p>
          <a:p>
            <a:pPr marL="0" indent="0">
              <a:buNone/>
            </a:pPr>
            <a:r>
              <a:rPr lang="en-IN" dirty="0"/>
              <a:t>        Shape square = new Square(5);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("Rectangle Area: " + </a:t>
            </a:r>
            <a:r>
              <a:rPr lang="en-IN" dirty="0" err="1"/>
              <a:t>rectangle.getArea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("Square Area: " + </a:t>
            </a:r>
            <a:r>
              <a:rPr lang="en-IN" dirty="0" err="1"/>
              <a:t>square.getArea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5133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04B4E8-2936-233D-7A67-97DC68950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3CEC0-2DAC-7F10-B119-B4451875F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Output: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Rectangle Area: 50</a:t>
            </a:r>
          </a:p>
          <a:p>
            <a:pPr marL="0" indent="0">
              <a:buNone/>
            </a:pPr>
            <a:r>
              <a:rPr lang="en-GB" dirty="0"/>
              <a:t>Square Area: 25</a:t>
            </a:r>
          </a:p>
          <a:p>
            <a:pPr marL="0" indent="0">
              <a:buNone/>
            </a:pPr>
            <a:r>
              <a:rPr lang="en-GB" dirty="0"/>
              <a:t>Explanation: The Rectangle and Square classes now implement the Shape interface, making them interchangeable without altering the correctness of the program. This adheres to the </a:t>
            </a:r>
            <a:r>
              <a:rPr lang="en-GB" dirty="0" err="1"/>
              <a:t>Liskov</a:t>
            </a:r>
            <a:r>
              <a:rPr lang="en-GB" dirty="0"/>
              <a:t> Substitution Principle.</a:t>
            </a:r>
          </a:p>
          <a:p>
            <a:pPr marL="0" indent="0">
              <a:buNone/>
            </a:pPr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94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D265F-8DD2-55D1-4792-7BC0B3F2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 Interface Segregation Principle (ISP)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45617-8E53-E02E-F731-297EA050D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Clients should not be forced to depend on interfaces they do not use.</a:t>
            </a:r>
          </a:p>
          <a:p>
            <a:r>
              <a:rPr lang="en-GB" dirty="0"/>
              <a:t>This principle is the first principle that applies to Interfaces instead of classes in SOLID and it is similar to the single responsibility principle. </a:t>
            </a:r>
          </a:p>
          <a:p>
            <a:r>
              <a:rPr lang="en-GB" dirty="0"/>
              <a:t>It states that "do not force any client to implement an interface which is irrelevant to them". </a:t>
            </a:r>
          </a:p>
          <a:p>
            <a:r>
              <a:rPr lang="en-GB" dirty="0"/>
              <a:t>Here  main goal is to focus on avoiding fat interface and give preference to many small client-specific interfaces. </a:t>
            </a:r>
          </a:p>
          <a:p>
            <a:r>
              <a:rPr lang="en-GB" dirty="0"/>
              <a:t>Should prefer many client interfaces rather than one general interface and each interface should have a specific responsibility.</a:t>
            </a:r>
          </a:p>
          <a:p>
            <a:br>
              <a:rPr lang="en-GB" dirty="0"/>
            </a:br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760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6F5E3-E98A-A8A2-9466-3C5DBF6BB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Before ISP: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FF7DB-F0CA-0C1D-CB9C-0F44ED689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74361"/>
            <a:ext cx="5181600" cy="52026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Consider an interface for different types of printers.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public interface Printer {</a:t>
            </a:r>
          </a:p>
          <a:p>
            <a:pPr marL="0" indent="0">
              <a:buNone/>
            </a:pPr>
            <a:r>
              <a:rPr lang="en-IN" sz="2000" dirty="0"/>
              <a:t>    void </a:t>
            </a:r>
            <a:r>
              <a:rPr lang="en-IN" sz="2000" dirty="0" err="1"/>
              <a:t>printDocument</a:t>
            </a:r>
            <a:r>
              <a:rPr lang="en-IN" sz="2000" dirty="0"/>
              <a:t>();</a:t>
            </a:r>
          </a:p>
          <a:p>
            <a:pPr marL="0" indent="0">
              <a:buNone/>
            </a:pPr>
            <a:r>
              <a:rPr lang="en-IN" sz="2000" dirty="0"/>
              <a:t>    void </a:t>
            </a:r>
            <a:r>
              <a:rPr lang="en-IN" sz="2000" dirty="0" err="1"/>
              <a:t>scanDocument</a:t>
            </a:r>
            <a:r>
              <a:rPr lang="en-IN" sz="2000" dirty="0"/>
              <a:t>();</a:t>
            </a:r>
          </a:p>
          <a:p>
            <a:pPr marL="0" indent="0">
              <a:buNone/>
            </a:pPr>
            <a:r>
              <a:rPr lang="en-IN" sz="2000" dirty="0"/>
              <a:t>    void </a:t>
            </a:r>
            <a:r>
              <a:rPr lang="en-IN" sz="2000" dirty="0" err="1"/>
              <a:t>faxDocument</a:t>
            </a:r>
            <a:r>
              <a:rPr lang="en-IN" sz="2000" dirty="0"/>
              <a:t>();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br>
              <a:rPr lang="en-IN" sz="2000" dirty="0"/>
            </a:br>
            <a:r>
              <a:rPr lang="en-IN" sz="2000" dirty="0"/>
              <a:t>public class </a:t>
            </a:r>
            <a:r>
              <a:rPr lang="en-IN" sz="2000" dirty="0" err="1"/>
              <a:t>SimplePrinter</a:t>
            </a:r>
            <a:r>
              <a:rPr lang="en-IN" sz="2000" dirty="0"/>
              <a:t> implements Printer {</a:t>
            </a:r>
          </a:p>
          <a:p>
            <a:pPr marL="0" indent="0">
              <a:buNone/>
            </a:pPr>
            <a:r>
              <a:rPr lang="en-IN" sz="2000" dirty="0"/>
              <a:t>    public void </a:t>
            </a:r>
            <a:r>
              <a:rPr lang="en-IN" sz="2000" dirty="0" err="1"/>
              <a:t>printDocument</a:t>
            </a:r>
            <a:r>
              <a:rPr lang="en-IN" sz="2000" dirty="0"/>
              <a:t>() {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("Printing document...");</a:t>
            </a:r>
          </a:p>
          <a:p>
            <a:pPr marL="0" indent="0">
              <a:buNone/>
            </a:pPr>
            <a:r>
              <a:rPr lang="en-IN" sz="2000" dirty="0"/>
              <a:t>    }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99702-6918-73EC-6B4E-1F6C413B4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0"/>
            <a:ext cx="5181600" cy="64928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    public void </a:t>
            </a:r>
            <a:r>
              <a:rPr lang="en-IN" sz="2000" dirty="0" err="1"/>
              <a:t>scanDocument</a:t>
            </a:r>
            <a:r>
              <a:rPr lang="en-IN" sz="2000" dirty="0"/>
              <a:t>() {</a:t>
            </a:r>
          </a:p>
          <a:p>
            <a:pPr marL="0" indent="0">
              <a:buNone/>
            </a:pPr>
            <a:r>
              <a:rPr lang="en-IN" sz="2000" dirty="0"/>
              <a:t>        // Not implemented</a:t>
            </a:r>
          </a:p>
          <a:p>
            <a:pPr marL="0" indent="0">
              <a:buNone/>
            </a:pPr>
            <a:r>
              <a:rPr lang="en-IN" sz="2000" dirty="0"/>
              <a:t>    }</a:t>
            </a:r>
          </a:p>
          <a:p>
            <a:pPr marL="0" indent="0">
              <a:buNone/>
            </a:pPr>
            <a:r>
              <a:rPr lang="en-IN" sz="2000" dirty="0"/>
              <a:t>    public void </a:t>
            </a:r>
            <a:r>
              <a:rPr lang="en-IN" sz="2000" dirty="0" err="1"/>
              <a:t>faxDocument</a:t>
            </a:r>
            <a:r>
              <a:rPr lang="en-IN" sz="2000" dirty="0"/>
              <a:t>() {</a:t>
            </a:r>
          </a:p>
          <a:p>
            <a:pPr marL="0" indent="0">
              <a:buNone/>
            </a:pPr>
            <a:r>
              <a:rPr lang="en-IN" sz="2000" dirty="0"/>
              <a:t>        // Not implemented</a:t>
            </a:r>
          </a:p>
          <a:p>
            <a:pPr marL="0" indent="0">
              <a:buNone/>
            </a:pPr>
            <a:r>
              <a:rPr lang="en-IN" sz="2000" dirty="0"/>
              <a:t>    }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 public static void main(String[] </a:t>
            </a:r>
            <a:r>
              <a:rPr lang="en-IN" sz="2000" dirty="0" err="1"/>
              <a:t>args</a:t>
            </a:r>
            <a:r>
              <a:rPr lang="en-IN" sz="2000" dirty="0"/>
              <a:t>) {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SimplePrinter</a:t>
            </a:r>
            <a:r>
              <a:rPr lang="en-IN" sz="2000" dirty="0"/>
              <a:t> printer = new </a:t>
            </a:r>
            <a:r>
              <a:rPr lang="en-IN" sz="2000" dirty="0" err="1"/>
              <a:t>SimplePrinter</a:t>
            </a:r>
            <a:r>
              <a:rPr lang="en-IN" sz="2000" dirty="0"/>
              <a:t>();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printer.printDocument</a:t>
            </a:r>
            <a:r>
              <a:rPr lang="en-IN" sz="2000" dirty="0"/>
              <a:t>();</a:t>
            </a:r>
          </a:p>
          <a:p>
            <a:pPr marL="0" indent="0">
              <a:buNone/>
            </a:pPr>
            <a:r>
              <a:rPr lang="en-IN" sz="2000" dirty="0"/>
              <a:t>    }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pPr marL="0" indent="0">
              <a:buNone/>
            </a:pPr>
            <a:r>
              <a:rPr lang="en-GB" sz="2000" dirty="0"/>
              <a:t>Output:</a:t>
            </a:r>
          </a:p>
          <a:p>
            <a:pPr marL="0" indent="0">
              <a:buNone/>
            </a:pPr>
            <a:r>
              <a:rPr lang="en-GB" sz="2000" dirty="0"/>
              <a:t>Printing document...</a:t>
            </a:r>
          </a:p>
          <a:p>
            <a:pPr marL="0" indent="0">
              <a:buNone/>
            </a:pPr>
            <a:r>
              <a:rPr lang="en-GB" sz="2000" dirty="0"/>
              <a:t>Explanation: The </a:t>
            </a:r>
            <a:r>
              <a:rPr lang="en-GB" sz="2000" dirty="0" err="1"/>
              <a:t>SimplePrinter</a:t>
            </a:r>
            <a:r>
              <a:rPr lang="en-GB" sz="2000" dirty="0"/>
              <a:t> class implements methods that it does not use, violating the Interface Segregation Principle.</a:t>
            </a:r>
          </a:p>
          <a:p>
            <a:pPr marL="0" indent="0">
              <a:buNone/>
            </a:pPr>
            <a:br>
              <a:rPr lang="en-GB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49023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B856A-4C1C-6302-AACB-B1E468B8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After ISP: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50FAA-5236-752A-F494-DF9809016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64498"/>
            <a:ext cx="5181600" cy="54124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This interface should be split into smaller interfaces.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// Printer.java</a:t>
            </a:r>
          </a:p>
          <a:p>
            <a:pPr marL="0" indent="0">
              <a:buNone/>
            </a:pPr>
            <a:r>
              <a:rPr lang="en-IN" sz="1600" dirty="0"/>
              <a:t>public interface Printer {</a:t>
            </a:r>
          </a:p>
          <a:p>
            <a:pPr marL="0" indent="0">
              <a:buNone/>
            </a:pPr>
            <a:r>
              <a:rPr lang="en-IN" sz="1600" dirty="0"/>
              <a:t>    void </a:t>
            </a:r>
            <a:r>
              <a:rPr lang="en-IN" sz="1600" dirty="0" err="1"/>
              <a:t>printDocument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// Scanner.java</a:t>
            </a:r>
          </a:p>
          <a:p>
            <a:pPr marL="0" indent="0">
              <a:buNone/>
            </a:pPr>
            <a:r>
              <a:rPr lang="en-IN" sz="1600" dirty="0"/>
              <a:t>public interface Scanner {</a:t>
            </a:r>
          </a:p>
          <a:p>
            <a:pPr marL="0" indent="0">
              <a:buNone/>
            </a:pPr>
            <a:r>
              <a:rPr lang="en-IN" sz="1600" dirty="0"/>
              <a:t>    void </a:t>
            </a:r>
            <a:r>
              <a:rPr lang="en-IN" sz="1600" dirty="0" err="1"/>
              <a:t>scanDocument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// Fax.java</a:t>
            </a:r>
          </a:p>
          <a:p>
            <a:pPr marL="0" indent="0">
              <a:buNone/>
            </a:pPr>
            <a:r>
              <a:rPr lang="en-IN" sz="1600" dirty="0"/>
              <a:t>public interface Fax {</a:t>
            </a:r>
          </a:p>
          <a:p>
            <a:pPr marL="0" indent="0">
              <a:buNone/>
            </a:pPr>
            <a:r>
              <a:rPr lang="en-IN" sz="1600" dirty="0"/>
              <a:t>    void </a:t>
            </a:r>
            <a:r>
              <a:rPr lang="en-IN" sz="1600" dirty="0" err="1"/>
              <a:t>faxDocument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br>
              <a:rPr lang="en-IN" sz="1600" dirty="0"/>
            </a:br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39CC0-1353-7BD6-2FB9-4BF78D4FA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181600" cy="58118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    public void </a:t>
            </a:r>
            <a:r>
              <a:rPr lang="en-IN" sz="1600" dirty="0" err="1"/>
              <a:t>scanDocument</a:t>
            </a:r>
            <a:r>
              <a:rPr lang="en-IN" sz="1600" dirty="0"/>
              <a:t>() 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System.out.println</a:t>
            </a:r>
            <a:r>
              <a:rPr lang="en-IN" sz="1600" dirty="0"/>
              <a:t>("Scanning document...");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    public void </a:t>
            </a:r>
            <a:r>
              <a:rPr lang="en-IN" sz="1600" dirty="0" err="1"/>
              <a:t>faxDocument</a:t>
            </a:r>
            <a:r>
              <a:rPr lang="en-IN" sz="1600" dirty="0"/>
              <a:t>() 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System.out.println</a:t>
            </a:r>
            <a:r>
              <a:rPr lang="en-IN" sz="1600" dirty="0"/>
              <a:t>("Faxing document...");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r>
              <a:rPr lang="en-IN" sz="1600" dirty="0"/>
              <a:t>// Main.java</a:t>
            </a:r>
          </a:p>
          <a:p>
            <a:pPr marL="0" indent="0">
              <a:buNone/>
            </a:pPr>
            <a:r>
              <a:rPr lang="en-IN" sz="1600" dirty="0"/>
              <a:t>public class Main {</a:t>
            </a:r>
          </a:p>
          <a:p>
            <a:pPr marL="0" indent="0">
              <a:buNone/>
            </a:pPr>
            <a:r>
              <a:rPr lang="en-IN" sz="1600" dirty="0"/>
              <a:t>    public static void main(String[] </a:t>
            </a:r>
            <a:r>
              <a:rPr lang="en-IN" sz="1600" dirty="0" err="1"/>
              <a:t>args</a:t>
            </a:r>
            <a:r>
              <a:rPr lang="en-IN" sz="1600" dirty="0"/>
              <a:t>) {</a:t>
            </a:r>
          </a:p>
          <a:p>
            <a:pPr marL="0" indent="0">
              <a:buNone/>
            </a:pPr>
            <a:r>
              <a:rPr lang="en-IN" sz="1600" dirty="0"/>
              <a:t>        Printer </a:t>
            </a:r>
            <a:r>
              <a:rPr lang="en-IN" sz="1600" dirty="0" err="1"/>
              <a:t>simplePrinter</a:t>
            </a:r>
            <a:r>
              <a:rPr lang="en-IN" sz="1600" dirty="0"/>
              <a:t> = new </a:t>
            </a:r>
            <a:r>
              <a:rPr lang="en-IN" sz="1600" dirty="0" err="1"/>
              <a:t>SimplePrinter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simplePrinter.printDocument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MultiFunctionPrinter</a:t>
            </a:r>
            <a:r>
              <a:rPr lang="en-IN" sz="1600" dirty="0"/>
              <a:t> </a:t>
            </a:r>
            <a:r>
              <a:rPr lang="en-IN" sz="1600" dirty="0" err="1"/>
              <a:t>mfp</a:t>
            </a:r>
            <a:r>
              <a:rPr lang="en-IN" sz="1600" dirty="0"/>
              <a:t> = new </a:t>
            </a:r>
            <a:r>
              <a:rPr lang="en-IN" sz="1600" dirty="0" err="1"/>
              <a:t>MultiFunctionPrinter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mfp.printDocument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mfp.scanDocument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mfp.faxDocument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66700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3B00D-FF87-3353-C0B8-B8878B297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14053-668C-5706-996D-E20BDA6FC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Output: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Printing document...</a:t>
            </a:r>
          </a:p>
          <a:p>
            <a:pPr marL="0" indent="0">
              <a:buNone/>
            </a:pPr>
            <a:r>
              <a:rPr lang="en-GB" dirty="0"/>
              <a:t>Printing document...</a:t>
            </a:r>
          </a:p>
          <a:p>
            <a:pPr marL="0" indent="0">
              <a:buNone/>
            </a:pPr>
            <a:r>
              <a:rPr lang="en-GB" dirty="0"/>
              <a:t>Scanning document...</a:t>
            </a:r>
          </a:p>
          <a:p>
            <a:pPr marL="0" indent="0">
              <a:buNone/>
            </a:pPr>
            <a:r>
              <a:rPr lang="en-GB" dirty="0"/>
              <a:t>Faxing document...</a:t>
            </a:r>
          </a:p>
          <a:p>
            <a:pPr marL="0" indent="0">
              <a:buNone/>
            </a:pPr>
            <a:r>
              <a:rPr lang="en-GB" dirty="0"/>
              <a:t>Explanation: The Printer, Scanner, and Fax interfaces are now segregated, ensuring that classes only implement the interfaces they use. This adheres to the Interface Segregation Principle.</a:t>
            </a:r>
          </a:p>
          <a:p>
            <a:pPr marL="0" indent="0">
              <a:buNone/>
            </a:pPr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8276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F03C4-A739-7435-4E47-93746F0AD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 Dependency Inversion Principle (DIP)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B5664-E7AD-B9B8-9262-FE850A029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000" dirty="0"/>
              <a:t>The Dependency Inversion Principle (DIP) is a principle in object-oriented design that states that "High-level modules should not depend on low-level modules. </a:t>
            </a:r>
          </a:p>
          <a:p>
            <a:r>
              <a:rPr lang="en-GB" sz="2000" dirty="0"/>
              <a:t>Both should depend on abstractions". Additionally, abstractions should not depend on details. Details should depend on abstractions.</a:t>
            </a:r>
          </a:p>
          <a:p>
            <a:pPr marL="0" indent="0">
              <a:buNone/>
            </a:pPr>
            <a:br>
              <a:rPr lang="en-GB" sz="2000" dirty="0"/>
            </a:br>
            <a:endParaRPr lang="en-GB" sz="2000" dirty="0"/>
          </a:p>
          <a:p>
            <a:r>
              <a:rPr lang="en-GB" sz="2000" dirty="0"/>
              <a:t>High-level modules should not depend on low-level modules. Both should depend on abstractions. Abstractions should not depend on details. Details should depend on abstractions.</a:t>
            </a:r>
          </a:p>
          <a:p>
            <a:endParaRPr lang="en-GB" sz="2000" dirty="0"/>
          </a:p>
          <a:p>
            <a:r>
              <a:rPr lang="en-GB" sz="2000" dirty="0"/>
              <a:t>DIP suggests that classes should rely on abstractions (e.g., interfaces or abstract classes) rather than concrete implementations.</a:t>
            </a:r>
          </a:p>
          <a:p>
            <a:r>
              <a:rPr lang="en-GB" sz="2000" dirty="0"/>
              <a:t>This allows for more flexible and decoupled code, making it easier to change implementations without affecting other parts of the codebase.</a:t>
            </a:r>
          </a:p>
          <a:p>
            <a:pPr marL="0" indent="0">
              <a:buNone/>
            </a:pPr>
            <a:br>
              <a:rPr lang="en-GB" sz="2000" dirty="0"/>
            </a:br>
            <a:endParaRPr lang="en-GB" sz="2000" dirty="0"/>
          </a:p>
          <a:p>
            <a:pPr marL="0" indent="0">
              <a:buNone/>
            </a:pPr>
            <a:br>
              <a:rPr lang="en-GB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03732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8F4B-60F3-7B1F-A220-AAB2B9F17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Before DIP: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FBFF-1935-E8F5-CE08-9260E89E2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59370"/>
            <a:ext cx="5181600" cy="521759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Consider a </a:t>
            </a:r>
            <a:r>
              <a:rPr lang="en-IN" dirty="0" err="1"/>
              <a:t>LightBulb</a:t>
            </a:r>
            <a:r>
              <a:rPr lang="en-IN" dirty="0"/>
              <a:t> class and a Switch class.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LightBulb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void </a:t>
            </a:r>
            <a:r>
              <a:rPr lang="en-IN" dirty="0" err="1"/>
              <a:t>turnOn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</a:t>
            </a:r>
            <a:r>
              <a:rPr lang="en-IN" dirty="0" err="1"/>
              <a:t>LightBulb</a:t>
            </a:r>
            <a:r>
              <a:rPr lang="en-IN" dirty="0"/>
              <a:t> on");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void </a:t>
            </a:r>
            <a:r>
              <a:rPr lang="en-IN" dirty="0" err="1"/>
              <a:t>turnOff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</a:t>
            </a:r>
            <a:r>
              <a:rPr lang="en-IN" dirty="0" err="1"/>
              <a:t>LightBulb</a:t>
            </a:r>
            <a:r>
              <a:rPr lang="en-IN" dirty="0"/>
              <a:t> off");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DB160-DD94-313C-C524-BAD1EB230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0"/>
            <a:ext cx="5181600" cy="6858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public class Switch {</a:t>
            </a:r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LightBulb</a:t>
            </a:r>
            <a:r>
              <a:rPr lang="en-IN" dirty="0"/>
              <a:t> </a:t>
            </a:r>
            <a:r>
              <a:rPr lang="en-IN" dirty="0" err="1"/>
              <a:t>lightBulb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Switch(</a:t>
            </a:r>
            <a:r>
              <a:rPr lang="en-IN" dirty="0" err="1"/>
              <a:t>LightBulb</a:t>
            </a:r>
            <a:r>
              <a:rPr lang="en-IN" dirty="0"/>
              <a:t> </a:t>
            </a:r>
            <a:r>
              <a:rPr lang="en-IN" dirty="0" err="1"/>
              <a:t>lightBulb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this.lightBulb</a:t>
            </a:r>
            <a:r>
              <a:rPr lang="en-IN" dirty="0"/>
              <a:t> = </a:t>
            </a:r>
            <a:r>
              <a:rPr lang="en-IN" dirty="0" err="1"/>
              <a:t>lightBulb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void operate()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lightBulb.turnOn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LightBulb</a:t>
            </a:r>
            <a:r>
              <a:rPr lang="en-IN" dirty="0"/>
              <a:t> </a:t>
            </a:r>
            <a:r>
              <a:rPr lang="en-IN" dirty="0" err="1"/>
              <a:t>lightBulb</a:t>
            </a:r>
            <a:r>
              <a:rPr lang="en-IN" dirty="0"/>
              <a:t> = new </a:t>
            </a:r>
            <a:r>
              <a:rPr lang="en-IN" dirty="0" err="1"/>
              <a:t>LightBulb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Switch </a:t>
            </a:r>
            <a:r>
              <a:rPr lang="en-IN" dirty="0" err="1"/>
              <a:t>lightSwitch</a:t>
            </a:r>
            <a:r>
              <a:rPr lang="en-IN" dirty="0"/>
              <a:t> = new Switch(</a:t>
            </a:r>
            <a:r>
              <a:rPr lang="en-IN" dirty="0" err="1"/>
              <a:t>lightBulb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lightSwitch.operate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GB" dirty="0"/>
              <a:t>Output: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LightBulb</a:t>
            </a:r>
            <a:r>
              <a:rPr lang="en-GB" dirty="0"/>
              <a:t> on</a:t>
            </a:r>
          </a:p>
          <a:p>
            <a:pPr marL="0" indent="0">
              <a:buNone/>
            </a:pPr>
            <a:r>
              <a:rPr lang="en-GB" dirty="0"/>
              <a:t>Explanation: The Switch class directly depends on the </a:t>
            </a:r>
            <a:r>
              <a:rPr lang="en-GB" dirty="0" err="1"/>
              <a:t>LightBulb</a:t>
            </a:r>
            <a:r>
              <a:rPr lang="en-GB" dirty="0"/>
              <a:t> class, violating the Dependency Inversion Principle.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916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0E365-AB4A-DA3C-2AC5-3AA3044C8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7657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After DIP: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9EFF6-6965-861B-3A23-4974712F2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54636"/>
            <a:ext cx="5181600" cy="6190938"/>
          </a:xfrm>
        </p:spPr>
        <p:txBody>
          <a:bodyPr>
            <a:noAutofit/>
          </a:bodyPr>
          <a:lstStyle/>
          <a:p>
            <a:r>
              <a:rPr lang="en-GB" sz="1000" dirty="0"/>
              <a:t>To adhere to DIP, we should depend on abstractions.</a:t>
            </a:r>
          </a:p>
          <a:p>
            <a:pPr marL="0" indent="0">
              <a:buNone/>
            </a:pPr>
            <a:r>
              <a:rPr lang="en-IN" sz="1000" dirty="0"/>
              <a:t>// Switchable.java</a:t>
            </a:r>
          </a:p>
          <a:p>
            <a:pPr marL="0" indent="0">
              <a:buNone/>
            </a:pPr>
            <a:r>
              <a:rPr lang="en-IN" sz="1000" dirty="0"/>
              <a:t>public interface Switchable {</a:t>
            </a:r>
          </a:p>
          <a:p>
            <a:pPr marL="0" indent="0">
              <a:buNone/>
            </a:pPr>
            <a:r>
              <a:rPr lang="en-IN" sz="1000" dirty="0"/>
              <a:t>    void </a:t>
            </a:r>
            <a:r>
              <a:rPr lang="en-IN" sz="1000" dirty="0" err="1"/>
              <a:t>turnOn</a:t>
            </a:r>
            <a:r>
              <a:rPr lang="en-IN" sz="1000" dirty="0"/>
              <a:t>();</a:t>
            </a:r>
          </a:p>
          <a:p>
            <a:pPr marL="0" indent="0">
              <a:buNone/>
            </a:pPr>
            <a:r>
              <a:rPr lang="en-IN" sz="1000" dirty="0"/>
              <a:t>    void </a:t>
            </a:r>
            <a:r>
              <a:rPr lang="en-IN" sz="1000" dirty="0" err="1"/>
              <a:t>turnOff</a:t>
            </a:r>
            <a:r>
              <a:rPr lang="en-IN" sz="1000" dirty="0"/>
              <a:t>();</a:t>
            </a:r>
          </a:p>
          <a:p>
            <a:pPr marL="0" indent="0">
              <a:buNone/>
            </a:pPr>
            <a:r>
              <a:rPr lang="en-IN" sz="1000" dirty="0"/>
              <a:t>}</a:t>
            </a:r>
          </a:p>
          <a:p>
            <a:pPr marL="0" indent="0">
              <a:buNone/>
            </a:pPr>
            <a:r>
              <a:rPr lang="en-IN" sz="1000" dirty="0"/>
              <a:t>// LightBulb.java</a:t>
            </a:r>
          </a:p>
          <a:p>
            <a:pPr marL="0" indent="0">
              <a:buNone/>
            </a:pPr>
            <a:r>
              <a:rPr lang="en-IN" sz="1000" dirty="0"/>
              <a:t>public class </a:t>
            </a:r>
            <a:r>
              <a:rPr lang="en-IN" sz="1000" dirty="0" err="1"/>
              <a:t>LightBulb</a:t>
            </a:r>
            <a:r>
              <a:rPr lang="en-IN" sz="1000" dirty="0"/>
              <a:t> implements Switchable {</a:t>
            </a:r>
          </a:p>
          <a:p>
            <a:pPr marL="0" indent="0">
              <a:buNone/>
            </a:pPr>
            <a:r>
              <a:rPr lang="en-IN" sz="1000" dirty="0"/>
              <a:t>    public void </a:t>
            </a:r>
            <a:r>
              <a:rPr lang="en-IN" sz="1000" dirty="0" err="1"/>
              <a:t>turnOn</a:t>
            </a:r>
            <a:r>
              <a:rPr lang="en-IN" sz="1000" dirty="0"/>
              <a:t>() {</a:t>
            </a:r>
          </a:p>
          <a:p>
            <a:pPr marL="0" indent="0">
              <a:buNone/>
            </a:pPr>
            <a:r>
              <a:rPr lang="en-IN" sz="1000" dirty="0"/>
              <a:t>        </a:t>
            </a:r>
            <a:r>
              <a:rPr lang="en-IN" sz="1000" dirty="0" err="1"/>
              <a:t>System.out.println</a:t>
            </a:r>
            <a:r>
              <a:rPr lang="en-IN" sz="1000" dirty="0"/>
              <a:t>("</a:t>
            </a:r>
            <a:r>
              <a:rPr lang="en-IN" sz="1000" dirty="0" err="1"/>
              <a:t>LightBulb</a:t>
            </a:r>
            <a:r>
              <a:rPr lang="en-IN" sz="1000" dirty="0"/>
              <a:t> on");</a:t>
            </a:r>
          </a:p>
          <a:p>
            <a:pPr marL="0" indent="0">
              <a:buNone/>
            </a:pPr>
            <a:r>
              <a:rPr lang="en-IN" sz="1000" dirty="0"/>
              <a:t>    }</a:t>
            </a:r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r>
              <a:rPr lang="en-IN" sz="1000" dirty="0"/>
              <a:t>    public void </a:t>
            </a:r>
            <a:r>
              <a:rPr lang="en-IN" sz="1000" dirty="0" err="1"/>
              <a:t>turnOff</a:t>
            </a:r>
            <a:r>
              <a:rPr lang="en-IN" sz="1000" dirty="0"/>
              <a:t>() {</a:t>
            </a:r>
          </a:p>
          <a:p>
            <a:pPr marL="0" indent="0">
              <a:buNone/>
            </a:pPr>
            <a:r>
              <a:rPr lang="en-IN" sz="1000" dirty="0"/>
              <a:t>        </a:t>
            </a:r>
            <a:r>
              <a:rPr lang="en-IN" sz="1000" dirty="0" err="1"/>
              <a:t>System.out.println</a:t>
            </a:r>
            <a:r>
              <a:rPr lang="en-IN" sz="1000" dirty="0"/>
              <a:t>("</a:t>
            </a:r>
            <a:r>
              <a:rPr lang="en-IN" sz="1000" dirty="0" err="1"/>
              <a:t>LightBulb</a:t>
            </a:r>
            <a:r>
              <a:rPr lang="en-IN" sz="1000" dirty="0"/>
              <a:t> off");</a:t>
            </a:r>
          </a:p>
          <a:p>
            <a:pPr marL="0" indent="0">
              <a:buNone/>
            </a:pPr>
            <a:r>
              <a:rPr lang="en-IN" sz="1000" dirty="0"/>
              <a:t>    }</a:t>
            </a:r>
          </a:p>
          <a:p>
            <a:pPr marL="0" indent="0">
              <a:buNone/>
            </a:pPr>
            <a:r>
              <a:rPr lang="en-IN" sz="1000" dirty="0"/>
              <a:t>}</a:t>
            </a:r>
          </a:p>
          <a:p>
            <a:pPr marL="0" indent="0">
              <a:buNone/>
            </a:pPr>
            <a:r>
              <a:rPr lang="en-IN" sz="1000" dirty="0"/>
              <a:t>// Switch.java</a:t>
            </a:r>
          </a:p>
          <a:p>
            <a:pPr marL="0" indent="0">
              <a:buNone/>
            </a:pPr>
            <a:r>
              <a:rPr lang="en-IN" sz="1000" dirty="0"/>
              <a:t>public class Switch {</a:t>
            </a:r>
          </a:p>
          <a:p>
            <a:pPr marL="0" indent="0">
              <a:buNone/>
            </a:pPr>
            <a:r>
              <a:rPr lang="en-IN" sz="1000" dirty="0"/>
              <a:t>    private Switchable device;</a:t>
            </a:r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r>
              <a:rPr lang="en-IN" sz="1000" dirty="0"/>
              <a:t>    public Switch(Switchable device) {</a:t>
            </a:r>
          </a:p>
          <a:p>
            <a:pPr marL="0" indent="0">
              <a:buNone/>
            </a:pPr>
            <a:r>
              <a:rPr lang="en-IN" sz="1000" dirty="0"/>
              <a:t>        </a:t>
            </a:r>
            <a:r>
              <a:rPr lang="en-IN" sz="1000" dirty="0" err="1"/>
              <a:t>this.device</a:t>
            </a:r>
            <a:r>
              <a:rPr lang="en-IN" sz="1000" dirty="0"/>
              <a:t> = device;</a:t>
            </a:r>
          </a:p>
          <a:p>
            <a:pPr marL="0" indent="0">
              <a:buNone/>
            </a:pPr>
            <a:r>
              <a:rPr lang="en-IN" sz="1000" dirty="0"/>
              <a:t>    }</a:t>
            </a:r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br>
              <a:rPr lang="en-IN" sz="1000" dirty="0"/>
            </a:br>
            <a:br>
              <a:rPr lang="en-GB" sz="1000" dirty="0"/>
            </a:br>
            <a:endParaRPr lang="en-IN" sz="1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7D5BB-9E50-6E43-52F5-A689C568E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0"/>
            <a:ext cx="5181600" cy="6857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public void operate() 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device.turnOn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r>
              <a:rPr lang="en-IN" sz="1600" dirty="0"/>
              <a:t>// Main.java</a:t>
            </a:r>
          </a:p>
          <a:p>
            <a:pPr marL="0" indent="0">
              <a:buNone/>
            </a:pPr>
            <a:r>
              <a:rPr lang="en-IN" sz="1600" dirty="0"/>
              <a:t>public class Main {</a:t>
            </a:r>
          </a:p>
          <a:p>
            <a:pPr marL="0" indent="0">
              <a:buNone/>
            </a:pPr>
            <a:r>
              <a:rPr lang="en-IN" sz="1600" dirty="0"/>
              <a:t>    public static void main(String[] </a:t>
            </a:r>
            <a:r>
              <a:rPr lang="en-IN" sz="1600" dirty="0" err="1"/>
              <a:t>args</a:t>
            </a:r>
            <a:r>
              <a:rPr lang="en-IN" sz="1600" dirty="0"/>
              <a:t>) {</a:t>
            </a:r>
          </a:p>
          <a:p>
            <a:pPr marL="0" indent="0">
              <a:buNone/>
            </a:pPr>
            <a:r>
              <a:rPr lang="en-IN" sz="1600" dirty="0"/>
              <a:t>        Switchable </a:t>
            </a:r>
            <a:r>
              <a:rPr lang="en-IN" sz="1600" dirty="0" err="1"/>
              <a:t>lightBulb</a:t>
            </a:r>
            <a:r>
              <a:rPr lang="en-IN" sz="1600" dirty="0"/>
              <a:t> = new </a:t>
            </a:r>
            <a:r>
              <a:rPr lang="en-IN" sz="1600" dirty="0" err="1"/>
              <a:t>LightBulb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    Switch </a:t>
            </a:r>
            <a:r>
              <a:rPr lang="en-IN" sz="1600" dirty="0" err="1"/>
              <a:t>lightSwitch</a:t>
            </a:r>
            <a:r>
              <a:rPr lang="en-IN" sz="1600" dirty="0"/>
              <a:t> = new Switch(</a:t>
            </a:r>
            <a:r>
              <a:rPr lang="en-IN" sz="1600" dirty="0" err="1"/>
              <a:t>lightBulb</a:t>
            </a:r>
            <a:r>
              <a:rPr lang="en-IN" sz="1600" dirty="0"/>
              <a:t>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lightSwitch.operate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r>
              <a:rPr lang="en-IN" sz="1600" dirty="0"/>
              <a:t>Output: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 err="1"/>
              <a:t>LightBulb</a:t>
            </a:r>
            <a:r>
              <a:rPr lang="en-IN" sz="1600" dirty="0"/>
              <a:t> on</a:t>
            </a:r>
          </a:p>
          <a:p>
            <a:pPr marL="0" indent="0">
              <a:buNone/>
            </a:pPr>
            <a:r>
              <a:rPr lang="en-IN" sz="1600" dirty="0"/>
              <a:t>Explanation: The Switch class now depends on the Switchable interface rather than the </a:t>
            </a:r>
            <a:r>
              <a:rPr lang="en-IN" sz="1600" dirty="0" err="1"/>
              <a:t>LightBulb</a:t>
            </a:r>
            <a:r>
              <a:rPr lang="en-IN" sz="1600" dirty="0"/>
              <a:t> class. This adheres to the Dependency Inversion Principle, as high-level modules and low-level modules both depend on abstractions.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73097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2849</Words>
  <Application>Microsoft Office PowerPoint</Application>
  <PresentationFormat>Widescreen</PresentationFormat>
  <Paragraphs>475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Wingdings</vt:lpstr>
      <vt:lpstr>Office Theme</vt:lpstr>
      <vt:lpstr>Solid principle</vt:lpstr>
      <vt:lpstr>What are SOLID principles</vt:lpstr>
      <vt:lpstr>PowerPoint Presentation</vt:lpstr>
      <vt:lpstr>Single Responsibility Principle (SRP)  </vt:lpstr>
      <vt:lpstr>Before SRP:  </vt:lpstr>
      <vt:lpstr>PowerPoint Presentation</vt:lpstr>
      <vt:lpstr>After SRP:  </vt:lpstr>
      <vt:lpstr>PowerPoint Presentation</vt:lpstr>
      <vt:lpstr>Open/Closed Principle (OCP)  </vt:lpstr>
      <vt:lpstr>Before OCP:  </vt:lpstr>
      <vt:lpstr>After OCP: </vt:lpstr>
      <vt:lpstr>PowerPoint Presentation</vt:lpstr>
      <vt:lpstr>Liskov Substitution Principle (LSP)  </vt:lpstr>
      <vt:lpstr>Before LSP:  </vt:lpstr>
      <vt:lpstr>PowerPoint Presentation</vt:lpstr>
      <vt:lpstr>After LSP:  </vt:lpstr>
      <vt:lpstr>PowerPoint Presentation</vt:lpstr>
      <vt:lpstr> Interface Segregation Principle (ISP)  </vt:lpstr>
      <vt:lpstr>Before ISP:  </vt:lpstr>
      <vt:lpstr>After ISP:  </vt:lpstr>
      <vt:lpstr>PowerPoint Presentation</vt:lpstr>
      <vt:lpstr> Dependency Inversion Principle (DIP)  </vt:lpstr>
      <vt:lpstr>Before DIP:  </vt:lpstr>
      <vt:lpstr>  After DIP:  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2</cp:revision>
  <dcterms:created xsi:type="dcterms:W3CDTF">2026-01-08T11:10:56Z</dcterms:created>
  <dcterms:modified xsi:type="dcterms:W3CDTF">2026-05-17T22:31:16Z</dcterms:modified>
</cp:coreProperties>
</file>