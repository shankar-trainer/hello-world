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0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E437D-BF8B-4890-8C5B-AC7B8CB3540F}" v="37" dt="2026-05-17T09:18:25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7B393-BE63-3CCC-6BCB-79B3A92BE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1D35B-ACC6-75DD-5288-92F5DEEAE3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3BEFF-CB78-F078-EFC5-3B1511E30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EACAF-2806-4AB4-52DB-3C056765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4E8FB-8266-0AEB-EF91-636D2286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0217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1DE3-5899-C244-DE10-950CD0A61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CE849-7873-0D12-8B9F-51ECA20EA6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0BD2F-22DE-96D2-C710-F7CD801F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38152-F9C5-1EA6-908A-ABF17A956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2DD8D-E6E4-FCFB-2C21-8EB62540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1975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A4F2-702E-B81C-4065-2E9519E9A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9095F-BD65-316B-877C-6B0945908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C2761-63FF-F82E-6318-A1049ADA8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97DC1-3DAE-6579-6C5B-5F5E91F6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A9E0-445D-5E39-2804-250E35908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984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FC63-FE3C-5B20-3FD0-B7F2E011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35CF-73D7-6B2E-1E48-860F1525E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4411E-CC39-7556-45F3-C3BF7E0C8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CADAC-2579-C051-42F3-A3B23741A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6416D-435D-63C3-68F4-DDA5317B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D950F-6B37-0459-0BFB-AF257D3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42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3268-C98E-0D54-B647-84B06C2F3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BDDEC-1700-4009-E7B6-8C82CDA4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B045A-BEAE-4299-6A0D-17C1EB1532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E7F54-3E93-352C-204E-E64F1A1A0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741C8E-A803-CAE9-DE7B-8E05350A9C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041A83-60AD-8CC5-C432-3EDF4D7C5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553A5A-024B-7990-1C56-710F88DD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775FE-5BED-7347-E7F3-8115CC26E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932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208D7-2F8E-6368-039F-AF1F3D483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432B5-FCA3-AF9F-F369-9F4BF64A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925BF-81F1-3BFE-FD87-5CEE62CC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C343A-915D-B753-9874-3B05EFE4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122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D9A93-EBDE-F31A-1E1A-051571BAE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DA6874-41E9-4024-1C8C-0B410E2EA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D73B7-FDF9-2CB8-ECF3-DD900227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63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2DB5-E495-1A80-BC40-63256B89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56BE9-9696-E9F2-765C-F4D010EE7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9E8BF-F156-6881-3C5F-0832168DF4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0E7BD-0931-41C4-6702-E1079E68A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4A9BD-CEC0-A8F3-69E9-AD59004B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C1511-DF46-3A45-CCF5-0511E510E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15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09F3E-1DD0-5C8B-FA19-B5300934F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780FA-6E70-2131-280F-95A662F1F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F3772-C24C-A35D-5E03-8C62327B7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E3363-3FE8-20B7-254B-EAC7080A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4FCEBD-2BF2-C697-21F0-966263B48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F5BCE-5835-DDB3-E8FB-BF18D145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59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250B5-7E51-B0B4-B5BC-7A42E1FE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A73BC-0762-41EF-9B82-6A7AEA73A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62584-7C2C-3889-B781-8853549B1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F4F36-CD4C-711F-4E46-48EEEC6F8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3DB16-9E4A-EAFF-EAC2-CC3BF5DC0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483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DB976-98C0-72D9-45B6-038AAFD97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181785-9AFE-3364-4B81-836521844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01FB9-4020-778E-896E-774AD396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9D006-8F3C-E0C2-7982-36B7BC4F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00D2A-C049-F9D3-68D4-3D9256387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505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E3EA3A-2055-6563-4051-B9AFA343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1A1EA-0A30-1E93-D985-417579720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5ACBA-A1F2-F371-57AC-EAEF91EF1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46B0AD-D656-4123-B4E0-423C69E4774F}" type="datetimeFigureOut">
              <a:rPr lang="en-GB" smtClean="0"/>
              <a:t>17/05/2026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1B4A5-7FEE-1D50-EAD2-B50C2D6B2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EF846-B102-4BEA-D2B5-1CCCEE550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93D64D-4AC0-4781-B006-EC98207C01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222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39EB5-7511-0A58-BD47-8F0E65D6AE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Solid principal in </a:t>
            </a:r>
            <a:r>
              <a:rPr lang="en-GB" dirty="0" err="1"/>
              <a:t>php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C648-3DEF-A457-DFB8-F26980077C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385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A1F9A-15BB-38A1-5085-24D2CC47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A1761-2571-5232-E7EC-F7358F3C6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A79593-0381-8A77-A4A5-91F6DCAF0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167" y="0"/>
            <a:ext cx="9521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937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ECA4-61AF-0636-5FE3-0711CEF0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0C16E-922B-5D3B-9B42-2F81F0498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975547-CA50-65D6-0A15-8441887EF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1" y="709233"/>
            <a:ext cx="12098438" cy="543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31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280BD-9A17-11B6-AE24-2E3C4115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F0EBC-3484-91F2-CED9-1D7EF5BC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72842-C18A-E81C-3245-BE99C070F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569" y="0"/>
            <a:ext cx="9226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69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32A9-F77A-2505-9FB2-C583FE55F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5A191-0D32-A9AF-3F8E-4A55E3E2D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SOLID principles are a set of five design guidelines</a:t>
            </a:r>
          </a:p>
          <a:p>
            <a:r>
              <a:rPr lang="en-GB" dirty="0"/>
              <a:t>—Single Responsibility, </a:t>
            </a:r>
          </a:p>
          <a:p>
            <a:r>
              <a:rPr lang="en-GB" dirty="0"/>
              <a:t>Open/Closed, </a:t>
            </a:r>
          </a:p>
          <a:p>
            <a:r>
              <a:rPr lang="en-GB" dirty="0" err="1"/>
              <a:t>Liskov</a:t>
            </a:r>
            <a:r>
              <a:rPr lang="en-GB" dirty="0"/>
              <a:t> Substitution, </a:t>
            </a:r>
          </a:p>
          <a:p>
            <a:r>
              <a:rPr lang="en-GB" dirty="0"/>
              <a:t>Interface Segregation, and </a:t>
            </a:r>
          </a:p>
          <a:p>
            <a:r>
              <a:rPr lang="en-GB" dirty="0"/>
              <a:t>Dependency Inversion—</a:t>
            </a:r>
          </a:p>
          <a:p>
            <a:pPr lvl="1"/>
            <a:r>
              <a:rPr lang="en-GB" dirty="0"/>
              <a:t>that help PHP developers create code that is easier to maintain, test, and scale.</a:t>
            </a:r>
          </a:p>
        </p:txBody>
      </p:sp>
    </p:spTree>
    <p:extLst>
      <p:ext uri="{BB962C8B-B14F-4D97-AF65-F5344CB8AC3E}">
        <p14:creationId xmlns:p14="http://schemas.microsoft.com/office/powerpoint/2010/main" val="3029540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07CAC-A9A9-E4AD-4F3F-E998ED46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1. Single Responsibility Principle (SRP)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EAE1B-958B-BB42-5831-C21E3BAB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 class should have only one reason to change</a:t>
            </a:r>
            <a:r>
              <a:rPr lang="en-GB" dirty="0"/>
              <a:t>. </a:t>
            </a:r>
          </a:p>
          <a:p>
            <a:r>
              <a:rPr lang="en-GB" dirty="0"/>
              <a:t>This means a class should perform one specific task and nothing else.</a:t>
            </a:r>
          </a:p>
          <a:p>
            <a:r>
              <a:rPr lang="en-GB" dirty="0"/>
              <a:t>If a class handles data validation, database storage, and email notifications all at once, it’s doing too much.</a:t>
            </a:r>
          </a:p>
        </p:txBody>
      </p:sp>
    </p:spTree>
    <p:extLst>
      <p:ext uri="{BB962C8B-B14F-4D97-AF65-F5344CB8AC3E}">
        <p14:creationId xmlns:p14="http://schemas.microsoft.com/office/powerpoint/2010/main" val="1671693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2F31-7FD2-C884-8BFA-3F11FE1E7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Bad code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8E33-37E6-E4AD-22A7-2D15E6C1D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User {</a:t>
            </a:r>
          </a:p>
          <a:p>
            <a:pPr marL="0" indent="0">
              <a:buNone/>
            </a:pPr>
            <a:r>
              <a:rPr lang="en-GB" dirty="0"/>
              <a:t>    public function create(array $data) {</a:t>
            </a:r>
          </a:p>
          <a:p>
            <a:pPr marL="0" indent="0">
              <a:buNone/>
            </a:pPr>
            <a:r>
              <a:rPr lang="en-GB" dirty="0"/>
              <a:t>        // 1. Save user to database</a:t>
            </a:r>
          </a:p>
          <a:p>
            <a:pPr marL="0" indent="0">
              <a:buNone/>
            </a:pPr>
            <a:r>
              <a:rPr lang="en-GB" dirty="0"/>
              <a:t>        $</a:t>
            </a:r>
            <a:r>
              <a:rPr lang="en-GB" dirty="0" err="1"/>
              <a:t>db</a:t>
            </a:r>
            <a:r>
              <a:rPr lang="en-GB" dirty="0"/>
              <a:t> = new Database();</a:t>
            </a:r>
          </a:p>
          <a:p>
            <a:pPr marL="0" indent="0">
              <a:buNone/>
            </a:pPr>
            <a:r>
              <a:rPr lang="en-GB" dirty="0"/>
              <a:t>        $</a:t>
            </a:r>
            <a:r>
              <a:rPr lang="en-GB" dirty="0" err="1"/>
              <a:t>db</a:t>
            </a:r>
            <a:r>
              <a:rPr lang="en-GB" dirty="0"/>
              <a:t>-&gt;query("INSERT INTO users ...");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    // 2. Send welcome email (Violates SRP!)</a:t>
            </a:r>
          </a:p>
          <a:p>
            <a:pPr marL="0" indent="0">
              <a:buNone/>
            </a:pPr>
            <a:r>
              <a:rPr lang="en-GB" dirty="0"/>
              <a:t>        mail($data['email'], "Welcome!", "Thanks for signing up.");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2810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3457-4225-E3E0-6C43-1AAD2C2D9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Correct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23986-E2E0-6910-4C17-23B2FA66AC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GB" dirty="0"/>
            </a:br>
            <a:r>
              <a:rPr lang="en-GB" dirty="0"/>
              <a:t>We split the responsibilities into two separate classes: one for database persistence and one for notifications.</a:t>
            </a:r>
          </a:p>
          <a:p>
            <a:pPr marL="0" indent="0">
              <a:buNone/>
            </a:pPr>
            <a:br>
              <a:rPr lang="en-GB" dirty="0"/>
            </a:br>
            <a:br>
              <a:rPr lang="en-GB" dirty="0"/>
            </a:br>
            <a:r>
              <a:rPr lang="en-GB" dirty="0"/>
              <a:t>class </a:t>
            </a:r>
            <a:r>
              <a:rPr lang="en-GB" dirty="0" err="1"/>
              <a:t>UserRepository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save(array $data) {</a:t>
            </a:r>
          </a:p>
          <a:p>
            <a:pPr marL="0" indent="0">
              <a:buNone/>
            </a:pPr>
            <a:r>
              <a:rPr lang="en-GB" dirty="0"/>
              <a:t>        // Only handles database logic</a:t>
            </a:r>
          </a:p>
          <a:p>
            <a:pPr marL="0" indent="0">
              <a:buNone/>
            </a:pPr>
            <a:r>
              <a:rPr lang="en-GB" dirty="0"/>
              <a:t>        $</a:t>
            </a:r>
            <a:r>
              <a:rPr lang="en-GB" dirty="0" err="1"/>
              <a:t>db</a:t>
            </a:r>
            <a:r>
              <a:rPr lang="en-GB" dirty="0"/>
              <a:t> = new Database();</a:t>
            </a:r>
          </a:p>
          <a:p>
            <a:pPr marL="0" indent="0">
              <a:buNone/>
            </a:pPr>
            <a:r>
              <a:rPr lang="en-GB" dirty="0"/>
              <a:t>        $</a:t>
            </a:r>
            <a:r>
              <a:rPr lang="en-GB" dirty="0" err="1"/>
              <a:t>db</a:t>
            </a:r>
            <a:r>
              <a:rPr lang="en-GB" dirty="0"/>
              <a:t>-&gt;query("INSERT INTO users ...");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70C763-A805-7F00-D504-A8CD927D49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EmailService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sendWelcomeEmail</a:t>
            </a:r>
            <a:r>
              <a:rPr lang="en-GB" dirty="0"/>
              <a:t>($email) {</a:t>
            </a:r>
          </a:p>
          <a:p>
            <a:pPr marL="0" indent="0">
              <a:buNone/>
            </a:pPr>
            <a:r>
              <a:rPr lang="en-GB" dirty="0"/>
              <a:t>        // Only handles email logic</a:t>
            </a:r>
          </a:p>
          <a:p>
            <a:pPr marL="0" indent="0">
              <a:buNone/>
            </a:pPr>
            <a:r>
              <a:rPr lang="en-GB" dirty="0"/>
              <a:t>        mail($email, "Welcome!", "Thanks for signing up.");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UserController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register(array $data, </a:t>
            </a:r>
            <a:r>
              <a:rPr lang="en-GB" dirty="0" err="1"/>
              <a:t>UserRepository</a:t>
            </a:r>
            <a:r>
              <a:rPr lang="en-GB" dirty="0"/>
              <a:t> $repo, </a:t>
            </a:r>
            <a:r>
              <a:rPr lang="en-GB" dirty="0" err="1"/>
              <a:t>EmailService</a:t>
            </a:r>
            <a:r>
              <a:rPr lang="en-GB" dirty="0"/>
              <a:t> $</a:t>
            </a:r>
            <a:r>
              <a:rPr lang="en-GB" dirty="0" err="1"/>
              <a:t>emailService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    $repo-&gt;save($data);</a:t>
            </a:r>
          </a:p>
          <a:p>
            <a:pPr marL="0" indent="0">
              <a:buNone/>
            </a:pPr>
            <a:r>
              <a:rPr lang="en-GB" dirty="0"/>
              <a:t>        $</a:t>
            </a:r>
            <a:r>
              <a:rPr lang="en-GB" dirty="0" err="1"/>
              <a:t>emailService</a:t>
            </a:r>
            <a:r>
              <a:rPr lang="en-GB" dirty="0"/>
              <a:t>-&gt;</a:t>
            </a:r>
            <a:r>
              <a:rPr lang="en-GB" dirty="0" err="1"/>
              <a:t>sendWelcomeEmail</a:t>
            </a:r>
            <a:r>
              <a:rPr lang="en-GB" dirty="0"/>
              <a:t>($data['email']);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578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4CAB1-A7A5-3C30-4EBC-17E8E0729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Open/Closed Principle (OCP)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631FB-0BC7-1DDA-83B0-61FF4CB0E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"Software entities should be open for extension, but closed for modification."</a:t>
            </a:r>
            <a:endParaRPr lang="en-GB" dirty="0"/>
          </a:p>
          <a:p>
            <a:endParaRPr lang="en-GB" dirty="0"/>
          </a:p>
          <a:p>
            <a:r>
              <a:rPr lang="en-GB" dirty="0"/>
              <a:t>You should be able to add new functionality without changing the existing code. </a:t>
            </a:r>
          </a:p>
          <a:p>
            <a:r>
              <a:rPr lang="en-GB" dirty="0"/>
              <a:t>We achieve this in PHP using </a:t>
            </a:r>
            <a:r>
              <a:rPr lang="en-GB" b="1" dirty="0"/>
              <a:t>Interfaces</a:t>
            </a:r>
            <a:r>
              <a:rPr lang="en-GB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9307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2781-801C-6A13-1110-4F12441A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Bad 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F5F9B-A519-C81E-F6CB-68FBD924E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If we want to add a new payment method (like Stripe), we have to modify the existing </a:t>
            </a:r>
            <a:r>
              <a:rPr lang="en-GB" dirty="0" err="1"/>
              <a:t>PaymentManager</a:t>
            </a:r>
            <a:r>
              <a:rPr lang="en-GB" dirty="0"/>
              <a:t> class, which risks breaking PayPal.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PaymentManager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</a:t>
            </a:r>
            <a:r>
              <a:rPr lang="en-GB" dirty="0" err="1"/>
              <a:t>processPayment</a:t>
            </a:r>
            <a:r>
              <a:rPr lang="en-GB" dirty="0"/>
              <a:t>($type) {</a:t>
            </a:r>
          </a:p>
          <a:p>
            <a:pPr marL="0" indent="0">
              <a:buNone/>
            </a:pPr>
            <a:r>
              <a:rPr lang="en-GB" dirty="0"/>
              <a:t>        if ($type === '</a:t>
            </a:r>
            <a:r>
              <a:rPr lang="en-GB" dirty="0" err="1"/>
              <a:t>paypal</a:t>
            </a:r>
            <a:r>
              <a:rPr lang="en-GB" dirty="0"/>
              <a:t>') {</a:t>
            </a:r>
          </a:p>
          <a:p>
            <a:pPr marL="0" indent="0">
              <a:buNone/>
            </a:pPr>
            <a:r>
              <a:rPr lang="en-GB" dirty="0"/>
              <a:t>            // PayPal logic</a:t>
            </a:r>
          </a:p>
          <a:p>
            <a:pPr marL="0" indent="0">
              <a:buNone/>
            </a:pPr>
            <a:r>
              <a:rPr lang="en-GB" dirty="0"/>
              <a:t>        } elseif ($type === 'stripe') { // Modifying existing class!</a:t>
            </a:r>
          </a:p>
          <a:p>
            <a:pPr marL="0" indent="0">
              <a:buNone/>
            </a:pPr>
            <a:r>
              <a:rPr lang="en-GB" dirty="0"/>
              <a:t>            // Stripe logic</a:t>
            </a:r>
          </a:p>
          <a:p>
            <a:pPr marL="0" indent="0">
              <a:buNone/>
            </a:pPr>
            <a:r>
              <a:rPr lang="en-GB" dirty="0"/>
              <a:t>        }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0233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BC392-C594-2950-A2EC-43FEB4166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Good Example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A73C-5983-F264-5AC8-F426386CEF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Define a </a:t>
            </a:r>
            <a:r>
              <a:rPr lang="en-GB" dirty="0" err="1"/>
              <a:t>PaymentMethod</a:t>
            </a:r>
            <a:r>
              <a:rPr lang="en-GB" dirty="0"/>
              <a:t> interface. Now, you can add as many payment methods as you want by creating new classes, without ever touching the </a:t>
            </a:r>
            <a:r>
              <a:rPr lang="en-GB" dirty="0" err="1"/>
              <a:t>PaymentProcessor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PaymentMethod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pay($amount);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PaypalPayment</a:t>
            </a:r>
            <a:r>
              <a:rPr lang="en-GB" dirty="0"/>
              <a:t> implements </a:t>
            </a:r>
            <a:r>
              <a:rPr lang="en-GB" dirty="0" err="1"/>
              <a:t>PaymentMethod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pay($amount) { /* PayPal logic */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E7D90F-CB7A-4316-2449-A19A503FDA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StripePayment</a:t>
            </a:r>
            <a:r>
              <a:rPr lang="en-GB" dirty="0"/>
              <a:t> implements </a:t>
            </a:r>
            <a:r>
              <a:rPr lang="en-GB" dirty="0" err="1"/>
              <a:t>PaymentMethod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pay($amount) { /* Stripe logic */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This class is CLOSED to modification, but OPEN to extension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PaymentProcessor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process(</a:t>
            </a:r>
            <a:r>
              <a:rPr lang="en-GB" dirty="0" err="1"/>
              <a:t>PaymentMethod</a:t>
            </a:r>
            <a:r>
              <a:rPr lang="en-GB" dirty="0"/>
              <a:t> $method, $amount) {</a:t>
            </a:r>
          </a:p>
          <a:p>
            <a:pPr marL="0" indent="0">
              <a:buNone/>
            </a:pPr>
            <a:r>
              <a:rPr lang="en-GB" dirty="0"/>
              <a:t>        $method-&gt;pay($amount);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/>
              <a:t>}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568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F4AD5-C8DA-8EC1-7495-5CF36F26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/>
              <a:t>Liskov</a:t>
            </a:r>
            <a:r>
              <a:rPr lang="en-GB" b="1" dirty="0"/>
              <a:t> Substitution Principle (LSP)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05DF-AFA3-B59F-6F65-B17D21A7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"Objects of a superclass should be replaceable with objects of its subclasses without breaking the application.“</a:t>
            </a:r>
          </a:p>
          <a:p>
            <a:endParaRPr lang="en-GB" dirty="0"/>
          </a:p>
          <a:p>
            <a:r>
              <a:rPr lang="en-GB" dirty="0"/>
              <a:t>A child class must be able to do everything the parent class promises. It should not break the expectations set by the parent.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58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77E7-6A81-2789-D7DB-4AC1B1BA1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D0BBA-1F9B-0AE1-60A1-61D0CBEC9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4440"/>
            <a:ext cx="10515600" cy="541324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Penguin is a Bird, but it cannot fly. Forcing it to implement fly() breaks the application's expectations.</a:t>
            </a:r>
          </a:p>
          <a:p>
            <a:pPr marL="0" indent="0">
              <a:buNone/>
            </a:pPr>
            <a:r>
              <a:rPr lang="en-GB" dirty="0"/>
              <a:t>class Bird {</a:t>
            </a:r>
          </a:p>
          <a:p>
            <a:pPr marL="0" indent="0">
              <a:buNone/>
            </a:pPr>
            <a:r>
              <a:rPr lang="en-GB" dirty="0"/>
              <a:t>    public function fly() { return "Flying high!";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Penguin extends Bird {</a:t>
            </a:r>
          </a:p>
          <a:p>
            <a:pPr marL="0" indent="0">
              <a:buNone/>
            </a:pPr>
            <a:r>
              <a:rPr lang="en-GB" dirty="0"/>
              <a:t>    public function fly() {</a:t>
            </a:r>
          </a:p>
          <a:p>
            <a:pPr marL="0" indent="0">
              <a:buNone/>
            </a:pPr>
            <a:r>
              <a:rPr lang="en-GB" dirty="0"/>
              <a:t>        throw new Exception("I can't fly!"); // Violates LSP!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8219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E3C38-BCC2-EF66-D9FE-6E8076B2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Good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8B9F2-1F77-BAA1-D50E-CC430E21A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3856"/>
            <a:ext cx="10515600" cy="5724144"/>
          </a:xfrm>
        </p:spPr>
        <p:txBody>
          <a:bodyPr>
            <a:normAutofit fontScale="62500" lnSpcReduction="20000"/>
          </a:bodyPr>
          <a:lstStyle/>
          <a:p>
            <a:r>
              <a:rPr lang="en-GB" dirty="0"/>
              <a:t>Break the </a:t>
            </a:r>
            <a:r>
              <a:rPr lang="en-GB" dirty="0" err="1"/>
              <a:t>behaviors</a:t>
            </a:r>
            <a:r>
              <a:rPr lang="en-GB" dirty="0"/>
              <a:t> down so subclasses don't inherit methods they can't support.</a:t>
            </a:r>
          </a:p>
          <a:p>
            <a:pPr marL="0" indent="0">
              <a:buNone/>
            </a:pPr>
            <a:r>
              <a:rPr lang="en-GB" dirty="0"/>
              <a:t>  </a:t>
            </a:r>
          </a:p>
          <a:p>
            <a:pPr marL="0" indent="0">
              <a:buNone/>
            </a:pPr>
            <a:r>
              <a:rPr lang="en-GB" dirty="0"/>
              <a:t>class Bird {</a:t>
            </a:r>
          </a:p>
          <a:p>
            <a:pPr marL="0" indent="0">
              <a:buNone/>
            </a:pPr>
            <a:r>
              <a:rPr lang="en-GB" dirty="0"/>
              <a:t>    public function eat() { return "Eating...";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FlyingBird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fly();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Eagle extends Bird implements </a:t>
            </a:r>
            <a:r>
              <a:rPr lang="en-GB" dirty="0" err="1"/>
              <a:t>FlyingBird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fly() { return "Flying high!";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Penguin extends Bird {</a:t>
            </a:r>
          </a:p>
          <a:p>
            <a:pPr marL="0" indent="0">
              <a:buNone/>
            </a:pPr>
            <a:r>
              <a:rPr lang="en-GB" dirty="0"/>
              <a:t>    // Penguins just eat, they don't implement </a:t>
            </a:r>
            <a:r>
              <a:rPr lang="en-GB" dirty="0" err="1"/>
              <a:t>FlyingBird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653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7F82-64DB-CAD7-0771-69841512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Interface Segregation Principle (ISP)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C5DC-0609-5D01-EF5A-DB1CB2440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"A client should never be forced to implement an interface it doesn't use.“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It is better to have many small, specific interfaces than one massive "fat" interface.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43296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6F1A-ACCE-694D-1612-A72E3DDD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6C5F4-5215-6E9E-4BBB-8F75E8C0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264"/>
            <a:ext cx="10515600" cy="52076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An Ostrich is forced to implement a fly method it doesn't need just because it implements Animal.</a:t>
            </a:r>
          </a:p>
          <a:p>
            <a:pPr marL="0" indent="0">
              <a:buNone/>
            </a:pPr>
            <a:r>
              <a:rPr lang="en-GB" dirty="0"/>
              <a:t>interface Animal {</a:t>
            </a:r>
          </a:p>
          <a:p>
            <a:pPr marL="0" indent="0">
              <a:buNone/>
            </a:pPr>
            <a:r>
              <a:rPr lang="en-GB" dirty="0"/>
              <a:t>    public function walk();</a:t>
            </a:r>
          </a:p>
          <a:p>
            <a:pPr marL="0" indent="0">
              <a:buNone/>
            </a:pPr>
            <a:r>
              <a:rPr lang="en-GB" dirty="0"/>
              <a:t>    public function fly();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Ostrich implements Animal {</a:t>
            </a:r>
          </a:p>
          <a:p>
            <a:pPr marL="0" indent="0">
              <a:buNone/>
            </a:pPr>
            <a:r>
              <a:rPr lang="en-GB" dirty="0"/>
              <a:t>    public function walk() { /* Walking logic */ }</a:t>
            </a:r>
          </a:p>
          <a:p>
            <a:pPr marL="0" indent="0">
              <a:buNone/>
            </a:pPr>
            <a:r>
              <a:rPr lang="en-GB" dirty="0"/>
              <a:t>    public function fly() { return null; } // Useless implementation!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248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52DE6-4174-75C0-A5EB-2DD00D8B9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Good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0A7FD-3526-179E-2A3A-D825F15E14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Split the interface into smaller, focused interfaces.</a:t>
            </a:r>
          </a:p>
          <a:p>
            <a:pPr marL="0" indent="0">
              <a:buNone/>
            </a:pPr>
            <a:r>
              <a:rPr lang="en-GB" dirty="0"/>
              <a:t>PHP</a:t>
            </a:r>
          </a:p>
          <a:p>
            <a:pPr marL="0" indent="0">
              <a:buNone/>
            </a:pPr>
            <a:r>
              <a:rPr lang="en-GB" dirty="0"/>
              <a:t>interface Walkable {</a:t>
            </a:r>
          </a:p>
          <a:p>
            <a:pPr marL="0" indent="0">
              <a:buNone/>
            </a:pPr>
            <a:r>
              <a:rPr lang="en-GB" dirty="0"/>
              <a:t>    public function walk();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interface Flyable {</a:t>
            </a:r>
          </a:p>
          <a:p>
            <a:pPr marL="0" indent="0">
              <a:buNone/>
            </a:pPr>
            <a:r>
              <a:rPr lang="en-GB" dirty="0"/>
              <a:t>    public function fly();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783B4DB-069E-DB6A-40FD-83A321811C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class Ostrich implements Walkable {</a:t>
            </a:r>
          </a:p>
          <a:p>
            <a:pPr marL="0" indent="0">
              <a:buNone/>
            </a:pPr>
            <a:r>
              <a:rPr lang="en-GB" dirty="0"/>
              <a:t>    public function walk() { /* Walking logic */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Parrot implements Walkable, Flyable {</a:t>
            </a:r>
          </a:p>
          <a:p>
            <a:pPr marL="0" indent="0">
              <a:buNone/>
            </a:pPr>
            <a:r>
              <a:rPr lang="en-GB" dirty="0"/>
              <a:t>    public function walk() { ... }</a:t>
            </a:r>
          </a:p>
          <a:p>
            <a:pPr marL="0" indent="0">
              <a:buNone/>
            </a:pPr>
            <a:r>
              <a:rPr lang="en-GB" dirty="0"/>
              <a:t>    public function fly() { ...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888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15D5-CAA6-766C-4F4C-F5768FBC5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 Dependency Inversion Principle (DIP)	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B9F1B-3AE9-DE9A-7FB8-D5DE58D7F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"High-level modules should not depend on low-level modules. Both should depend on abstractions."</a:t>
            </a:r>
            <a:endParaRPr lang="en-GB" dirty="0"/>
          </a:p>
          <a:p>
            <a:endParaRPr lang="en-GB" dirty="0"/>
          </a:p>
          <a:p>
            <a:r>
              <a:rPr lang="en-GB" dirty="0"/>
              <a:t>Don't hardcode specific dependencies inside your classes. Instead, inject dependencies via interfaces (abstractions).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2494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5CB2-D307-65BF-15F9-AB0F6C86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Bad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E4FAF-4E2B-6D92-DE3D-56BB0125F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The high-level </a:t>
            </a:r>
            <a:r>
              <a:rPr lang="en-GB" dirty="0" err="1"/>
              <a:t>PasswordReminder</a:t>
            </a:r>
            <a:r>
              <a:rPr lang="en-GB" dirty="0"/>
              <a:t> is tightly coupled to the low-level </a:t>
            </a:r>
            <a:r>
              <a:rPr lang="en-GB" dirty="0" err="1"/>
              <a:t>MySQLConnection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If you want to switch to MongoDB, you have to rewrite this class.</a:t>
            </a:r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MySQLConnection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connect() { return "Database connection";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PasswordReminder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</a:t>
            </a:r>
            <a:r>
              <a:rPr lang="en-GB" dirty="0" err="1"/>
              <a:t>dbConnection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public function __construct() {</a:t>
            </a:r>
          </a:p>
          <a:p>
            <a:pPr marL="0" indent="0">
              <a:buNone/>
            </a:pPr>
            <a:r>
              <a:rPr lang="en-GB" dirty="0"/>
              <a:t>        // Hardcoded dependency!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dbConnection</a:t>
            </a:r>
            <a:r>
              <a:rPr lang="en-GB" dirty="0"/>
              <a:t> = new </a:t>
            </a:r>
            <a:r>
              <a:rPr lang="en-GB" dirty="0" err="1"/>
              <a:t>MySQLConnection</a:t>
            </a:r>
            <a:r>
              <a:rPr lang="en-GB" dirty="0"/>
              <a:t>(); 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832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5B2C-BB16-C071-E7B6-70BC9896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Good Example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84CFA-AD31-007B-ED77-DA3A6532B4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dirty="0"/>
              <a:t>We introduce a </a:t>
            </a:r>
            <a:r>
              <a:rPr lang="en-GB" dirty="0" err="1"/>
              <a:t>DbConnectionInterface</a:t>
            </a:r>
            <a:r>
              <a:rPr lang="en-GB" dirty="0"/>
              <a:t>. </a:t>
            </a:r>
            <a:r>
              <a:rPr lang="en-GB" dirty="0" err="1"/>
              <a:t>PasswordReminder</a:t>
            </a:r>
            <a:r>
              <a:rPr lang="en-GB" dirty="0"/>
              <a:t> doesn't care </a:t>
            </a:r>
            <a:r>
              <a:rPr lang="en-GB" i="1" dirty="0"/>
              <a:t>what</a:t>
            </a:r>
            <a:r>
              <a:rPr lang="en-GB" dirty="0"/>
              <a:t> database it is, as long as it adheres to the interface.</a:t>
            </a:r>
          </a:p>
          <a:p>
            <a:pPr marL="0" indent="0">
              <a:buNone/>
            </a:pPr>
            <a:r>
              <a:rPr lang="en-GB" dirty="0"/>
              <a:t>interface </a:t>
            </a:r>
            <a:r>
              <a:rPr lang="en-GB" dirty="0" err="1"/>
              <a:t>DbConnectionInterface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connect();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MySQLConnection</a:t>
            </a:r>
            <a:r>
              <a:rPr lang="en-GB" dirty="0"/>
              <a:t> implements </a:t>
            </a:r>
            <a:r>
              <a:rPr lang="en-GB" dirty="0" err="1"/>
              <a:t>DbConnectionInterface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connect() { return "MySQL Connection";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MongoConnection</a:t>
            </a:r>
            <a:r>
              <a:rPr lang="en-GB" dirty="0"/>
              <a:t> implements </a:t>
            </a:r>
            <a:r>
              <a:rPr lang="en-GB" dirty="0" err="1"/>
              <a:t>DbConnectionInterface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public function connect() { return "MongoDB Connection";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41CB2-51B9-72C8-E30A-0355659523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class </a:t>
            </a:r>
            <a:r>
              <a:rPr lang="en-GB" dirty="0" err="1"/>
              <a:t>PasswordReminder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/>
              <a:t>    private $</a:t>
            </a:r>
            <a:r>
              <a:rPr lang="en-GB" dirty="0" err="1"/>
              <a:t>dbConnection</a:t>
            </a:r>
            <a:r>
              <a:rPr lang="en-GB" dirty="0"/>
              <a:t>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 // Inject the interface, not the concrete class</a:t>
            </a:r>
          </a:p>
          <a:p>
            <a:pPr marL="0" indent="0">
              <a:buNone/>
            </a:pPr>
            <a:r>
              <a:rPr lang="en-GB" dirty="0"/>
              <a:t>    public function __construct(</a:t>
            </a:r>
            <a:r>
              <a:rPr lang="en-GB" dirty="0" err="1"/>
              <a:t>DbConnectionInterface</a:t>
            </a:r>
            <a:r>
              <a:rPr lang="en-GB" dirty="0"/>
              <a:t> $</a:t>
            </a:r>
            <a:r>
              <a:rPr lang="en-GB" dirty="0" err="1"/>
              <a:t>dbConnection</a:t>
            </a:r>
            <a:r>
              <a:rPr lang="en-GB" dirty="0"/>
              <a:t>) {</a:t>
            </a:r>
          </a:p>
          <a:p>
            <a:pPr marL="0" indent="0">
              <a:buNone/>
            </a:pPr>
            <a:r>
              <a:rPr lang="en-GB" dirty="0"/>
              <a:t>        $this-&gt;</a:t>
            </a:r>
            <a:r>
              <a:rPr lang="en-GB" dirty="0" err="1"/>
              <a:t>dbConnection</a:t>
            </a:r>
            <a:r>
              <a:rPr lang="en-GB" dirty="0"/>
              <a:t> = $</a:t>
            </a:r>
            <a:r>
              <a:rPr lang="en-GB" dirty="0" err="1"/>
              <a:t>dbConnection</a:t>
            </a:r>
            <a:r>
              <a:rPr lang="en-GB" dirty="0"/>
              <a:t>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Usage</a:t>
            </a:r>
          </a:p>
          <a:p>
            <a:pPr marL="0" indent="0">
              <a:buNone/>
            </a:pPr>
            <a:r>
              <a:rPr lang="en-GB" dirty="0"/>
              <a:t>$</a:t>
            </a:r>
            <a:r>
              <a:rPr lang="en-GB" dirty="0" err="1"/>
              <a:t>mysql</a:t>
            </a:r>
            <a:r>
              <a:rPr lang="en-GB" dirty="0"/>
              <a:t> = new </a:t>
            </a:r>
            <a:r>
              <a:rPr lang="en-GB" dirty="0" err="1"/>
              <a:t>MySQLConnection</a:t>
            </a:r>
            <a:r>
              <a:rPr lang="en-GB" dirty="0"/>
              <a:t>();</a:t>
            </a:r>
          </a:p>
          <a:p>
            <a:pPr marL="0" indent="0">
              <a:buNone/>
            </a:pPr>
            <a:r>
              <a:rPr lang="en-GB" dirty="0"/>
              <a:t>$reminder = new </a:t>
            </a:r>
            <a:r>
              <a:rPr lang="en-GB" dirty="0" err="1"/>
              <a:t>PasswordReminder</a:t>
            </a:r>
            <a:r>
              <a:rPr lang="en-GB" dirty="0"/>
              <a:t>($</a:t>
            </a:r>
            <a:r>
              <a:rPr lang="en-GB" dirty="0" err="1"/>
              <a:t>mysql</a:t>
            </a:r>
            <a:r>
              <a:rPr lang="en-GB" dirty="0"/>
              <a:t>);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26187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1173</Words>
  <Application>Microsoft Office PowerPoint</Application>
  <PresentationFormat>Widescreen</PresentationFormat>
  <Paragraphs>195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Solid principal in php </vt:lpstr>
      <vt:lpstr>PowerPoint Presentation</vt:lpstr>
      <vt:lpstr>PowerPoint Presentation</vt:lpstr>
      <vt:lpstr>PowerPoint Presentation</vt:lpstr>
      <vt:lpstr>PowerPoint Presentation</vt:lpstr>
      <vt:lpstr>1. Single Responsibility Principle (SRP) </vt:lpstr>
      <vt:lpstr>Bad code  </vt:lpstr>
      <vt:lpstr>Correct Example</vt:lpstr>
      <vt:lpstr>Open/Closed Principle (OCP) </vt:lpstr>
      <vt:lpstr>Bad Example </vt:lpstr>
      <vt:lpstr>Good Example </vt:lpstr>
      <vt:lpstr>Liskov Substitution Principle (LSP) </vt:lpstr>
      <vt:lpstr>Bad Example </vt:lpstr>
      <vt:lpstr>Good Example </vt:lpstr>
      <vt:lpstr>Interface Segregation Principle (ISP) </vt:lpstr>
      <vt:lpstr>Bad Example </vt:lpstr>
      <vt:lpstr>Good Example </vt:lpstr>
      <vt:lpstr> Dependency Inversion Principle (DIP)  </vt:lpstr>
      <vt:lpstr>Bad Example </vt:lpstr>
      <vt:lpstr>Good Example 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Kumar, Shankar (Contractor)</dc:creator>
  <cp:lastModifiedBy>Kumar, Shankar (Contractor)</cp:lastModifiedBy>
  <cp:revision>2</cp:revision>
  <dcterms:created xsi:type="dcterms:W3CDTF">2026-05-15T08:27:36Z</dcterms:created>
  <dcterms:modified xsi:type="dcterms:W3CDTF">2026-05-17T11:20:41Z</dcterms:modified>
</cp:coreProperties>
</file>