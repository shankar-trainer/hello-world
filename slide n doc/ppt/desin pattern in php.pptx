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6" r:id="rId8"/>
    <p:sldId id="262" r:id="rId9"/>
    <p:sldId id="264" r:id="rId10"/>
    <p:sldId id="263" r:id="rId11"/>
    <p:sldId id="265" r:id="rId12"/>
    <p:sldId id="266" r:id="rId13"/>
    <p:sldId id="267" r:id="rId14"/>
    <p:sldId id="271" r:id="rId15"/>
    <p:sldId id="268" r:id="rId16"/>
    <p:sldId id="269" r:id="rId17"/>
    <p:sldId id="327" r:id="rId18"/>
    <p:sldId id="270" r:id="rId19"/>
    <p:sldId id="272" r:id="rId20"/>
    <p:sldId id="273" r:id="rId21"/>
    <p:sldId id="274" r:id="rId22"/>
    <p:sldId id="275" r:id="rId23"/>
    <p:sldId id="277" r:id="rId24"/>
    <p:sldId id="276" r:id="rId25"/>
    <p:sldId id="329" r:id="rId26"/>
    <p:sldId id="328" r:id="rId27"/>
    <p:sldId id="278" r:id="rId28"/>
    <p:sldId id="279" r:id="rId29"/>
    <p:sldId id="281" r:id="rId30"/>
    <p:sldId id="280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6" r:id="rId45"/>
    <p:sldId id="295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7" r:id="rId55"/>
    <p:sldId id="305" r:id="rId56"/>
    <p:sldId id="306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20" r:id="rId69"/>
    <p:sldId id="321" r:id="rId70"/>
    <p:sldId id="322" r:id="rId71"/>
    <p:sldId id="319" r:id="rId72"/>
    <p:sldId id="323" r:id="rId73"/>
    <p:sldId id="324" r:id="rId74"/>
    <p:sldId id="325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605B8C-A5D5-48F9-B86B-773E72639FB6}" v="224" dt="2026-05-18T00:43:45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CF32-B588-64E4-1AB8-897579167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2FEB7-C408-B109-C486-00D04ACC3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4BC20-0E30-FF15-BE53-6300FCA3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087D9-615F-EBE6-C36D-2012606B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B413C-C601-AF57-D04B-117EB536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66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7BD2-6E50-725E-7CDF-468C03D8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489C-8E73-703B-C0B9-AE27A24F1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0FCF-2DA0-F269-571A-FDD6D76B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011DA-C11F-0BF9-0216-5993C410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EE5F6-63A2-FDEB-C5B7-D70DABFF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09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3690-A3F6-A90F-BC1D-2EF805C4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9B49-F306-F3C1-68D2-68F45C932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F73C5-F9AA-1EA9-FF8D-375A9A8C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9134-BE35-BF39-D400-8F280712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4130D-8FA8-4D6D-2CC8-17F43DAD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30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3AD0-F785-6740-D430-5256F6D1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4F255-EC3A-118F-3DBA-D24B4161F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B0C58-5264-4B4D-140B-2AC189CCB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1219F-95BD-0557-E85D-862B1AB2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D8F66-AB29-A870-1F1A-455E450F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5962-C2AB-06F8-0BB2-1FDDD1EF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3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C9A2-64E6-4299-1A59-CBC2CC4A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31084-D028-2CCA-08D9-EA726B8AC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E5DA0-23E9-7563-3A7D-7974AE14E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91CE9-8788-DCB8-D5E0-4BDADA84F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840FF-0357-5699-EE5D-706F4918C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9112A-530E-8C5E-8B5F-3FE1B97C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8BBEE-FE7F-E5B8-7006-A8458093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A1191B-8FC5-78E5-7172-B01E7852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4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2FAD-55DA-FCB7-5893-567958E6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492AA-66C8-E0BB-F3AF-C4803536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CD3F8-3F58-54D6-5D86-BDD505D9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596AB-3482-DC04-30F7-00E0E152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25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205BC-A7C8-1C78-DFEE-8FB4AB84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351E-4876-561F-3DDE-4B1488C2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7D381-8A77-CD5A-CA9B-04172316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43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7E2A-74A0-988B-4ED7-F1EAB389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66CE2-EA20-23FC-2AD4-CF966AF0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39B2F-389D-DFB5-E932-9F649C71C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C785F-36A3-3DCB-5ABD-0B80B500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B710E-97A8-78D6-37AF-515326AF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55591-B4FB-E499-76CE-39D5EFDD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93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6695-2901-A83B-CB30-CE8C0FC5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C5555-827D-06ED-33B2-EF30E25C5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BFCAB-E795-4E53-10FA-269D8D4C4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28A4-B161-4EAB-3FDF-B3AF24A8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ACFFC-8898-7F9E-B5E3-970AD902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08191-8C8E-2CC9-3B8B-1758B8A0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43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A8FE-DBE7-576C-D495-3BE4726B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D01B0-010B-75A4-0EF3-D964BC9D0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F3AD3-8448-1E28-0316-9C129848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3DED-1784-B803-5D77-E422453D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B8D8D-158D-73A8-8E48-55105E45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25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BEA3C-25A1-AF62-ED4E-D5B794E2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976AD-8282-6633-7FE6-E3EA6459B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7F49A-26A3-6D98-1939-5C52E968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46A0-B0CA-7A73-68F8-804A6C3D9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C5C3-251C-9B79-02B2-25DAC63A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13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5C56E-5008-1DF4-637A-25A63F08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17EBF-DBAC-3E32-EFCA-1F87FDBC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2BA1C-4596-4250-8A83-852847FD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3157A-CD91-425E-A9CC-58A30D445C7A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6354-62F6-5F5A-B944-EA157A513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22B12-8467-34D4-27DE-642C29331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FF0CE-30D1-4DC5-A4A6-78A51B846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35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ystem-design/adapter-pattern/" TargetMode="External"/><Relationship Id="rId2" Type="http://schemas.openxmlformats.org/officeDocument/2006/relationships/hyperlink" Target="https://dev.to/nikolastojilj12/php-guidelines-series-adapter-design-pattern-a-dangerous-workaround-to-implement-class-adapter-26g5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tyRwBWGjQk" TargetMode="External"/><Relationship Id="rId7" Type="http://schemas.openxmlformats.org/officeDocument/2006/relationships/hyperlink" Target="https://www.geeksforgeeks.org/system-design/mediator-design-pattern/" TargetMode="External"/><Relationship Id="rId2" Type="http://schemas.openxmlformats.org/officeDocument/2006/relationships/hyperlink" Target="https://refactoring.guru/design-patterns/mediator/php/exampl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withmukesh.com/blog/cqrs-and-mediatr-in-aspnet-core/" TargetMode="External"/><Relationship Id="rId5" Type="http://schemas.openxmlformats.org/officeDocument/2006/relationships/hyperlink" Target="https://www.youtube.com/watch?v=eOfamFLGqIM" TargetMode="External"/><Relationship Id="rId4" Type="http://schemas.openxmlformats.org/officeDocument/2006/relationships/hyperlink" Target="https://dev.to/sergeyleschev/swift-design-patterns-mediator-pattern-4299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7BA-2EE4-1B2D-B050-63540A150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Design pattern in </a:t>
            </a:r>
            <a:r>
              <a:rPr lang="en-GB" dirty="0" err="1"/>
              <a:t>php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45AD0-3852-F127-A6E6-CF28CB2D5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22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4347-863F-87B1-A577-08BD9651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5BB34-4E62-3F34-F83D-086D75CC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design pattern is a reusable, high-level template or blueprint for solving commonly occurring software design problems. </a:t>
            </a:r>
          </a:p>
          <a:p>
            <a:r>
              <a:rPr lang="en-GB" dirty="0"/>
              <a:t>They provide proven, standard approaches to structuring code, enhancing maintainability, and improving communication among developers. </a:t>
            </a:r>
          </a:p>
          <a:p>
            <a:r>
              <a:rPr lang="en-GB" dirty="0"/>
              <a:t>Patterns are not finished code, but rather generalized, adaptable solutions to issues related to object creation, structure, or </a:t>
            </a:r>
            <a:r>
              <a:rPr lang="en-GB" dirty="0" err="1"/>
              <a:t>behavior</a:t>
            </a:r>
            <a:r>
              <a:rPr lang="en-GB" dirty="0"/>
              <a:t>. 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394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E868-7E7A-F109-B974-B4BDB246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43F4-83E6-40C4-7B1C-AA60E0954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They are grouped into </a:t>
            </a:r>
            <a:r>
              <a:rPr lang="en-GB" b="1" dirty="0"/>
              <a:t>Creational</a:t>
            </a:r>
            <a:r>
              <a:rPr lang="en-GB" dirty="0"/>
              <a:t>, </a:t>
            </a:r>
            <a:r>
              <a:rPr lang="en-GB" b="1" dirty="0"/>
              <a:t>Structural</a:t>
            </a:r>
            <a:r>
              <a:rPr lang="en-GB" dirty="0"/>
              <a:t>, and </a:t>
            </a:r>
            <a:r>
              <a:rPr lang="en-GB" b="1" dirty="0" err="1"/>
              <a:t>Behavioral</a:t>
            </a:r>
            <a:r>
              <a:rPr lang="en-GB" b="1" dirty="0"/>
              <a:t> </a:t>
            </a:r>
            <a:r>
              <a:rPr lang="en-GB" dirty="0"/>
              <a:t>categories.</a:t>
            </a:r>
          </a:p>
          <a:p>
            <a:endParaRPr lang="en-GB" dirty="0"/>
          </a:p>
          <a:p>
            <a:r>
              <a:rPr lang="en-GB" dirty="0"/>
              <a:t>These categories, often classified by the "</a:t>
            </a:r>
            <a:r>
              <a:rPr lang="en-GB" b="1" dirty="0"/>
              <a:t>Gang of Four,</a:t>
            </a:r>
            <a:r>
              <a:rPr lang="en-GB" dirty="0"/>
              <a:t>" define how objects are instantiated, structured for efficiency, and how they communicate with each other. </a:t>
            </a:r>
          </a:p>
        </p:txBody>
      </p:sp>
    </p:spTree>
    <p:extLst>
      <p:ext uri="{BB962C8B-B14F-4D97-AF65-F5344CB8AC3E}">
        <p14:creationId xmlns:p14="http://schemas.microsoft.com/office/powerpoint/2010/main" val="325500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2EFA-28C4-B85B-E7DF-12892BD4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Creational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F14E-BC80-9D13-6BA6-CE8D45F00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179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These deal with object creation mechanisms.</a:t>
            </a:r>
          </a:p>
          <a:p>
            <a:r>
              <a:rPr lang="en-GB" dirty="0"/>
              <a:t>These patterns deal with object creation mechanisms, increasing flexibility and reuse of existing code</a:t>
            </a:r>
          </a:p>
          <a:p>
            <a:r>
              <a:rPr lang="en-GB" dirty="0"/>
              <a:t>. They abstract the instantiation process, making a system independent of how its objects are created</a:t>
            </a:r>
          </a:p>
          <a:p>
            <a:endParaRPr lang="en-GB" dirty="0"/>
          </a:p>
          <a:p>
            <a:pPr lvl="1"/>
            <a:r>
              <a:rPr lang="en-GB" b="1" dirty="0"/>
              <a:t>Singleton</a:t>
            </a:r>
            <a:r>
              <a:rPr lang="en-GB" dirty="0"/>
              <a:t> Ensures only one instance of a class exists.</a:t>
            </a:r>
          </a:p>
          <a:p>
            <a:pPr lvl="1"/>
            <a:r>
              <a:rPr lang="en-GB" b="1" dirty="0"/>
              <a:t>Factory Method</a:t>
            </a:r>
            <a:r>
              <a:rPr lang="en-GB" dirty="0"/>
              <a:t> Delegates object creation to subclasses.</a:t>
            </a:r>
          </a:p>
          <a:p>
            <a:pPr lvl="1"/>
            <a:r>
              <a:rPr lang="en-GB" b="1" dirty="0"/>
              <a:t>Abstract Factory</a:t>
            </a:r>
            <a:r>
              <a:rPr lang="en-GB" dirty="0"/>
              <a:t> Creates families of related objects without specifying concrete classes.</a:t>
            </a:r>
          </a:p>
          <a:p>
            <a:pPr lvl="1"/>
            <a:r>
              <a:rPr lang="en-GB" b="1" dirty="0"/>
              <a:t>Builder</a:t>
            </a:r>
            <a:r>
              <a:rPr lang="en-GB" dirty="0"/>
              <a:t> Step-by-step construction of complex objects.</a:t>
            </a:r>
          </a:p>
          <a:p>
            <a:pPr lvl="1"/>
            <a:r>
              <a:rPr lang="en-GB" b="1" dirty="0"/>
              <a:t>Prototype</a:t>
            </a:r>
            <a:r>
              <a:rPr lang="en-GB" dirty="0"/>
              <a:t> Clones existing objects instead of creating new ones.			</a:t>
            </a:r>
          </a:p>
          <a:p>
            <a:pPr marL="457200" lvl="1" indent="0">
              <a:buNone/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654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771F-1975-9CF1-6FDC-6EF73C3C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Structural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9FF89-CC3B-5749-4DD4-5F2C00323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These focus on object composition.</a:t>
            </a:r>
          </a:p>
          <a:p>
            <a:r>
              <a:rPr lang="en-GB" dirty="0"/>
              <a:t>These patterns explain how to assemble objects and classes into larger structures while keeping them flexible and efficient. </a:t>
            </a:r>
          </a:p>
          <a:p>
            <a:r>
              <a:rPr lang="en-GB" dirty="0"/>
              <a:t>They focus on object composition, defining ways to add new functionality. </a:t>
            </a:r>
          </a:p>
          <a:p>
            <a:pPr lvl="1"/>
            <a:r>
              <a:rPr lang="en-GB" dirty="0"/>
              <a:t>Adapter Bridges incompatible interfaces.</a:t>
            </a:r>
          </a:p>
          <a:p>
            <a:pPr lvl="1"/>
            <a:r>
              <a:rPr lang="en-GB" dirty="0"/>
              <a:t>Decorator Adds </a:t>
            </a:r>
            <a:r>
              <a:rPr lang="en-GB" dirty="0" err="1"/>
              <a:t>behavior</a:t>
            </a:r>
            <a:r>
              <a:rPr lang="en-GB" dirty="0"/>
              <a:t> dynamically without altering the original class.</a:t>
            </a:r>
          </a:p>
          <a:p>
            <a:pPr lvl="1"/>
            <a:r>
              <a:rPr lang="en-GB" dirty="0"/>
              <a:t>Composite Treats individual objects and compositions uniformly.</a:t>
            </a:r>
          </a:p>
          <a:p>
            <a:pPr lvl="1"/>
            <a:r>
              <a:rPr lang="en-GB" dirty="0"/>
              <a:t>Facade Provides a simplified interface to complex subsystems.</a:t>
            </a:r>
          </a:p>
          <a:p>
            <a:pPr lvl="1"/>
            <a:r>
              <a:rPr lang="en-GB" dirty="0"/>
              <a:t>Proxy Controls access to another object.</a:t>
            </a:r>
          </a:p>
          <a:p>
            <a:pPr marL="457200" lvl="1" indent="0">
              <a:buNone/>
            </a:pPr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060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628E-2B62-D793-3958-6D6905F9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Behavioral</a:t>
            </a:r>
            <a:r>
              <a:rPr lang="en-GB" b="1" dirty="0"/>
              <a:t>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BDA4-C979-6416-A1B7-6AEDED284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These handle communication between objects.</a:t>
            </a:r>
          </a:p>
          <a:p>
            <a:r>
              <a:rPr lang="en-GB" dirty="0"/>
              <a:t>Defines how they interact and assign responsibilities. </a:t>
            </a:r>
          </a:p>
          <a:p>
            <a:r>
              <a:rPr lang="en-GB" dirty="0"/>
              <a:t>They increase flexibility in carrying out communication.</a:t>
            </a:r>
          </a:p>
          <a:p>
            <a:pPr lvl="1"/>
            <a:r>
              <a:rPr lang="en-GB" b="1" dirty="0"/>
              <a:t>Observer</a:t>
            </a:r>
            <a:r>
              <a:rPr lang="en-GB" dirty="0"/>
              <a:t> Implements publish/subscribe for event handling.</a:t>
            </a:r>
          </a:p>
          <a:p>
            <a:pPr lvl="1"/>
            <a:r>
              <a:rPr lang="en-GB" b="1" dirty="0"/>
              <a:t>Strategy</a:t>
            </a:r>
            <a:r>
              <a:rPr lang="en-GB" dirty="0"/>
              <a:t> Encapsulates interchangeable algorithms.</a:t>
            </a:r>
          </a:p>
          <a:p>
            <a:pPr lvl="1"/>
            <a:r>
              <a:rPr lang="en-GB" b="1" dirty="0"/>
              <a:t>Command</a:t>
            </a:r>
            <a:r>
              <a:rPr lang="en-GB" dirty="0"/>
              <a:t> Turns requests into objects for queuing/undo.</a:t>
            </a:r>
          </a:p>
          <a:p>
            <a:pPr lvl="1"/>
            <a:r>
              <a:rPr lang="en-GB" b="1" dirty="0"/>
              <a:t>Chain of Responsibility</a:t>
            </a:r>
            <a:r>
              <a:rPr lang="en-GB" dirty="0"/>
              <a:t> Passes requests along a chain of handlers.</a:t>
            </a:r>
          </a:p>
          <a:p>
            <a:pPr lvl="1"/>
            <a:r>
              <a:rPr lang="en-GB" b="1" dirty="0"/>
              <a:t>State</a:t>
            </a:r>
            <a:r>
              <a:rPr lang="en-GB" dirty="0"/>
              <a:t> Alters object </a:t>
            </a:r>
            <a:r>
              <a:rPr lang="en-GB" dirty="0" err="1"/>
              <a:t>behavior</a:t>
            </a:r>
            <a:r>
              <a:rPr lang="en-GB" dirty="0"/>
              <a:t> based on internal state.</a:t>
            </a:r>
          </a:p>
          <a:p>
            <a:pPr lvl="1"/>
            <a:r>
              <a:rPr lang="en-GB" b="1" dirty="0"/>
              <a:t>Iterator</a:t>
            </a:r>
            <a:r>
              <a:rPr lang="en-GB" dirty="0"/>
              <a:t> Provides sequential access to elements.</a:t>
            </a:r>
          </a:p>
          <a:p>
            <a:pPr lvl="1"/>
            <a:r>
              <a:rPr lang="en-GB" b="1" dirty="0"/>
              <a:t>Mediator</a:t>
            </a:r>
            <a:r>
              <a:rPr lang="en-GB" dirty="0"/>
              <a:t> Centralizes complex communication between objects.</a:t>
            </a:r>
          </a:p>
          <a:p>
            <a:pPr lvl="1"/>
            <a:r>
              <a:rPr lang="en-GB" b="1" dirty="0"/>
              <a:t>Memento</a:t>
            </a:r>
            <a:r>
              <a:rPr lang="en-GB" dirty="0"/>
              <a:t> Saves and restores object state</a:t>
            </a:r>
          </a:p>
        </p:txBody>
      </p:sp>
    </p:spTree>
    <p:extLst>
      <p:ext uri="{BB962C8B-B14F-4D97-AF65-F5344CB8AC3E}">
        <p14:creationId xmlns:p14="http://schemas.microsoft.com/office/powerpoint/2010/main" val="55058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68D2-F481-E9FC-92FA-1A6D5E01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78D4-A357-2EB4-41BE-8B6254CA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Creational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07D7F-3899-8B4F-24BC-C6248FDD6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179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These deal with object creation mechanisms.</a:t>
            </a:r>
          </a:p>
          <a:p>
            <a:r>
              <a:rPr lang="en-GB" dirty="0"/>
              <a:t>These patterns deal with object creation mechanisms, increasing flexibility and reuse of existing code</a:t>
            </a:r>
          </a:p>
          <a:p>
            <a:r>
              <a:rPr lang="en-GB" dirty="0"/>
              <a:t>. They abstract the instantiation process, making a system independent of how its objects are created</a:t>
            </a:r>
          </a:p>
          <a:p>
            <a:endParaRPr lang="en-GB" dirty="0"/>
          </a:p>
          <a:p>
            <a:pPr lvl="1"/>
            <a:r>
              <a:rPr lang="en-GB" b="1" dirty="0"/>
              <a:t>Singleton</a:t>
            </a:r>
            <a:r>
              <a:rPr lang="en-GB" dirty="0"/>
              <a:t> Ensures only one instance of a class exists.</a:t>
            </a:r>
          </a:p>
          <a:p>
            <a:pPr lvl="1"/>
            <a:r>
              <a:rPr lang="en-GB" b="1" dirty="0"/>
              <a:t>Factory Method</a:t>
            </a:r>
            <a:r>
              <a:rPr lang="en-GB" dirty="0"/>
              <a:t> Delegates object creation to subclasses.</a:t>
            </a:r>
          </a:p>
          <a:p>
            <a:pPr lvl="1"/>
            <a:r>
              <a:rPr lang="en-GB" b="1" dirty="0"/>
              <a:t>Abstract Factory</a:t>
            </a:r>
            <a:r>
              <a:rPr lang="en-GB" dirty="0"/>
              <a:t> Creates families of related objects without specifying concrete classes.</a:t>
            </a:r>
          </a:p>
          <a:p>
            <a:pPr lvl="1"/>
            <a:r>
              <a:rPr lang="en-GB" b="1" dirty="0"/>
              <a:t>Builder</a:t>
            </a:r>
            <a:r>
              <a:rPr lang="en-GB" dirty="0"/>
              <a:t> Step-by-step construction of complex objects.</a:t>
            </a:r>
          </a:p>
          <a:p>
            <a:pPr lvl="1"/>
            <a:r>
              <a:rPr lang="en-GB" b="1" dirty="0"/>
              <a:t>Prototype</a:t>
            </a:r>
            <a:r>
              <a:rPr lang="en-GB" dirty="0"/>
              <a:t> Clones existing objects instead of creating new ones.			</a:t>
            </a:r>
          </a:p>
          <a:p>
            <a:pPr marL="457200" lvl="1" indent="0">
              <a:buNone/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938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B7FA-18EB-54C0-9288-D6CBF765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Singleton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AC3D-C0EF-2A7D-B1A2-2F4843398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Is a creational design pattern that restricts a class to a single instance and provides a global access point to it. </a:t>
            </a:r>
          </a:p>
          <a:p>
            <a:r>
              <a:rPr lang="en-GB" dirty="0"/>
              <a:t>It is widely used to manage shared resources efficiently, such as database connections, loggers, or configuration </a:t>
            </a:r>
            <a:r>
              <a:rPr lang="en-GB" dirty="0" err="1"/>
              <a:t>settingsEnsures</a:t>
            </a:r>
            <a:r>
              <a:rPr lang="en-GB" dirty="0"/>
              <a:t> only one instance of a class exists.</a:t>
            </a:r>
          </a:p>
          <a:p>
            <a:r>
              <a:rPr lang="en-GB" dirty="0"/>
              <a:t>To implement the Singleton pattern, developers typically use three key components:</a:t>
            </a:r>
          </a:p>
          <a:p>
            <a:pPr lvl="1"/>
            <a:r>
              <a:rPr lang="en-GB" b="1" dirty="0"/>
              <a:t>Private Constructor:</a:t>
            </a:r>
            <a:r>
              <a:rPr lang="en-GB" dirty="0"/>
              <a:t> Prevents other objects from instantiating the class using the new keyword.</a:t>
            </a:r>
          </a:p>
          <a:p>
            <a:pPr lvl="1"/>
            <a:r>
              <a:rPr lang="en-GB" b="1" dirty="0"/>
              <a:t>Private Static Instance:</a:t>
            </a:r>
            <a:r>
              <a:rPr lang="en-GB" dirty="0"/>
              <a:t> Holds the single instance of the class inside itself.</a:t>
            </a:r>
          </a:p>
          <a:p>
            <a:pPr lvl="1"/>
            <a:r>
              <a:rPr lang="en-GB" b="1" dirty="0"/>
              <a:t>Public Static Access Method:</a:t>
            </a:r>
            <a:r>
              <a:rPr lang="en-GB" dirty="0"/>
              <a:t> Provides a global point to get the instance. It returns the existing instance if it exists, or creates one if it hasn’t been created yet.</a:t>
            </a:r>
          </a:p>
        </p:txBody>
      </p:sp>
    </p:spTree>
    <p:extLst>
      <p:ext uri="{BB962C8B-B14F-4D97-AF65-F5344CB8AC3E}">
        <p14:creationId xmlns:p14="http://schemas.microsoft.com/office/powerpoint/2010/main" val="410786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AA63-1432-5D46-52E8-A126EFD4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Singleton Design Pattern and 7 Ways to Implement it">
            <a:extLst>
              <a:ext uri="{FF2B5EF4-FFF2-40B4-BE49-F238E27FC236}">
                <a16:creationId xmlns:a16="http://schemas.microsoft.com/office/drawing/2014/main" id="{463E9C15-A200-8CB4-2CB7-715A086531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2691606"/>
            <a:ext cx="382905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3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B3BC-8C21-8F23-93A5-B0A4B372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F04C-A140-83CE-2D9D-748B8F4D9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Database {</a:t>
            </a:r>
          </a:p>
          <a:p>
            <a:pPr marL="0" indent="0">
              <a:buNone/>
            </a:pPr>
            <a:r>
              <a:rPr lang="en-GB" dirty="0"/>
              <a:t>    private static $instance;</a:t>
            </a:r>
          </a:p>
          <a:p>
            <a:pPr marL="0" indent="0">
              <a:buNone/>
            </a:pPr>
            <a:r>
              <a:rPr lang="en-GB" dirty="0"/>
              <a:t>    private function __construct() {}</a:t>
            </a:r>
          </a:p>
          <a:p>
            <a:pPr marL="0" indent="0">
              <a:buNone/>
            </a:pPr>
            <a:r>
              <a:rPr lang="en-GB" dirty="0"/>
              <a:t>    public static function </a:t>
            </a:r>
            <a:r>
              <a:rPr lang="en-GB" dirty="0" err="1"/>
              <a:t>getInstance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if (!self::$instance) {</a:t>
            </a:r>
          </a:p>
          <a:p>
            <a:pPr marL="0" indent="0">
              <a:buNone/>
            </a:pPr>
            <a:r>
              <a:rPr lang="en-GB" dirty="0"/>
              <a:t>            self::$instance = new Database();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    return self::$instance;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42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C69E8F-7168-33FC-13AF-D66876DE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4440C-91CF-EF67-9493-4324BA639B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class Singleton {</a:t>
            </a:r>
          </a:p>
          <a:p>
            <a:pPr marL="0" indent="0">
              <a:buNone/>
            </a:pPr>
            <a:r>
              <a:rPr lang="en-GB" dirty="0"/>
              <a:t>    // 1. Hold the single instance</a:t>
            </a:r>
          </a:p>
          <a:p>
            <a:pPr marL="0" indent="0">
              <a:buNone/>
            </a:pPr>
            <a:r>
              <a:rPr lang="en-GB" dirty="0"/>
              <a:t>    private static $_instance = null;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2. Prevent direct instantiation</a:t>
            </a:r>
          </a:p>
          <a:p>
            <a:pPr marL="0" indent="0">
              <a:buNone/>
            </a:pPr>
            <a:r>
              <a:rPr lang="en-GB" dirty="0"/>
              <a:t>    private function __construct() {}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3. Global access point</a:t>
            </a:r>
          </a:p>
          <a:p>
            <a:pPr marL="0" indent="0">
              <a:buNone/>
            </a:pPr>
            <a:r>
              <a:rPr lang="en-GB" dirty="0"/>
              <a:t>    public static function </a:t>
            </a:r>
            <a:r>
              <a:rPr lang="en-GB" dirty="0" err="1"/>
              <a:t>getInstance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if (self::$_instance == null) {</a:t>
            </a:r>
          </a:p>
          <a:p>
            <a:pPr marL="0" indent="0">
              <a:buNone/>
            </a:pPr>
            <a:r>
              <a:rPr lang="en-GB" dirty="0"/>
              <a:t>            self::$_instance = new Singleton();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    return self::$_instance;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96DB3E-2C3D-1F09-7CBD-1551A651F2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4. Prevent object cloning</a:t>
            </a:r>
          </a:p>
          <a:p>
            <a:pPr marL="0" indent="0">
              <a:buNone/>
            </a:pPr>
            <a:r>
              <a:rPr lang="en-GB" dirty="0"/>
              <a:t>    private function __clone() {}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4. Prevent </a:t>
            </a:r>
            <a:r>
              <a:rPr lang="en-GB" dirty="0" err="1"/>
              <a:t>unserializing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private function __wakeup() {}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Usage:</a:t>
            </a:r>
          </a:p>
          <a:p>
            <a:pPr marL="0" indent="0">
              <a:buNone/>
            </a:pPr>
            <a:r>
              <a:rPr lang="en-GB" dirty="0"/>
              <a:t>$obj1 = Singleton::</a:t>
            </a:r>
            <a:r>
              <a:rPr lang="en-GB" dirty="0" err="1"/>
              <a:t>getInstance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$obj2 = Singleton::</a:t>
            </a:r>
            <a:r>
              <a:rPr lang="en-GB" dirty="0" err="1"/>
              <a:t>getInstance</a:t>
            </a:r>
            <a:r>
              <a:rPr lang="en-GB" dirty="0"/>
              <a:t>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var_dump</a:t>
            </a:r>
            <a:r>
              <a:rPr lang="en-GB" dirty="0"/>
              <a:t>($obj1 === $obj2); // Returns bool(true)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0423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D339-008B-F049-9337-63434CCB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Factory Method Pattern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6DBF1E-D1BE-7785-C1A1-F4CF31B95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Factory Method defines an interface for creating objects, but lets subclasses decide which class to instantiate. </a:t>
            </a:r>
          </a:p>
          <a:p>
            <a:r>
              <a:rPr lang="en-GB" dirty="0"/>
              <a:t>This makes your code flexible and open to extension.</a:t>
            </a:r>
          </a:p>
          <a:p>
            <a:r>
              <a:rPr lang="en-GB" dirty="0"/>
              <a:t>Instead of calling new directly to instantiate a class, you call a "factory method" that returns a new object. </a:t>
            </a:r>
          </a:p>
          <a:p>
            <a:r>
              <a:rPr lang="en-GB" b="1" dirty="0"/>
              <a:t>Key Components</a:t>
            </a:r>
          </a:p>
          <a:p>
            <a:pPr lvl="1"/>
            <a:r>
              <a:rPr lang="en-GB" dirty="0"/>
              <a:t>Product Interface: A common interface for all objects the factory can create (e.g., Notification).</a:t>
            </a:r>
          </a:p>
          <a:p>
            <a:pPr lvl="1"/>
            <a:r>
              <a:rPr lang="en-GB" dirty="0"/>
              <a:t>Concrete Products: Specific implementations of that interface (e.g., </a:t>
            </a:r>
            <a:r>
              <a:rPr lang="en-GB" dirty="0" err="1"/>
              <a:t>EmailNotification</a:t>
            </a:r>
            <a:r>
              <a:rPr lang="en-GB" dirty="0"/>
              <a:t>, </a:t>
            </a:r>
            <a:r>
              <a:rPr lang="en-GB" dirty="0" err="1"/>
              <a:t>SMSNotification</a:t>
            </a:r>
            <a:r>
              <a:rPr lang="en-GB" dirty="0"/>
              <a:t>).</a:t>
            </a:r>
          </a:p>
          <a:p>
            <a:pPr lvl="1"/>
            <a:r>
              <a:rPr lang="en-GB" dirty="0"/>
              <a:t>Creator (Abstract Class): Declares the factory method, which returns an object of the Product type.</a:t>
            </a:r>
          </a:p>
          <a:p>
            <a:pPr lvl="1"/>
            <a:r>
              <a:rPr lang="en-GB" dirty="0"/>
              <a:t>Concrete Creators: Subclasses that override the factory method to return an instance of a specific Concrete Product. </a:t>
            </a:r>
          </a:p>
        </p:txBody>
      </p:sp>
    </p:spTree>
    <p:extLst>
      <p:ext uri="{BB962C8B-B14F-4D97-AF65-F5344CB8AC3E}">
        <p14:creationId xmlns:p14="http://schemas.microsoft.com/office/powerpoint/2010/main" val="4179536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C0A7-86BD-64F2-A3EF-FF0207080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456"/>
            <a:ext cx="5181600" cy="64922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000" dirty="0"/>
              <a:t>// 1. The Product Interface</a:t>
            </a:r>
          </a:p>
          <a:p>
            <a:pPr marL="0" indent="0">
              <a:buNone/>
            </a:pPr>
            <a:r>
              <a:rPr lang="en-GB" sz="1000" dirty="0"/>
              <a:t>interface Notification {</a:t>
            </a:r>
          </a:p>
          <a:p>
            <a:pPr marL="0" indent="0">
              <a:buNone/>
            </a:pPr>
            <a:r>
              <a:rPr lang="en-GB" sz="1000" dirty="0"/>
              <a:t>    public function send(string $message): void;</a:t>
            </a:r>
          </a:p>
          <a:p>
            <a:pPr marL="0" indent="0">
              <a:buNone/>
            </a:pPr>
            <a:r>
              <a:rPr lang="en-GB" sz="1000" dirty="0"/>
              <a:t>}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dirty="0"/>
              <a:t>// 2. Concrete Products</a:t>
            </a:r>
          </a:p>
          <a:p>
            <a:pPr marL="0" indent="0">
              <a:buNone/>
            </a:pPr>
            <a:r>
              <a:rPr lang="en-GB" sz="1000" dirty="0"/>
              <a:t>class </a:t>
            </a:r>
            <a:r>
              <a:rPr lang="en-GB" sz="1000" dirty="0" err="1"/>
              <a:t>EmailNotification</a:t>
            </a:r>
            <a:r>
              <a:rPr lang="en-GB" sz="1000" dirty="0"/>
              <a:t> implements Notification {</a:t>
            </a:r>
          </a:p>
          <a:p>
            <a:pPr marL="0" indent="0">
              <a:buNone/>
            </a:pPr>
            <a:r>
              <a:rPr lang="en-GB" sz="1000" dirty="0"/>
              <a:t>    public function send(string $message): void {</a:t>
            </a:r>
          </a:p>
          <a:p>
            <a:pPr marL="0" indent="0">
              <a:buNone/>
            </a:pPr>
            <a:r>
              <a:rPr lang="en-GB" sz="1000" dirty="0"/>
              <a:t>        echo "Sending Email: $message";</a:t>
            </a:r>
          </a:p>
          <a:p>
            <a:pPr marL="0" indent="0">
              <a:buNone/>
            </a:pPr>
            <a:r>
              <a:rPr lang="en-GB" sz="1000" dirty="0"/>
              <a:t>    }</a:t>
            </a:r>
          </a:p>
          <a:p>
            <a:pPr marL="0" indent="0">
              <a:buNone/>
            </a:pPr>
            <a:r>
              <a:rPr lang="en-GB" sz="1000" dirty="0"/>
              <a:t>}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dirty="0"/>
              <a:t>class </a:t>
            </a:r>
            <a:r>
              <a:rPr lang="en-GB" sz="1000" dirty="0" err="1"/>
              <a:t>SMSNotification</a:t>
            </a:r>
            <a:r>
              <a:rPr lang="en-GB" sz="1000" dirty="0"/>
              <a:t> implements Notification {</a:t>
            </a:r>
          </a:p>
          <a:p>
            <a:pPr marL="0" indent="0">
              <a:buNone/>
            </a:pPr>
            <a:r>
              <a:rPr lang="en-GB" sz="1000" dirty="0"/>
              <a:t>    public function send(string $message): void {</a:t>
            </a:r>
          </a:p>
          <a:p>
            <a:pPr marL="0" indent="0">
              <a:buNone/>
            </a:pPr>
            <a:r>
              <a:rPr lang="en-GB" sz="1000" dirty="0"/>
              <a:t>        echo "Sending SMS: $message";</a:t>
            </a:r>
          </a:p>
          <a:p>
            <a:pPr marL="0" indent="0">
              <a:buNone/>
            </a:pPr>
            <a:r>
              <a:rPr lang="en-GB" sz="1000" dirty="0"/>
              <a:t>    }</a:t>
            </a:r>
          </a:p>
          <a:p>
            <a:pPr marL="0" indent="0">
              <a:buNone/>
            </a:pPr>
            <a:r>
              <a:rPr lang="en-GB" sz="1000" dirty="0"/>
              <a:t>}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sz="1000" dirty="0"/>
              <a:t>// 3. The Creator Class</a:t>
            </a:r>
          </a:p>
          <a:p>
            <a:pPr marL="0" indent="0">
              <a:buNone/>
            </a:pPr>
            <a:r>
              <a:rPr lang="en-GB" sz="1000" dirty="0"/>
              <a:t>abstract class </a:t>
            </a:r>
            <a:r>
              <a:rPr lang="en-GB" sz="1000" dirty="0" err="1"/>
              <a:t>NotificationSender</a:t>
            </a:r>
            <a:r>
              <a:rPr lang="en-GB" sz="1000" dirty="0"/>
              <a:t> {</a:t>
            </a:r>
          </a:p>
          <a:p>
            <a:pPr marL="0" indent="0">
              <a:buNone/>
            </a:pPr>
            <a:r>
              <a:rPr lang="en-GB" sz="1000" dirty="0"/>
              <a:t>    // The Factory Method</a:t>
            </a:r>
          </a:p>
          <a:p>
            <a:pPr marL="0" indent="0">
              <a:buNone/>
            </a:pPr>
            <a:r>
              <a:rPr lang="en-GB" sz="1000" dirty="0"/>
              <a:t>    abstract public function </a:t>
            </a:r>
            <a:r>
              <a:rPr lang="en-GB" sz="1000" dirty="0" err="1"/>
              <a:t>createNotification</a:t>
            </a:r>
            <a:r>
              <a:rPr lang="en-GB" sz="1000" dirty="0"/>
              <a:t>(): Notification;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B138EE-1F8D-9E7E-BF52-15B20B33A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01752"/>
            <a:ext cx="5181600" cy="587521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    public function notify(string $message): void {</a:t>
            </a:r>
          </a:p>
          <a:p>
            <a:pPr marL="0" indent="0">
              <a:buNone/>
            </a:pPr>
            <a:r>
              <a:rPr lang="en-GB" sz="900" dirty="0"/>
              <a:t>        // Use the factory method to get a product without knowing its class</a:t>
            </a:r>
          </a:p>
          <a:p>
            <a:pPr marL="0" indent="0">
              <a:buNone/>
            </a:pPr>
            <a:r>
              <a:rPr lang="en-GB" sz="900" dirty="0"/>
              <a:t>        $notification = $this-&gt;</a:t>
            </a:r>
            <a:r>
              <a:rPr lang="en-GB" sz="900" dirty="0" err="1"/>
              <a:t>createNotification</a:t>
            </a:r>
            <a:r>
              <a:rPr lang="en-GB" sz="900" dirty="0"/>
              <a:t>();</a:t>
            </a:r>
          </a:p>
          <a:p>
            <a:pPr marL="0" indent="0">
              <a:buNone/>
            </a:pPr>
            <a:r>
              <a:rPr lang="en-GB" sz="900" dirty="0"/>
              <a:t>        $notification-&gt;send($message);</a:t>
            </a:r>
          </a:p>
          <a:p>
            <a:pPr marL="0" indent="0">
              <a:buNone/>
            </a:pPr>
            <a:r>
              <a:rPr lang="en-GB" sz="900" dirty="0"/>
              <a:t>    }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/</a:t>
            </a:r>
          </a:p>
          <a:p>
            <a:pPr marL="0" indent="0">
              <a:buNone/>
            </a:pPr>
            <a:r>
              <a:rPr lang="en-GB" sz="900" dirty="0"/>
              <a:t>/ 4. Concrete Creators</a:t>
            </a:r>
          </a:p>
          <a:p>
            <a:pPr marL="0" indent="0">
              <a:buNone/>
            </a:pPr>
            <a:r>
              <a:rPr lang="en-GB" sz="900" dirty="0"/>
              <a:t>class </a:t>
            </a:r>
            <a:r>
              <a:rPr lang="en-GB" sz="900" dirty="0" err="1"/>
              <a:t>EmailSender</a:t>
            </a:r>
            <a:r>
              <a:rPr lang="en-GB" sz="900" dirty="0"/>
              <a:t> extends </a:t>
            </a:r>
            <a:r>
              <a:rPr lang="en-GB" sz="900" dirty="0" err="1"/>
              <a:t>NotificationSender</a:t>
            </a:r>
            <a:r>
              <a:rPr lang="en-GB" sz="900" dirty="0"/>
              <a:t> {</a:t>
            </a:r>
          </a:p>
          <a:p>
            <a:pPr marL="0" indent="0">
              <a:buNone/>
            </a:pPr>
            <a:r>
              <a:rPr lang="en-GB" sz="900" dirty="0"/>
              <a:t>    public function </a:t>
            </a:r>
            <a:r>
              <a:rPr lang="en-GB" sz="900" dirty="0" err="1"/>
              <a:t>createNotification</a:t>
            </a:r>
            <a:r>
              <a:rPr lang="en-GB" sz="900" dirty="0"/>
              <a:t>(): Notification {</a:t>
            </a:r>
          </a:p>
          <a:p>
            <a:pPr marL="0" indent="0">
              <a:buNone/>
            </a:pPr>
            <a:r>
              <a:rPr lang="en-GB" sz="900" dirty="0"/>
              <a:t>        return new </a:t>
            </a:r>
            <a:r>
              <a:rPr lang="en-GB" sz="900" dirty="0" err="1"/>
              <a:t>EmailNotification</a:t>
            </a:r>
            <a:r>
              <a:rPr lang="en-GB" sz="900" dirty="0"/>
              <a:t>();</a:t>
            </a:r>
          </a:p>
          <a:p>
            <a:pPr marL="0" indent="0">
              <a:buNone/>
            </a:pPr>
            <a:r>
              <a:rPr lang="en-GB" sz="900" dirty="0"/>
              <a:t>    }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class </a:t>
            </a:r>
            <a:r>
              <a:rPr lang="en-GB" sz="900" dirty="0" err="1"/>
              <a:t>SMSSender</a:t>
            </a:r>
            <a:r>
              <a:rPr lang="en-GB" sz="900" dirty="0"/>
              <a:t> extends </a:t>
            </a:r>
            <a:r>
              <a:rPr lang="en-GB" sz="900" dirty="0" err="1"/>
              <a:t>NotificationSender</a:t>
            </a:r>
            <a:r>
              <a:rPr lang="en-GB" sz="900" dirty="0"/>
              <a:t> {</a:t>
            </a:r>
          </a:p>
          <a:p>
            <a:pPr marL="0" indent="0">
              <a:buNone/>
            </a:pPr>
            <a:r>
              <a:rPr lang="en-GB" sz="900" dirty="0"/>
              <a:t>    public function </a:t>
            </a:r>
            <a:r>
              <a:rPr lang="en-GB" sz="900" dirty="0" err="1"/>
              <a:t>createNotification</a:t>
            </a:r>
            <a:r>
              <a:rPr lang="en-GB" sz="900" dirty="0"/>
              <a:t>(): Notification {</a:t>
            </a:r>
          </a:p>
          <a:p>
            <a:pPr marL="0" indent="0">
              <a:buNone/>
            </a:pPr>
            <a:r>
              <a:rPr lang="en-GB" sz="900" dirty="0"/>
              <a:t>        return new </a:t>
            </a:r>
            <a:r>
              <a:rPr lang="en-GB" sz="900" dirty="0" err="1"/>
              <a:t>SMSNotification</a:t>
            </a:r>
            <a:r>
              <a:rPr lang="en-GB" sz="900" dirty="0"/>
              <a:t>();</a:t>
            </a:r>
          </a:p>
          <a:p>
            <a:pPr marL="0" indent="0">
              <a:buNone/>
            </a:pPr>
            <a:r>
              <a:rPr lang="en-GB" sz="900" dirty="0"/>
              <a:t>    }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// Usage</a:t>
            </a:r>
          </a:p>
          <a:p>
            <a:pPr marL="0" indent="0">
              <a:buNone/>
            </a:pPr>
            <a:r>
              <a:rPr lang="en-GB" sz="900" dirty="0"/>
              <a:t>$sender = new </a:t>
            </a:r>
            <a:r>
              <a:rPr lang="en-GB" sz="900" dirty="0" err="1"/>
              <a:t>EmailSender</a:t>
            </a:r>
            <a:r>
              <a:rPr lang="en-GB" sz="900" dirty="0"/>
              <a:t>();</a:t>
            </a:r>
          </a:p>
          <a:p>
            <a:pPr marL="0" indent="0">
              <a:buNone/>
            </a:pPr>
            <a:r>
              <a:rPr lang="en-GB" sz="900" dirty="0"/>
              <a:t>$sender-&gt;notify("Hello World!"); // Output: Sending Email: Hello World!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63418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1D89-D143-53A8-90D0-5DF866A15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016"/>
            <a:ext cx="5181600" cy="6048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900" dirty="0"/>
              <a:t>&lt;?</a:t>
            </a:r>
            <a:r>
              <a:rPr lang="en-GB" sz="900" dirty="0" err="1"/>
              <a:t>php</a:t>
            </a:r>
            <a:endParaRPr lang="en-GB" sz="900" dirty="0"/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// Product interface</a:t>
            </a:r>
          </a:p>
          <a:p>
            <a:pPr marL="0" indent="0">
              <a:buNone/>
            </a:pPr>
            <a:r>
              <a:rPr lang="en-GB" sz="900" dirty="0"/>
              <a:t>interface Logger {</a:t>
            </a:r>
          </a:p>
          <a:p>
            <a:pPr marL="0" indent="0">
              <a:buNone/>
            </a:pPr>
            <a:r>
              <a:rPr lang="en-GB" sz="900" dirty="0"/>
              <a:t>    public function log(string $message);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// Concrete Products</a:t>
            </a:r>
          </a:p>
          <a:p>
            <a:pPr marL="0" indent="0">
              <a:buNone/>
            </a:pPr>
            <a:r>
              <a:rPr lang="en-GB" sz="900" dirty="0"/>
              <a:t>class </a:t>
            </a:r>
            <a:r>
              <a:rPr lang="en-GB" sz="900" dirty="0" err="1"/>
              <a:t>FileLogger</a:t>
            </a:r>
            <a:r>
              <a:rPr lang="en-GB" sz="900" dirty="0"/>
              <a:t> implements Logger {</a:t>
            </a:r>
          </a:p>
          <a:p>
            <a:pPr marL="0" indent="0">
              <a:buNone/>
            </a:pPr>
            <a:r>
              <a:rPr lang="en-GB" sz="900" dirty="0"/>
              <a:t>    public function log(string $message) {</a:t>
            </a:r>
          </a:p>
          <a:p>
            <a:pPr marL="0" indent="0">
              <a:buNone/>
            </a:pPr>
            <a:r>
              <a:rPr lang="en-GB" sz="900" dirty="0"/>
              <a:t>        echo "Logging to a file: " . $message . PHP_EOL;</a:t>
            </a:r>
          </a:p>
          <a:p>
            <a:pPr marL="0" indent="0">
              <a:buNone/>
            </a:pPr>
            <a:r>
              <a:rPr lang="en-GB" sz="900" dirty="0"/>
              <a:t>    }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class </a:t>
            </a:r>
            <a:r>
              <a:rPr lang="en-GB" sz="900" dirty="0" err="1"/>
              <a:t>DatabaseLogger</a:t>
            </a:r>
            <a:r>
              <a:rPr lang="en-GB" sz="900" dirty="0"/>
              <a:t> implements Logger {</a:t>
            </a:r>
          </a:p>
          <a:p>
            <a:pPr marL="0" indent="0">
              <a:buNone/>
            </a:pPr>
            <a:r>
              <a:rPr lang="en-GB" sz="900" dirty="0"/>
              <a:t>    public function log(string $message) {</a:t>
            </a:r>
          </a:p>
          <a:p>
            <a:pPr marL="0" indent="0">
              <a:buNone/>
            </a:pPr>
            <a:r>
              <a:rPr lang="en-GB" sz="900" dirty="0"/>
              <a:t>        echo "Logging to a database: " . $message . PHP_EOL;</a:t>
            </a:r>
          </a:p>
          <a:p>
            <a:pPr marL="0" indent="0">
              <a:buNone/>
            </a:pPr>
            <a:r>
              <a:rPr lang="en-GB" sz="900" dirty="0"/>
              <a:t>    }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// Creator abstract class</a:t>
            </a:r>
          </a:p>
          <a:p>
            <a:pPr marL="0" indent="0">
              <a:buNone/>
            </a:pPr>
            <a:r>
              <a:rPr lang="en-GB" sz="900" dirty="0"/>
              <a:t>abstract class </a:t>
            </a:r>
            <a:r>
              <a:rPr lang="en-GB" sz="900" dirty="0" err="1"/>
              <a:t>LoggerFactory</a:t>
            </a:r>
            <a:r>
              <a:rPr lang="en-GB" sz="900" dirty="0"/>
              <a:t> {</a:t>
            </a:r>
          </a:p>
          <a:p>
            <a:pPr marL="0" indent="0">
              <a:buNone/>
            </a:pPr>
            <a:r>
              <a:rPr lang="en-GB" sz="900" dirty="0"/>
              <a:t>    abstract public function </a:t>
            </a:r>
            <a:r>
              <a:rPr lang="en-GB" sz="900" dirty="0" err="1"/>
              <a:t>createLogger</a:t>
            </a:r>
            <a:r>
              <a:rPr lang="en-GB" sz="900" dirty="0"/>
              <a:t>(): Logger;</a:t>
            </a:r>
          </a:p>
          <a:p>
            <a:pPr marL="0" indent="0">
              <a:buNone/>
            </a:pPr>
            <a:endParaRPr lang="en-GB" sz="900" dirty="0"/>
          </a:p>
          <a:p>
            <a:pPr marL="0" indent="0">
              <a:buNone/>
            </a:pPr>
            <a:r>
              <a:rPr lang="en-GB" sz="900" dirty="0"/>
              <a:t>    public function </a:t>
            </a:r>
            <a:r>
              <a:rPr lang="en-GB" sz="900" dirty="0" err="1"/>
              <a:t>logMessage</a:t>
            </a:r>
            <a:r>
              <a:rPr lang="en-GB" sz="900" dirty="0"/>
              <a:t>(string $message) {</a:t>
            </a:r>
          </a:p>
          <a:p>
            <a:pPr marL="0" indent="0">
              <a:buNone/>
            </a:pPr>
            <a:r>
              <a:rPr lang="en-GB" sz="900" dirty="0"/>
              <a:t>        $logger = $this-&gt;</a:t>
            </a:r>
            <a:r>
              <a:rPr lang="en-GB" sz="900" dirty="0" err="1"/>
              <a:t>createLogger</a:t>
            </a:r>
            <a:r>
              <a:rPr lang="en-GB" sz="900" dirty="0"/>
              <a:t>();</a:t>
            </a:r>
          </a:p>
          <a:p>
            <a:pPr marL="0" indent="0">
              <a:buNone/>
            </a:pPr>
            <a:r>
              <a:rPr lang="en-GB" sz="900" dirty="0"/>
              <a:t>        $logger-&gt;log($message);</a:t>
            </a:r>
          </a:p>
          <a:p>
            <a:pPr marL="0" indent="0">
              <a:buNone/>
            </a:pPr>
            <a:r>
              <a:rPr lang="en-GB" sz="900" dirty="0"/>
              <a:t>    }</a:t>
            </a:r>
          </a:p>
          <a:p>
            <a:pPr marL="0" indent="0">
              <a:buNone/>
            </a:pPr>
            <a:r>
              <a:rPr lang="en-GB" sz="9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E9A89-CB83-C8AC-1F16-D9CDD2003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8016"/>
            <a:ext cx="5181600" cy="604894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// Concrete Creators</a:t>
            </a:r>
          </a:p>
          <a:p>
            <a:pPr marL="0" indent="0">
              <a:buNone/>
            </a:pPr>
            <a:r>
              <a:rPr lang="en-GB" sz="1400" dirty="0"/>
              <a:t>class </a:t>
            </a:r>
            <a:r>
              <a:rPr lang="en-GB" sz="1400" dirty="0" err="1"/>
              <a:t>FileLoggerFactory</a:t>
            </a:r>
            <a:r>
              <a:rPr lang="en-GB" sz="1400" dirty="0"/>
              <a:t> extends </a:t>
            </a:r>
            <a:r>
              <a:rPr lang="en-GB" sz="1400" dirty="0" err="1"/>
              <a:t>LoggerFactory</a:t>
            </a:r>
            <a:r>
              <a:rPr lang="en-GB" sz="1400" dirty="0"/>
              <a:t> {</a:t>
            </a:r>
          </a:p>
          <a:p>
            <a:pPr marL="0" indent="0">
              <a:buNone/>
            </a:pPr>
            <a:r>
              <a:rPr lang="en-GB" sz="1400" dirty="0"/>
              <a:t>    public function </a:t>
            </a:r>
            <a:r>
              <a:rPr lang="en-GB" sz="1400" dirty="0" err="1"/>
              <a:t>createLogger</a:t>
            </a:r>
            <a:r>
              <a:rPr lang="en-GB" sz="1400" dirty="0"/>
              <a:t>(): Logger {</a:t>
            </a:r>
          </a:p>
          <a:p>
            <a:pPr marL="0" indent="0">
              <a:buNone/>
            </a:pPr>
            <a:r>
              <a:rPr lang="en-GB" sz="1400" dirty="0"/>
              <a:t>        return new </a:t>
            </a:r>
            <a:r>
              <a:rPr lang="en-GB" sz="1400" dirty="0" err="1"/>
              <a:t>FileLogger</a:t>
            </a:r>
            <a:r>
              <a:rPr lang="en-GB" sz="1400" dirty="0"/>
              <a:t>();</a:t>
            </a:r>
          </a:p>
          <a:p>
            <a:pPr marL="0" indent="0">
              <a:buNone/>
            </a:pPr>
            <a:r>
              <a:rPr lang="en-GB" sz="1400" dirty="0"/>
              <a:t>    }</a:t>
            </a:r>
          </a:p>
          <a:p>
            <a:pPr marL="0" indent="0">
              <a:buNone/>
            </a:pPr>
            <a:r>
              <a:rPr lang="en-GB" sz="1400" dirty="0"/>
              <a:t>}</a:t>
            </a:r>
          </a:p>
          <a:p>
            <a:pPr marL="0" indent="0">
              <a:buNone/>
            </a:pPr>
            <a:r>
              <a:rPr lang="en-GB" sz="1400" dirty="0"/>
              <a:t>class </a:t>
            </a:r>
            <a:r>
              <a:rPr lang="en-GB" sz="1400" dirty="0" err="1"/>
              <a:t>DatabaseLoggerFactory</a:t>
            </a:r>
            <a:r>
              <a:rPr lang="en-GB" sz="1400" dirty="0"/>
              <a:t> extends </a:t>
            </a:r>
            <a:r>
              <a:rPr lang="en-GB" sz="1400" dirty="0" err="1"/>
              <a:t>LoggerFactory</a:t>
            </a:r>
            <a:r>
              <a:rPr lang="en-GB" sz="1400" dirty="0"/>
              <a:t> {</a:t>
            </a:r>
          </a:p>
          <a:p>
            <a:pPr marL="0" indent="0">
              <a:buNone/>
            </a:pPr>
            <a:r>
              <a:rPr lang="en-GB" sz="1400" dirty="0"/>
              <a:t>    public function </a:t>
            </a:r>
            <a:r>
              <a:rPr lang="en-GB" sz="1400" dirty="0" err="1"/>
              <a:t>createLogger</a:t>
            </a:r>
            <a:r>
              <a:rPr lang="en-GB" sz="1400" dirty="0"/>
              <a:t>(): Logger {</a:t>
            </a:r>
          </a:p>
          <a:p>
            <a:pPr marL="0" indent="0">
              <a:buNone/>
            </a:pPr>
            <a:r>
              <a:rPr lang="en-GB" sz="1400" dirty="0"/>
              <a:t>        return new </a:t>
            </a:r>
            <a:r>
              <a:rPr lang="en-GB" sz="1400" dirty="0" err="1"/>
              <a:t>DatabaseLogger</a:t>
            </a:r>
            <a:r>
              <a:rPr lang="en-GB" sz="1400" dirty="0"/>
              <a:t>();</a:t>
            </a:r>
          </a:p>
          <a:p>
            <a:pPr marL="0" indent="0">
              <a:buNone/>
            </a:pPr>
            <a:r>
              <a:rPr lang="en-GB" sz="1400" dirty="0"/>
              <a:t>    }</a:t>
            </a:r>
          </a:p>
          <a:p>
            <a:pPr marL="0" indent="0">
              <a:buNone/>
            </a:pPr>
            <a:r>
              <a:rPr lang="en-GB" sz="1400" dirty="0"/>
              <a:t>}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// Client code</a:t>
            </a:r>
          </a:p>
          <a:p>
            <a:pPr marL="0" indent="0">
              <a:buNone/>
            </a:pPr>
            <a:r>
              <a:rPr lang="en-GB" sz="1400" dirty="0"/>
              <a:t>$</a:t>
            </a:r>
            <a:r>
              <a:rPr lang="en-GB" sz="1400" dirty="0" err="1"/>
              <a:t>fileFactory</a:t>
            </a:r>
            <a:r>
              <a:rPr lang="en-GB" sz="1400" dirty="0"/>
              <a:t> = new </a:t>
            </a:r>
            <a:r>
              <a:rPr lang="en-GB" sz="1400" dirty="0" err="1"/>
              <a:t>FileLoggerFactory</a:t>
            </a:r>
            <a:r>
              <a:rPr lang="en-GB" sz="1400" dirty="0"/>
              <a:t>();</a:t>
            </a:r>
          </a:p>
          <a:p>
            <a:pPr marL="0" indent="0">
              <a:buNone/>
            </a:pPr>
            <a:r>
              <a:rPr lang="en-GB" sz="1400" dirty="0"/>
              <a:t>$</a:t>
            </a:r>
            <a:r>
              <a:rPr lang="en-GB" sz="1400" dirty="0" err="1"/>
              <a:t>fileFactory</a:t>
            </a:r>
            <a:r>
              <a:rPr lang="en-GB" sz="1400" dirty="0"/>
              <a:t>-&gt;</a:t>
            </a:r>
            <a:r>
              <a:rPr lang="en-GB" sz="1400" dirty="0" err="1"/>
              <a:t>logMessage</a:t>
            </a:r>
            <a:r>
              <a:rPr lang="en-GB" sz="1400" dirty="0"/>
              <a:t>("File log entry");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$</a:t>
            </a:r>
            <a:r>
              <a:rPr lang="en-GB" sz="1400" dirty="0" err="1"/>
              <a:t>dbFactory</a:t>
            </a:r>
            <a:r>
              <a:rPr lang="en-GB" sz="1400" dirty="0"/>
              <a:t> = new </a:t>
            </a:r>
            <a:r>
              <a:rPr lang="en-GB" sz="1400" dirty="0" err="1"/>
              <a:t>DatabaseLoggerFactory</a:t>
            </a:r>
            <a:r>
              <a:rPr lang="en-GB" sz="1400" dirty="0"/>
              <a:t>();</a:t>
            </a:r>
          </a:p>
          <a:p>
            <a:pPr marL="0" indent="0">
              <a:buNone/>
            </a:pPr>
            <a:r>
              <a:rPr lang="en-GB" sz="1400" dirty="0"/>
              <a:t>$</a:t>
            </a:r>
            <a:r>
              <a:rPr lang="en-GB" sz="1400" dirty="0" err="1"/>
              <a:t>dbFactory</a:t>
            </a:r>
            <a:r>
              <a:rPr lang="en-GB" sz="1400" dirty="0"/>
              <a:t>-&gt;</a:t>
            </a:r>
            <a:r>
              <a:rPr lang="en-GB" sz="1400" dirty="0" err="1"/>
              <a:t>logMessage</a:t>
            </a:r>
            <a:r>
              <a:rPr lang="en-GB" sz="1400" dirty="0"/>
              <a:t>("Database log entry");</a:t>
            </a:r>
          </a:p>
          <a:p>
            <a:pPr marL="0" indent="0">
              <a:buNone/>
            </a:pPr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6869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D486-4310-ED7F-6DD8-0EDD79B0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Abstract Factory Pattern 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6020F8-8289-CD65-8012-AED3DE74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a creational design pattern used to create families of related or dependent objects without specifying their concrete classes.</a:t>
            </a:r>
          </a:p>
          <a:p>
            <a:r>
              <a:rPr lang="en-GB" dirty="0"/>
              <a:t> Often described as a "factory of factories," it provides a high-level interface that allows a program to remain independent of how its products are produced and represented.</a:t>
            </a:r>
          </a:p>
          <a:p>
            <a:r>
              <a:rPr lang="en-GB" dirty="0"/>
              <a:t>The Abstract Factory provides an interface for creating families of related objects without specifying their concrete classes. </a:t>
            </a:r>
          </a:p>
          <a:p>
            <a:r>
              <a:rPr lang="en-GB" dirty="0"/>
              <a:t>It’s useful when you want to ensure that products created together are compatible.</a:t>
            </a:r>
          </a:p>
        </p:txBody>
      </p:sp>
    </p:spTree>
    <p:extLst>
      <p:ext uri="{BB962C8B-B14F-4D97-AF65-F5344CB8AC3E}">
        <p14:creationId xmlns:p14="http://schemas.microsoft.com/office/powerpoint/2010/main" val="1054177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BAA09-1400-4A43-41B5-7347BCF22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0"/>
            <a:ext cx="5181600" cy="6176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Abstract Products</a:t>
            </a:r>
          </a:p>
          <a:p>
            <a:pPr marL="0" indent="0">
              <a:buNone/>
            </a:pPr>
            <a:r>
              <a:rPr lang="en-GB" dirty="0"/>
              <a:t>interface Button {</a:t>
            </a:r>
          </a:p>
          <a:p>
            <a:pPr marL="0" indent="0">
              <a:buNone/>
            </a:pPr>
            <a:r>
              <a:rPr lang="en-GB" dirty="0"/>
              <a:t>    public function render();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interface Checkbox {</a:t>
            </a:r>
          </a:p>
          <a:p>
            <a:pPr marL="0" indent="0">
              <a:buNone/>
            </a:pPr>
            <a:r>
              <a:rPr lang="en-GB" dirty="0"/>
              <a:t>    public function render();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Concrete Products for Windows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WindowsButton</a:t>
            </a:r>
            <a:r>
              <a:rPr lang="en-GB" dirty="0"/>
              <a:t> implements Button {</a:t>
            </a:r>
          </a:p>
          <a:p>
            <a:pPr marL="0" indent="0">
              <a:buNone/>
            </a:pPr>
            <a:r>
              <a:rPr lang="en-GB" dirty="0"/>
              <a:t>    public function render() {</a:t>
            </a:r>
          </a:p>
          <a:p>
            <a:pPr marL="0" indent="0">
              <a:buNone/>
            </a:pPr>
            <a:r>
              <a:rPr lang="en-GB" dirty="0"/>
              <a:t>        echo "Rendering a Windows-style button"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WindowsCheckbox</a:t>
            </a:r>
            <a:r>
              <a:rPr lang="en-GB" dirty="0"/>
              <a:t> implements Checkbox {</a:t>
            </a:r>
          </a:p>
          <a:p>
            <a:pPr marL="0" indent="0">
              <a:buNone/>
            </a:pPr>
            <a:r>
              <a:rPr lang="en-GB" dirty="0"/>
              <a:t>    public function render() {</a:t>
            </a:r>
          </a:p>
          <a:p>
            <a:pPr marL="0" indent="0">
              <a:buNone/>
            </a:pPr>
            <a:r>
              <a:rPr lang="en-GB" dirty="0"/>
              <a:t>        echo "Rendering a Windows-style checkbox"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A0BF5C-454D-13C4-7BC1-C6E3B252B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448"/>
            <a:ext cx="5181600" cy="658280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Concrete Products for Mac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MacButton</a:t>
            </a:r>
            <a:r>
              <a:rPr lang="en-GB" dirty="0"/>
              <a:t> implements Button {</a:t>
            </a:r>
          </a:p>
          <a:p>
            <a:pPr marL="0" indent="0">
              <a:buNone/>
            </a:pPr>
            <a:r>
              <a:rPr lang="en-GB" dirty="0"/>
              <a:t>    public function render() {</a:t>
            </a:r>
          </a:p>
          <a:p>
            <a:pPr marL="0" indent="0">
              <a:buNone/>
            </a:pPr>
            <a:r>
              <a:rPr lang="en-GB" dirty="0"/>
              <a:t>        echo "Rendering a Mac-style button"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MacCheckbox</a:t>
            </a:r>
            <a:r>
              <a:rPr lang="en-GB" dirty="0"/>
              <a:t> implements Checkbox {</a:t>
            </a:r>
          </a:p>
          <a:p>
            <a:pPr marL="0" indent="0">
              <a:buNone/>
            </a:pPr>
            <a:r>
              <a:rPr lang="en-GB" dirty="0"/>
              <a:t>    public function render() {</a:t>
            </a:r>
          </a:p>
          <a:p>
            <a:pPr marL="0" indent="0">
              <a:buNone/>
            </a:pPr>
            <a:r>
              <a:rPr lang="en-GB" dirty="0"/>
              <a:t>        echo "Rendering a Mac-style checkbox"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Abstract Factory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GUIFactory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createButton</a:t>
            </a:r>
            <a:r>
              <a:rPr lang="en-GB" dirty="0"/>
              <a:t>(): Button;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createCheckbox</a:t>
            </a:r>
            <a:r>
              <a:rPr lang="en-GB" dirty="0"/>
              <a:t>(): Checkbox;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3754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5141-DD3C-9CC4-6F74-2C46DEA5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0110-EC6E-6B42-A510-8A1AA28E5E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Concrete Factories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WindowsFactory</a:t>
            </a:r>
            <a:r>
              <a:rPr lang="en-GB" dirty="0"/>
              <a:t> implements </a:t>
            </a:r>
            <a:r>
              <a:rPr lang="en-GB" dirty="0" err="1"/>
              <a:t>GUIFactory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createButton</a:t>
            </a:r>
            <a:r>
              <a:rPr lang="en-GB" dirty="0"/>
              <a:t>(): Button {</a:t>
            </a:r>
          </a:p>
          <a:p>
            <a:pPr marL="0" indent="0">
              <a:buNone/>
            </a:pPr>
            <a:r>
              <a:rPr lang="en-GB" dirty="0"/>
              <a:t>        return new </a:t>
            </a:r>
            <a:r>
              <a:rPr lang="en-GB" dirty="0" err="1"/>
              <a:t>WindowsButton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createCheckbox</a:t>
            </a:r>
            <a:r>
              <a:rPr lang="en-GB" dirty="0"/>
              <a:t>(): Checkbox {</a:t>
            </a:r>
          </a:p>
          <a:p>
            <a:pPr marL="0" indent="0">
              <a:buNone/>
            </a:pPr>
            <a:r>
              <a:rPr lang="en-GB" dirty="0"/>
              <a:t>        return new </a:t>
            </a:r>
            <a:r>
              <a:rPr lang="en-GB" dirty="0" err="1"/>
              <a:t>WindowsCheckbox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br>
              <a:rPr lang="en-GB" dirty="0"/>
            </a:br>
            <a:br>
              <a:rPr lang="en-GB" dirty="0"/>
            </a:br>
            <a:r>
              <a:rPr lang="en-GB" dirty="0"/>
              <a:t>class </a:t>
            </a:r>
            <a:r>
              <a:rPr lang="en-GB" dirty="0" err="1"/>
              <a:t>MacFactory</a:t>
            </a:r>
            <a:r>
              <a:rPr lang="en-GB" dirty="0"/>
              <a:t> implements </a:t>
            </a:r>
            <a:r>
              <a:rPr lang="en-GB" dirty="0" err="1"/>
              <a:t>GUIFactory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createButton</a:t>
            </a:r>
            <a:r>
              <a:rPr lang="en-GB" dirty="0"/>
              <a:t>(): Button {</a:t>
            </a:r>
          </a:p>
          <a:p>
            <a:pPr marL="0" indent="0">
              <a:buNone/>
            </a:pPr>
            <a:r>
              <a:rPr lang="en-GB" dirty="0"/>
              <a:t>        return new </a:t>
            </a:r>
            <a:r>
              <a:rPr lang="en-GB" dirty="0" err="1"/>
              <a:t>MacButton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createCheckbox</a:t>
            </a:r>
            <a:r>
              <a:rPr lang="en-GB" dirty="0"/>
              <a:t>(): Checkbox {</a:t>
            </a:r>
          </a:p>
          <a:p>
            <a:pPr marL="0" indent="0">
              <a:buNone/>
            </a:pPr>
            <a:r>
              <a:rPr lang="en-GB" dirty="0"/>
              <a:t>        return new </a:t>
            </a:r>
            <a:r>
              <a:rPr lang="en-GB" dirty="0" err="1"/>
              <a:t>MacCheckbox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CE0-24E5-1565-AE41-AD06F71A1D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// Client code</a:t>
            </a:r>
          </a:p>
          <a:p>
            <a:pPr marL="0" indent="0">
              <a:buNone/>
            </a:pPr>
            <a:r>
              <a:rPr lang="en-GB" dirty="0"/>
              <a:t>function </a:t>
            </a:r>
            <a:r>
              <a:rPr lang="en-GB" dirty="0" err="1"/>
              <a:t>renderUI</a:t>
            </a:r>
            <a:r>
              <a:rPr lang="en-GB" dirty="0"/>
              <a:t>(</a:t>
            </a:r>
            <a:r>
              <a:rPr lang="en-GB" dirty="0" err="1"/>
              <a:t>GUIFactory</a:t>
            </a:r>
            <a:r>
              <a:rPr lang="en-GB" dirty="0"/>
              <a:t> $factory) {</a:t>
            </a:r>
          </a:p>
          <a:p>
            <a:pPr marL="0" indent="0">
              <a:buNone/>
            </a:pPr>
            <a:r>
              <a:rPr lang="en-GB" dirty="0"/>
              <a:t>    $button = $factory-&gt;</a:t>
            </a:r>
            <a:r>
              <a:rPr lang="en-GB" dirty="0" err="1"/>
              <a:t>createButton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$checkbox = $factory-&gt;</a:t>
            </a:r>
            <a:r>
              <a:rPr lang="en-GB" dirty="0" err="1"/>
              <a:t>createCheckbox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$button-&gt;render();</a:t>
            </a:r>
          </a:p>
          <a:p>
            <a:pPr marL="0" indent="0">
              <a:buNone/>
            </a:pPr>
            <a:r>
              <a:rPr lang="en-GB" dirty="0"/>
              <a:t>    $checkbox-&gt;render();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Example usage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windowsFactory</a:t>
            </a:r>
            <a:r>
              <a:rPr lang="en-GB" dirty="0"/>
              <a:t> = new </a:t>
            </a:r>
            <a:r>
              <a:rPr lang="en-GB" dirty="0" err="1"/>
              <a:t>WindowsFactory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 err="1"/>
              <a:t>renderUI</a:t>
            </a:r>
            <a:r>
              <a:rPr lang="en-GB" dirty="0"/>
              <a:t>($</a:t>
            </a:r>
            <a:r>
              <a:rPr lang="en-GB" dirty="0" err="1"/>
              <a:t>windowsFactory</a:t>
            </a:r>
            <a:r>
              <a:rPr lang="en-GB" dirty="0"/>
              <a:t>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macFactory</a:t>
            </a:r>
            <a:r>
              <a:rPr lang="en-GB" dirty="0"/>
              <a:t> = new </a:t>
            </a:r>
            <a:r>
              <a:rPr lang="en-GB" dirty="0" err="1"/>
              <a:t>MacFactory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 err="1"/>
              <a:t>renderUI</a:t>
            </a:r>
            <a:r>
              <a:rPr lang="en-GB" dirty="0"/>
              <a:t>($</a:t>
            </a:r>
            <a:r>
              <a:rPr lang="en-GB" dirty="0" err="1"/>
              <a:t>macFactory</a:t>
            </a:r>
            <a:r>
              <a:rPr lang="en-GB" dirty="0"/>
              <a:t>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267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C88B-EEB7-5BE0-1967-570121D6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🔑 Key Points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E3916-0C0C-3ED7-4B3F-D531AFB7F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GB" dirty="0"/>
              <a:t>Abstract Products → Define interfaces (Button, Checkbox).</a:t>
            </a:r>
          </a:p>
          <a:p>
            <a:pPr lvl="0"/>
            <a:r>
              <a:rPr lang="en-GB" dirty="0"/>
              <a:t>Concrete Products → Implement platform-specific versions (</a:t>
            </a:r>
            <a:r>
              <a:rPr lang="en-GB" dirty="0" err="1"/>
              <a:t>WindowsButton</a:t>
            </a:r>
            <a:r>
              <a:rPr lang="en-GB" dirty="0"/>
              <a:t>, </a:t>
            </a:r>
            <a:r>
              <a:rPr lang="en-GB" dirty="0" err="1"/>
              <a:t>MacButton</a:t>
            </a:r>
            <a:r>
              <a:rPr lang="en-GB" dirty="0"/>
              <a:t>).</a:t>
            </a:r>
          </a:p>
          <a:p>
            <a:pPr lvl="0"/>
            <a:r>
              <a:rPr lang="en-GB" dirty="0"/>
              <a:t>Abstract Factory → Declares methods for creating products.</a:t>
            </a:r>
          </a:p>
          <a:p>
            <a:pPr lvl="0"/>
            <a:r>
              <a:rPr lang="en-GB" dirty="0"/>
              <a:t>Concrete Factories → Implement creation methods for specific families.</a:t>
            </a:r>
          </a:p>
          <a:p>
            <a:pPr lvl="0"/>
            <a:r>
              <a:rPr lang="en-GB" dirty="0"/>
              <a:t>Client code → Works with factories without knowing the concrete classes.</a:t>
            </a:r>
          </a:p>
          <a:p>
            <a:pPr lvl="0"/>
            <a:r>
              <a:rPr lang="en-GB" dirty="0"/>
              <a:t>This pattern is especially useful when building cross-platform applications (like UI toolkits) or systems that need to support multiple product families consistently.</a:t>
            </a:r>
            <a:br>
              <a:rPr lang="en-GB" dirty="0"/>
            </a:b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879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9505-B08B-D08A-8DA1-09F91431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Builder Pattern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70B14-6561-7824-44F4-8263989EF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a creational design pattern that allows you to construct complex objects step by step. </a:t>
            </a:r>
          </a:p>
          <a:p>
            <a:r>
              <a:rPr lang="en-GB" dirty="0"/>
              <a:t>It is particularly useful when an object requires many configuration options, helping to avoid "telescoping constructors" (constructors with a long list of parameters). </a:t>
            </a:r>
          </a:p>
          <a:p>
            <a:r>
              <a:rPr lang="en-GB" dirty="0"/>
              <a:t>The </a:t>
            </a:r>
            <a:r>
              <a:rPr lang="en-GB" b="1" dirty="0"/>
              <a:t>Builder</a:t>
            </a:r>
            <a:r>
              <a:rPr lang="en-GB" dirty="0"/>
              <a:t> pattern separates the construction of a complex object from its representation. </a:t>
            </a:r>
          </a:p>
          <a:p>
            <a:r>
              <a:rPr lang="en-GB" dirty="0"/>
              <a:t>It allows you to build different types of objects step by step using the same construction process.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280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F41CE-F781-7369-3A81-7EB4BC2DA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0629"/>
            <a:ext cx="5181600" cy="60463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Product</a:t>
            </a:r>
          </a:p>
          <a:p>
            <a:pPr marL="0" indent="0">
              <a:buNone/>
            </a:pPr>
            <a:r>
              <a:rPr lang="en-GB" dirty="0"/>
              <a:t>class Car {</a:t>
            </a:r>
          </a:p>
          <a:p>
            <a:pPr marL="0" indent="0">
              <a:buNone/>
            </a:pPr>
            <a:r>
              <a:rPr lang="en-GB" dirty="0"/>
              <a:t>    private $engine;</a:t>
            </a:r>
          </a:p>
          <a:p>
            <a:pPr marL="0" indent="0">
              <a:buNone/>
            </a:pPr>
            <a:r>
              <a:rPr lang="en-GB" dirty="0"/>
              <a:t>    private $wheels;</a:t>
            </a:r>
          </a:p>
          <a:p>
            <a:pPr marL="0" indent="0">
              <a:buNone/>
            </a:pPr>
            <a:r>
              <a:rPr lang="en-GB" dirty="0"/>
              <a:t>    private $</a:t>
            </a:r>
            <a:r>
              <a:rPr lang="en-GB" dirty="0" err="1"/>
              <a:t>color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setEngine</a:t>
            </a:r>
            <a:r>
              <a:rPr lang="en-GB" dirty="0"/>
              <a:t>($engine) {</a:t>
            </a:r>
          </a:p>
          <a:p>
            <a:pPr marL="0" indent="0">
              <a:buNone/>
            </a:pPr>
            <a:r>
              <a:rPr lang="en-GB" dirty="0"/>
              <a:t>        $this-&gt;engine = $engine;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setWheels</a:t>
            </a:r>
            <a:r>
              <a:rPr lang="en-GB" dirty="0"/>
              <a:t>($wheels) {</a:t>
            </a:r>
          </a:p>
          <a:p>
            <a:pPr marL="0" indent="0">
              <a:buNone/>
            </a:pPr>
            <a:r>
              <a:rPr lang="en-GB" dirty="0"/>
              <a:t>        $this-&gt;wheels = $wheels;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setColor</a:t>
            </a:r>
            <a:r>
              <a:rPr lang="en-GB" dirty="0"/>
              <a:t>($</a:t>
            </a:r>
            <a:r>
              <a:rPr lang="en-GB" dirty="0" err="1"/>
              <a:t>color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color</a:t>
            </a:r>
            <a:r>
              <a:rPr lang="en-GB" dirty="0"/>
              <a:t> = $</a:t>
            </a:r>
            <a:r>
              <a:rPr lang="en-GB" dirty="0" err="1"/>
              <a:t>color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showSpecs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echo "Car with {$this-&gt;engine} engine, {$this-&gt;wheels} wheels, </a:t>
            </a:r>
            <a:r>
              <a:rPr lang="en-GB" dirty="0" err="1"/>
              <a:t>color</a:t>
            </a:r>
            <a:r>
              <a:rPr lang="en-GB" dirty="0"/>
              <a:t>: {$this-&gt;</a:t>
            </a:r>
            <a:r>
              <a:rPr lang="en-GB" dirty="0" err="1"/>
              <a:t>color</a:t>
            </a:r>
            <a:r>
              <a:rPr lang="en-GB" dirty="0"/>
              <a:t>}"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Builder interface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CarBuilder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buildEngine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buildWheels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paintColor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getCar</a:t>
            </a:r>
            <a:r>
              <a:rPr lang="en-GB" dirty="0"/>
              <a:t>(): Car;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B6C662-FB42-08EB-75A5-219C27A15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0629"/>
            <a:ext cx="5181600" cy="60463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// Concrete Builder for Sports Car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SportsCarBuilder</a:t>
            </a:r>
            <a:r>
              <a:rPr lang="en-GB" dirty="0"/>
              <a:t> implements </a:t>
            </a:r>
            <a:r>
              <a:rPr lang="en-GB" dirty="0" err="1"/>
              <a:t>CarBuilder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$car;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__construct() {</a:t>
            </a:r>
          </a:p>
          <a:p>
            <a:pPr marL="0" indent="0">
              <a:buNone/>
            </a:pPr>
            <a:r>
              <a:rPr lang="en-GB" dirty="0"/>
              <a:t>        $this-&gt;car = new Car();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buildEngine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$this-&gt;car-&gt;</a:t>
            </a:r>
            <a:r>
              <a:rPr lang="en-GB" dirty="0" err="1"/>
              <a:t>setEngine</a:t>
            </a:r>
            <a:r>
              <a:rPr lang="en-GB" dirty="0"/>
              <a:t>("V8");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buildWheels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$this-&gt;car-&gt;</a:t>
            </a:r>
            <a:r>
              <a:rPr lang="en-GB" dirty="0" err="1"/>
              <a:t>setWheels</a:t>
            </a:r>
            <a:r>
              <a:rPr lang="en-GB" dirty="0"/>
              <a:t>(4);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paintColor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$this-&gt;car-&gt;</a:t>
            </a:r>
            <a:r>
              <a:rPr lang="en-GB" dirty="0" err="1"/>
              <a:t>setColor</a:t>
            </a:r>
            <a:r>
              <a:rPr lang="en-GB" dirty="0"/>
              <a:t>("Red");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getCar</a:t>
            </a:r>
            <a:r>
              <a:rPr lang="en-GB" dirty="0"/>
              <a:t>(): Car {</a:t>
            </a:r>
          </a:p>
          <a:p>
            <a:pPr marL="0" indent="0">
              <a:buNone/>
            </a:pPr>
            <a:r>
              <a:rPr lang="en-GB" dirty="0"/>
              <a:t>        return $this-&gt;car;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035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FFA52-9776-B254-AD3A-26D9857FA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0"/>
            <a:ext cx="5181600" cy="6176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// Concrete Builder for SUV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SUVBuilder</a:t>
            </a:r>
            <a:r>
              <a:rPr lang="en-GB" dirty="0"/>
              <a:t> implements </a:t>
            </a:r>
            <a:r>
              <a:rPr lang="en-GB" dirty="0" err="1"/>
              <a:t>CarBuilder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$car;</a:t>
            </a:r>
          </a:p>
          <a:p>
            <a:pPr marL="0" indent="0">
              <a:buNone/>
            </a:pPr>
            <a:r>
              <a:rPr lang="en-GB" dirty="0"/>
              <a:t>    public function __construct() {</a:t>
            </a:r>
          </a:p>
          <a:p>
            <a:pPr marL="0" indent="0">
              <a:buNone/>
            </a:pPr>
            <a:r>
              <a:rPr lang="en-GB" dirty="0"/>
              <a:t>        $this-&gt;car = new Car();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buildEngine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$this-&gt;car-&gt;</a:t>
            </a:r>
            <a:r>
              <a:rPr lang="en-GB" dirty="0" err="1"/>
              <a:t>setEngine</a:t>
            </a:r>
            <a:r>
              <a:rPr lang="en-GB" dirty="0"/>
              <a:t>("V6");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buildWheels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$this-&gt;car-&gt;</a:t>
            </a:r>
            <a:r>
              <a:rPr lang="en-GB" dirty="0" err="1"/>
              <a:t>setWheels</a:t>
            </a:r>
            <a:r>
              <a:rPr lang="en-GB" dirty="0"/>
              <a:t>(4);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paintColor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$this-&gt;car-&gt;</a:t>
            </a:r>
            <a:r>
              <a:rPr lang="en-GB" dirty="0" err="1"/>
              <a:t>setColor</a:t>
            </a:r>
            <a:r>
              <a:rPr lang="en-GB" dirty="0"/>
              <a:t>("Black");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getCar</a:t>
            </a:r>
            <a:r>
              <a:rPr lang="en-GB" dirty="0"/>
              <a:t>(): Car {</a:t>
            </a:r>
          </a:p>
          <a:p>
            <a:pPr marL="0" indent="0">
              <a:buNone/>
            </a:pPr>
            <a:r>
              <a:rPr lang="en-GB" dirty="0"/>
              <a:t>        return $this-&gt;car;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Director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CarDirector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build(</a:t>
            </a:r>
            <a:r>
              <a:rPr lang="en-GB" dirty="0" err="1"/>
              <a:t>CarBuilder</a:t>
            </a:r>
            <a:r>
              <a:rPr lang="en-GB" dirty="0"/>
              <a:t> $builder): Car {</a:t>
            </a:r>
          </a:p>
          <a:p>
            <a:pPr marL="0" indent="0">
              <a:buNone/>
            </a:pPr>
            <a:r>
              <a:rPr lang="en-GB" dirty="0"/>
              <a:t>        $builder-&gt;</a:t>
            </a:r>
            <a:r>
              <a:rPr lang="en-GB" dirty="0" err="1"/>
              <a:t>buildEngine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$builder-&gt;</a:t>
            </a:r>
            <a:r>
              <a:rPr lang="en-GB" dirty="0" err="1"/>
              <a:t>buildWheels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$builder-&gt;</a:t>
            </a:r>
            <a:r>
              <a:rPr lang="en-GB" dirty="0" err="1"/>
              <a:t>paintColor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return $builder-&gt;</a:t>
            </a:r>
            <a:r>
              <a:rPr lang="en-GB" dirty="0" err="1"/>
              <a:t>getCar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CA31-7300-7005-B51A-0F8162ECF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7744"/>
            <a:ext cx="5181600" cy="59392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sz="4800" dirty="0"/>
          </a:p>
          <a:p>
            <a:pPr marL="0" indent="0">
              <a:buNone/>
            </a:pPr>
            <a:r>
              <a:rPr lang="en-GB" sz="4800" dirty="0"/>
              <a:t>// Client code</a:t>
            </a:r>
          </a:p>
          <a:p>
            <a:pPr marL="0" indent="0">
              <a:buNone/>
            </a:pPr>
            <a:r>
              <a:rPr lang="en-GB" sz="4800" dirty="0"/>
              <a:t>$director = new </a:t>
            </a:r>
            <a:r>
              <a:rPr lang="en-GB" sz="4800" dirty="0" err="1"/>
              <a:t>CarDirector</a:t>
            </a:r>
            <a:r>
              <a:rPr lang="en-GB" sz="4800" dirty="0"/>
              <a:t>();</a:t>
            </a:r>
          </a:p>
          <a:p>
            <a:pPr marL="0" indent="0">
              <a:buNone/>
            </a:pPr>
            <a:endParaRPr lang="en-GB" sz="4800" dirty="0"/>
          </a:p>
          <a:p>
            <a:pPr marL="0" indent="0">
              <a:buNone/>
            </a:pPr>
            <a:r>
              <a:rPr lang="en-GB" sz="4800" dirty="0"/>
              <a:t>$</a:t>
            </a:r>
            <a:r>
              <a:rPr lang="en-GB" sz="4800" dirty="0" err="1"/>
              <a:t>sportsCarBuilder</a:t>
            </a:r>
            <a:r>
              <a:rPr lang="en-GB" sz="4800" dirty="0"/>
              <a:t> = new </a:t>
            </a:r>
            <a:r>
              <a:rPr lang="en-GB" sz="4800" dirty="0" err="1"/>
              <a:t>SportsCarBuilder</a:t>
            </a:r>
            <a:r>
              <a:rPr lang="en-GB" sz="4800" dirty="0"/>
              <a:t>();</a:t>
            </a:r>
          </a:p>
          <a:p>
            <a:pPr marL="0" indent="0">
              <a:buNone/>
            </a:pPr>
            <a:r>
              <a:rPr lang="en-GB" sz="4800" dirty="0"/>
              <a:t>$</a:t>
            </a:r>
            <a:r>
              <a:rPr lang="en-GB" sz="4800" dirty="0" err="1"/>
              <a:t>sportsCar</a:t>
            </a:r>
            <a:r>
              <a:rPr lang="en-GB" sz="4800" dirty="0"/>
              <a:t> = $director-&gt;build($</a:t>
            </a:r>
            <a:r>
              <a:rPr lang="en-GB" sz="4800" dirty="0" err="1"/>
              <a:t>sportsCarBuilder</a:t>
            </a:r>
            <a:r>
              <a:rPr lang="en-GB" sz="4800" dirty="0"/>
              <a:t>);</a:t>
            </a:r>
          </a:p>
          <a:p>
            <a:pPr marL="0" indent="0">
              <a:buNone/>
            </a:pPr>
            <a:r>
              <a:rPr lang="en-GB" sz="4800" dirty="0"/>
              <a:t>$</a:t>
            </a:r>
            <a:r>
              <a:rPr lang="en-GB" sz="4800" dirty="0" err="1"/>
              <a:t>sportsCar</a:t>
            </a:r>
            <a:r>
              <a:rPr lang="en-GB" sz="4800" dirty="0"/>
              <a:t>-&gt;</a:t>
            </a:r>
            <a:r>
              <a:rPr lang="en-GB" sz="4800" dirty="0" err="1"/>
              <a:t>showSpecs</a:t>
            </a:r>
            <a:r>
              <a:rPr lang="en-GB" sz="4800" dirty="0"/>
              <a:t>();</a:t>
            </a:r>
          </a:p>
          <a:p>
            <a:pPr marL="0" indent="0">
              <a:buNone/>
            </a:pPr>
            <a:endParaRPr lang="en-GB" sz="4800" dirty="0"/>
          </a:p>
          <a:p>
            <a:pPr marL="0" indent="0">
              <a:buNone/>
            </a:pPr>
            <a:r>
              <a:rPr lang="en-GB" sz="4800" dirty="0"/>
              <a:t>$</a:t>
            </a:r>
            <a:r>
              <a:rPr lang="en-GB" sz="4800" dirty="0" err="1"/>
              <a:t>suvBuilder</a:t>
            </a:r>
            <a:r>
              <a:rPr lang="en-GB" sz="4800" dirty="0"/>
              <a:t> = new </a:t>
            </a:r>
            <a:r>
              <a:rPr lang="en-GB" sz="4800" dirty="0" err="1"/>
              <a:t>SUVBuilder</a:t>
            </a:r>
            <a:r>
              <a:rPr lang="en-GB" sz="4800" dirty="0"/>
              <a:t>();</a:t>
            </a:r>
          </a:p>
          <a:p>
            <a:pPr marL="0" indent="0">
              <a:buNone/>
            </a:pPr>
            <a:r>
              <a:rPr lang="en-GB" sz="4800" dirty="0"/>
              <a:t>$</a:t>
            </a:r>
            <a:r>
              <a:rPr lang="en-GB" sz="4800" dirty="0" err="1"/>
              <a:t>suv</a:t>
            </a:r>
            <a:r>
              <a:rPr lang="en-GB" sz="4800" dirty="0"/>
              <a:t> = $director-&gt;build($</a:t>
            </a:r>
            <a:r>
              <a:rPr lang="en-GB" sz="4800" dirty="0" err="1"/>
              <a:t>suvBuilder</a:t>
            </a:r>
            <a:r>
              <a:rPr lang="en-GB" sz="4800" dirty="0"/>
              <a:t>);</a:t>
            </a:r>
          </a:p>
          <a:p>
            <a:pPr marL="0" indent="0">
              <a:buNone/>
            </a:pPr>
            <a:r>
              <a:rPr lang="en-GB" sz="4800" dirty="0"/>
              <a:t>$</a:t>
            </a:r>
            <a:r>
              <a:rPr lang="en-GB" sz="4800" dirty="0" err="1"/>
              <a:t>suv</a:t>
            </a:r>
            <a:r>
              <a:rPr lang="en-GB" sz="4800" dirty="0"/>
              <a:t>-&gt;</a:t>
            </a:r>
            <a:r>
              <a:rPr lang="en-GB" sz="4800" dirty="0" err="1"/>
              <a:t>showSpecs</a:t>
            </a:r>
            <a:r>
              <a:rPr lang="en-GB" sz="4800" dirty="0"/>
              <a:t>();</a:t>
            </a:r>
          </a:p>
          <a:p>
            <a:pPr marL="0" indent="0">
              <a:buNone/>
            </a:pPr>
            <a:endParaRPr lang="en-GB" sz="6400" dirty="0"/>
          </a:p>
          <a:p>
            <a:pPr marL="0" indent="0">
              <a:buNone/>
            </a:pPr>
            <a:r>
              <a:rPr lang="en-GB" sz="6400" b="1" dirty="0"/>
              <a:t>🔑 Key Points</a:t>
            </a:r>
            <a:endParaRPr lang="en-GB" sz="6400" dirty="0"/>
          </a:p>
          <a:p>
            <a:pPr lvl="0"/>
            <a:r>
              <a:rPr lang="en-GB" sz="6400" b="1" dirty="0"/>
              <a:t>Product</a:t>
            </a:r>
            <a:r>
              <a:rPr lang="en-GB" sz="6400" dirty="0"/>
              <a:t> → The object being built (Car).</a:t>
            </a:r>
          </a:p>
          <a:p>
            <a:pPr lvl="0"/>
            <a:r>
              <a:rPr lang="en-GB" sz="6400" b="1" dirty="0"/>
              <a:t>Builder interface</a:t>
            </a:r>
            <a:r>
              <a:rPr lang="en-GB" sz="6400" dirty="0"/>
              <a:t> → Declares steps for building (</a:t>
            </a:r>
            <a:r>
              <a:rPr lang="en-GB" sz="6400" dirty="0" err="1"/>
              <a:t>CarBuilder</a:t>
            </a:r>
            <a:r>
              <a:rPr lang="en-GB" sz="6400" dirty="0"/>
              <a:t>).</a:t>
            </a:r>
          </a:p>
          <a:p>
            <a:pPr lvl="0"/>
            <a:r>
              <a:rPr lang="en-GB" sz="6400" b="1" dirty="0"/>
              <a:t>Concrete Builders</a:t>
            </a:r>
            <a:r>
              <a:rPr lang="en-GB" sz="6400" dirty="0"/>
              <a:t> → Implement steps for specific products (</a:t>
            </a:r>
            <a:r>
              <a:rPr lang="en-GB" sz="6400" dirty="0" err="1"/>
              <a:t>SportsCarBuilder</a:t>
            </a:r>
            <a:r>
              <a:rPr lang="en-GB" sz="6400" dirty="0"/>
              <a:t>, </a:t>
            </a:r>
            <a:r>
              <a:rPr lang="en-GB" sz="6400" dirty="0" err="1"/>
              <a:t>SUVBuilder</a:t>
            </a:r>
            <a:r>
              <a:rPr lang="en-GB" sz="6400" dirty="0"/>
              <a:t>).</a:t>
            </a:r>
          </a:p>
          <a:p>
            <a:pPr lvl="0"/>
            <a:r>
              <a:rPr lang="en-GB" sz="6400" b="1" dirty="0"/>
              <a:t>Director</a:t>
            </a:r>
            <a:r>
              <a:rPr lang="en-GB" sz="6400" dirty="0"/>
              <a:t> → Controls the construction process (</a:t>
            </a:r>
            <a:r>
              <a:rPr lang="en-GB" sz="6400" dirty="0" err="1"/>
              <a:t>CarDirector</a:t>
            </a:r>
            <a:r>
              <a:rPr lang="en-GB" sz="6400" dirty="0"/>
              <a:t>).</a:t>
            </a:r>
          </a:p>
          <a:p>
            <a:pPr lvl="0"/>
            <a:r>
              <a:rPr lang="en-GB" sz="6400" b="1" dirty="0"/>
              <a:t>Client code</a:t>
            </a:r>
            <a:r>
              <a:rPr lang="en-GB" sz="6400" dirty="0"/>
              <a:t> → Requests a car without worrying about the details of construction.</a:t>
            </a:r>
          </a:p>
          <a:p>
            <a:pPr marL="0" indent="0">
              <a:buNone/>
            </a:pPr>
            <a:endParaRPr lang="en-GB" sz="6400" dirty="0"/>
          </a:p>
        </p:txBody>
      </p:sp>
    </p:spTree>
    <p:extLst>
      <p:ext uri="{BB962C8B-B14F-4D97-AF65-F5344CB8AC3E}">
        <p14:creationId xmlns:p14="http://schemas.microsoft.com/office/powerpoint/2010/main" val="566648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D856-64A4-2D5F-4D11-CB6FD28B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Prototype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88CB-F382-6FCE-67CC-B1688D6FC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Prototype</a:t>
            </a:r>
            <a:r>
              <a:rPr lang="en-GB" dirty="0"/>
              <a:t> pattern is a </a:t>
            </a:r>
            <a:r>
              <a:rPr lang="en-GB" b="1" dirty="0"/>
              <a:t>creational design pattern</a:t>
            </a:r>
            <a:r>
              <a:rPr lang="en-GB" dirty="0"/>
              <a:t> that allows you to create new objects by cloning existing ones. </a:t>
            </a:r>
          </a:p>
          <a:p>
            <a:r>
              <a:rPr lang="en-GB" dirty="0"/>
              <a:t>Instead of instantiating classes directly, you copy a prototype instance. </a:t>
            </a:r>
          </a:p>
          <a:p>
            <a:r>
              <a:rPr lang="en-GB" dirty="0"/>
              <a:t>This is especially useful when object creation is costly or complex.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7940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F0F7-C285-7F64-3E08-48F8DD30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🔑 Key Points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472B-7CDB-1555-EA5A-F584B2BFF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531096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GB" b="1" dirty="0"/>
              <a:t>Prototype interface</a:t>
            </a:r>
            <a:r>
              <a:rPr lang="en-GB" dirty="0"/>
              <a:t> → Declares the clone() method.</a:t>
            </a:r>
          </a:p>
          <a:p>
            <a:pPr lvl="0"/>
            <a:r>
              <a:rPr lang="en-GB" b="1" dirty="0"/>
              <a:t>Concrete Prototypes</a:t>
            </a:r>
            <a:r>
              <a:rPr lang="en-GB" dirty="0"/>
              <a:t> → Implement cloning (Circle, Rectangle).</a:t>
            </a:r>
          </a:p>
          <a:p>
            <a:pPr lvl="0"/>
            <a:r>
              <a:rPr lang="en-GB" b="1" dirty="0"/>
              <a:t>Client code</a:t>
            </a:r>
            <a:r>
              <a:rPr lang="en-GB" dirty="0"/>
              <a:t> → Creates new objects by cloning instead of instantiating.</a:t>
            </a:r>
          </a:p>
          <a:p>
            <a:r>
              <a:rPr lang="en-GB" dirty="0"/>
              <a:t>Useful when object creation is </a:t>
            </a:r>
            <a:r>
              <a:rPr lang="en-GB" b="1" dirty="0"/>
              <a:t>expensive</a:t>
            </a:r>
            <a:r>
              <a:rPr lang="en-GB" dirty="0"/>
              <a:t> (e.g., database connections, large configurations) or when you need </a:t>
            </a:r>
            <a:r>
              <a:rPr lang="en-GB" b="1" dirty="0"/>
              <a:t>many similar objects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This pattern is often used in </a:t>
            </a:r>
            <a:r>
              <a:rPr lang="en-GB" b="1" dirty="0"/>
              <a:t>graphics editors, game development, or configuration systems</a:t>
            </a:r>
            <a:r>
              <a:rPr lang="en-GB" dirty="0"/>
              <a:t> where duplicating complex objects is more efficient than rebuilding them.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15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BF2FA1-D014-3779-AC7F-13259F8E1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-64008"/>
            <a:ext cx="5181600" cy="624097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Prototype interface</a:t>
            </a:r>
          </a:p>
          <a:p>
            <a:pPr marL="0" indent="0">
              <a:buNone/>
            </a:pPr>
            <a:r>
              <a:rPr lang="en-GB" dirty="0"/>
              <a:t>interface Prototype {</a:t>
            </a:r>
          </a:p>
          <a:p>
            <a:pPr marL="0" indent="0">
              <a:buNone/>
            </a:pPr>
            <a:r>
              <a:rPr lang="en-GB" dirty="0"/>
              <a:t>    public function clone(): Prototype;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// Concrete Prototype: Circle</a:t>
            </a:r>
          </a:p>
          <a:p>
            <a:pPr marL="0" indent="0">
              <a:buNone/>
            </a:pPr>
            <a:r>
              <a:rPr lang="en-GB" dirty="0"/>
              <a:t>class Circle implements Prototype {</a:t>
            </a:r>
          </a:p>
          <a:p>
            <a:pPr marL="0" indent="0">
              <a:buNone/>
            </a:pPr>
            <a:r>
              <a:rPr lang="en-GB" dirty="0"/>
              <a:t>    private $radius;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__construct($radius) {</a:t>
            </a:r>
          </a:p>
          <a:p>
            <a:pPr marL="0" indent="0">
              <a:buNone/>
            </a:pPr>
            <a:r>
              <a:rPr lang="en-GB" dirty="0"/>
              <a:t>        $this-&gt;radius = $radius;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setRadius</a:t>
            </a:r>
            <a:r>
              <a:rPr lang="en-GB" dirty="0"/>
              <a:t>($radius) {</a:t>
            </a:r>
          </a:p>
          <a:p>
            <a:pPr marL="0" indent="0">
              <a:buNone/>
            </a:pPr>
            <a:r>
              <a:rPr lang="en-GB" dirty="0"/>
              <a:t>        $this-&gt;radius = $radius;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getRadius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return $this-&gt;radius;</a:t>
            </a:r>
          </a:p>
          <a:p>
            <a:pPr marL="0" indent="0">
              <a:buNone/>
            </a:pP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    public function clone(): Prototype {</a:t>
            </a:r>
          </a:p>
          <a:p>
            <a:pPr marL="0" indent="0">
              <a:buNone/>
            </a:pPr>
            <a:r>
              <a:rPr lang="en-GB" dirty="0"/>
              <a:t>        return new Circle($this-&gt;radius);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8221F-53AD-AC26-4B22-1C7BF25AA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480"/>
            <a:ext cx="5181600" cy="576548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GB" dirty="0"/>
              <a:t> 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// Concrete Prototype: Rectangle</a:t>
            </a:r>
          </a:p>
          <a:p>
            <a:pPr marL="0" indent="0">
              <a:buNone/>
            </a:pPr>
            <a:r>
              <a:rPr lang="en-GB" dirty="0"/>
              <a:t>class Rectangle implements Prototype {</a:t>
            </a:r>
          </a:p>
          <a:p>
            <a:pPr marL="0" indent="0">
              <a:buNone/>
            </a:pPr>
            <a:r>
              <a:rPr lang="en-GB" dirty="0"/>
              <a:t>    private $width;</a:t>
            </a:r>
          </a:p>
          <a:p>
            <a:pPr marL="0" indent="0">
              <a:buNone/>
            </a:pPr>
            <a:r>
              <a:rPr lang="en-GB" dirty="0"/>
              <a:t>    private $height;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__construct($width, $height) {</a:t>
            </a:r>
          </a:p>
          <a:p>
            <a:pPr marL="0" indent="0">
              <a:buNone/>
            </a:pPr>
            <a:r>
              <a:rPr lang="en-GB" dirty="0"/>
              <a:t>        $this-&gt;width = $width;</a:t>
            </a:r>
          </a:p>
          <a:p>
            <a:pPr marL="0" indent="0">
              <a:buNone/>
            </a:pPr>
            <a:r>
              <a:rPr lang="en-GB" dirty="0"/>
              <a:t>        $this-&gt;height = $height;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br>
              <a:rPr lang="en-GB" dirty="0"/>
            </a:br>
            <a:br>
              <a:rPr lang="en-GB" dirty="0"/>
            </a:br>
            <a:r>
              <a:rPr lang="en-GB" dirty="0"/>
              <a:t>public function </a:t>
            </a:r>
            <a:r>
              <a:rPr lang="en-GB" dirty="0" err="1"/>
              <a:t>setDimensions</a:t>
            </a:r>
            <a:r>
              <a:rPr lang="en-GB" dirty="0"/>
              <a:t>($width, $height) {</a:t>
            </a:r>
          </a:p>
          <a:p>
            <a:pPr marL="0" indent="0">
              <a:buNone/>
            </a:pPr>
            <a:r>
              <a:rPr lang="en-GB" dirty="0"/>
              <a:t>        $this-&gt;width = $width;</a:t>
            </a:r>
          </a:p>
          <a:p>
            <a:pPr marL="0" indent="0">
              <a:buNone/>
            </a:pPr>
            <a:r>
              <a:rPr lang="en-GB" dirty="0"/>
              <a:t>        $this-&gt;height = $height;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getDimensions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return [$this-&gt;width, $this-&gt;height];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clone(): Prototype {</a:t>
            </a:r>
          </a:p>
          <a:p>
            <a:pPr marL="0" indent="0">
              <a:buNone/>
            </a:pPr>
            <a:r>
              <a:rPr lang="en-GB" dirty="0"/>
              <a:t>        return new Rectangle($this-&gt;width, $this-&gt;height);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6329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8725-5ED6-A5BC-6E89-15ED5C83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4B262-F45D-6710-5F70-67501C60A3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// Client code</a:t>
            </a:r>
          </a:p>
          <a:p>
            <a:pPr marL="0" indent="0">
              <a:buNone/>
            </a:pPr>
            <a:r>
              <a:rPr lang="en-GB" dirty="0"/>
              <a:t>$circle1 = new Circle(10);</a:t>
            </a:r>
          </a:p>
          <a:p>
            <a:pPr marL="0" indent="0">
              <a:buNone/>
            </a:pPr>
            <a:r>
              <a:rPr lang="en-GB" dirty="0"/>
              <a:t>$circle2 = $circle1-&gt;clone();</a:t>
            </a:r>
          </a:p>
          <a:p>
            <a:pPr marL="0" indent="0">
              <a:buNone/>
            </a:pPr>
            <a:r>
              <a:rPr lang="en-GB" dirty="0"/>
              <a:t>$circle2-&gt;</a:t>
            </a:r>
            <a:r>
              <a:rPr lang="en-GB" dirty="0" err="1"/>
              <a:t>setRadius</a:t>
            </a:r>
            <a:r>
              <a:rPr lang="en-GB" dirty="0"/>
              <a:t>(20);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echo "Circle1 radius: " . $circle1-&gt;</a:t>
            </a:r>
            <a:r>
              <a:rPr lang="en-GB" dirty="0" err="1"/>
              <a:t>getRadius</a:t>
            </a:r>
            <a:r>
              <a:rPr lang="en-GB" dirty="0"/>
              <a:t>() . PHP_EOL;</a:t>
            </a:r>
          </a:p>
          <a:p>
            <a:pPr marL="0" indent="0">
              <a:buNone/>
            </a:pPr>
            <a:r>
              <a:rPr lang="en-GB" dirty="0"/>
              <a:t>echo "Circle2 radius: " . $circle2-&gt;</a:t>
            </a:r>
            <a:r>
              <a:rPr lang="en-GB" dirty="0" err="1"/>
              <a:t>getRadius</a:t>
            </a:r>
            <a:r>
              <a:rPr lang="en-GB" dirty="0"/>
              <a:t>() . PHP_EOL;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$rect1 = new Rectangle(5, 10);</a:t>
            </a:r>
          </a:p>
          <a:p>
            <a:pPr marL="0" indent="0">
              <a:buNone/>
            </a:pPr>
            <a:r>
              <a:rPr lang="en-GB" dirty="0"/>
              <a:t>$rect2 = $rect1-&gt;clone();</a:t>
            </a:r>
          </a:p>
          <a:p>
            <a:pPr marL="0" indent="0">
              <a:buNone/>
            </a:pPr>
            <a:r>
              <a:rPr lang="en-GB" dirty="0"/>
              <a:t>$rect2-&gt;</a:t>
            </a:r>
            <a:r>
              <a:rPr lang="en-GB" dirty="0" err="1"/>
              <a:t>setDimensions</a:t>
            </a:r>
            <a:r>
              <a:rPr lang="en-GB" dirty="0"/>
              <a:t>(20, 40);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list($w1, $h1) = $rect1-&gt;</a:t>
            </a:r>
            <a:r>
              <a:rPr lang="en-GB" dirty="0" err="1"/>
              <a:t>getDimensions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list($w2, $h2) = $rect2-&gt;</a:t>
            </a:r>
            <a:r>
              <a:rPr lang="en-GB" dirty="0" err="1"/>
              <a:t>getDimensions</a:t>
            </a:r>
            <a:r>
              <a:rPr lang="en-GB" dirty="0"/>
              <a:t>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echo "Rectangle1 dimensions: {$w1}x{$h1}" . PHP_EOL;</a:t>
            </a:r>
          </a:p>
          <a:p>
            <a:pPr marL="0" indent="0">
              <a:buNone/>
            </a:pPr>
            <a:r>
              <a:rPr lang="en-GB" dirty="0"/>
              <a:t>echo "Rectangle2 dimensions: {$w2}x{$h2}" . PHP_EOL;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D4C54-443F-AC4C-7FEA-0713310973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947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017C9-BB07-B092-6E46-FA1ED71C4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BEB9-318C-1AAA-6A08-C3BDC593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Structural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6A71-B26C-7068-E3B1-18F1B778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These focus on object composition.</a:t>
            </a:r>
          </a:p>
          <a:p>
            <a:r>
              <a:rPr lang="en-GB" dirty="0"/>
              <a:t>These patterns explain how to assemble objects and classes into larger structures while keeping them flexible and efficient. </a:t>
            </a:r>
          </a:p>
          <a:p>
            <a:r>
              <a:rPr lang="en-GB" dirty="0"/>
              <a:t>They focus on object composition, defining ways to add new functionality. </a:t>
            </a:r>
          </a:p>
          <a:p>
            <a:pPr lvl="1"/>
            <a:r>
              <a:rPr lang="en-GB" dirty="0"/>
              <a:t>Adapter Bridges incompatible interfaces.</a:t>
            </a:r>
          </a:p>
          <a:p>
            <a:pPr lvl="1"/>
            <a:r>
              <a:rPr lang="en-GB" dirty="0"/>
              <a:t>Decorator Adds </a:t>
            </a:r>
            <a:r>
              <a:rPr lang="en-GB" dirty="0" err="1"/>
              <a:t>behavior</a:t>
            </a:r>
            <a:r>
              <a:rPr lang="en-GB" dirty="0"/>
              <a:t> dynamically without altering the original class.</a:t>
            </a:r>
          </a:p>
          <a:p>
            <a:pPr lvl="1"/>
            <a:r>
              <a:rPr lang="en-GB" dirty="0"/>
              <a:t>Composite Treats individual objects and compositions uniformly.</a:t>
            </a:r>
          </a:p>
          <a:p>
            <a:pPr lvl="1"/>
            <a:r>
              <a:rPr lang="en-GB" dirty="0"/>
              <a:t>Facade Provides a simplified interface to complex subsystems.</a:t>
            </a:r>
          </a:p>
          <a:p>
            <a:pPr lvl="1"/>
            <a:r>
              <a:rPr lang="en-GB" dirty="0"/>
              <a:t>Proxy Controls access to another object.</a:t>
            </a:r>
          </a:p>
          <a:p>
            <a:pPr marL="457200" lvl="1" indent="0">
              <a:buNone/>
            </a:pPr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7574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317A-D820-8DCD-FF76-7C890F72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Adapter pattern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BA82-F778-827C-C662-4116192D0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a structural design pattern used to make two incompatible interfaces work together.</a:t>
            </a:r>
          </a:p>
          <a:p>
            <a:r>
              <a:rPr lang="en-GB" dirty="0"/>
              <a:t> In PHP, it acts as a "wrapper" that translates the interface of an existing class (the </a:t>
            </a:r>
            <a:r>
              <a:rPr lang="en-GB" b="1" dirty="0" err="1"/>
              <a:t>Adaptee</a:t>
            </a:r>
            <a:r>
              <a:rPr lang="en-GB" dirty="0"/>
              <a:t>) into another interface that a client expects </a:t>
            </a:r>
          </a:p>
          <a:p>
            <a:r>
              <a:rPr lang="en-GB" dirty="0"/>
              <a:t>It is  a structural design pattern that lets incompatible classes work together by acting as a bridge. </a:t>
            </a:r>
          </a:p>
          <a:p>
            <a:r>
              <a:rPr lang="en-GB" dirty="0"/>
              <a:t>It’s often used to integrate legacy code or third-party libraries with modern interfaces.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9282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C132-827D-14C5-DA00-9CE27A46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Use It?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089A7-7062-2058-1C4F-8A0C4AC90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Integration: Connect your code with third-party libraries or legacy systems without modifying their original source code.</a:t>
            </a:r>
          </a:p>
          <a:p>
            <a:endParaRPr lang="en-GB" dirty="0"/>
          </a:p>
          <a:p>
            <a:r>
              <a:rPr lang="en-GB" dirty="0"/>
              <a:t>Decoupling: Keeps your application logic separate from the specific implementation details of external services.</a:t>
            </a:r>
          </a:p>
          <a:p>
            <a:endParaRPr lang="en-GB" dirty="0"/>
          </a:p>
          <a:p>
            <a:r>
              <a:rPr lang="en-GB" dirty="0"/>
              <a:t>Reusability: Allows you to reuse existing classes even if their method names or parameters don't match your new system's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712967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4D09-3FF8-922F-405B-78ECF7CF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Core Components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A328B-1884-FEDF-75A5-B0149AD5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Target Interface:</a:t>
            </a:r>
            <a:r>
              <a:rPr lang="en-GB" dirty="0"/>
              <a:t> The set of methods your client code uses.</a:t>
            </a:r>
          </a:p>
          <a:p>
            <a:r>
              <a:rPr lang="en-GB" b="1" dirty="0" err="1"/>
              <a:t>Adaptee</a:t>
            </a:r>
            <a:r>
              <a:rPr lang="en-GB" b="1" dirty="0"/>
              <a:t>:</a:t>
            </a:r>
            <a:r>
              <a:rPr lang="en-GB" dirty="0"/>
              <a:t> The existing class with the incompatible interface.</a:t>
            </a:r>
          </a:p>
          <a:p>
            <a:r>
              <a:rPr lang="en-GB" b="1" dirty="0"/>
              <a:t>Adapter:</a:t>
            </a:r>
            <a:r>
              <a:rPr lang="en-GB" dirty="0"/>
              <a:t> The middleman class that implements the Target Interface and maps those calls to the </a:t>
            </a:r>
            <a:r>
              <a:rPr lang="en-GB" dirty="0" err="1"/>
              <a:t>Adaptee</a:t>
            </a:r>
            <a:r>
              <a:rPr lang="en-GB" dirty="0"/>
              <a:t>.</a:t>
            </a:r>
          </a:p>
          <a:p>
            <a:r>
              <a:rPr lang="en-GB" b="1" dirty="0"/>
              <a:t>Client:</a:t>
            </a:r>
            <a:r>
              <a:rPr lang="en-GB" dirty="0"/>
              <a:t> The main code that interacts with the Target Interface. </a:t>
            </a:r>
          </a:p>
        </p:txBody>
      </p:sp>
    </p:spTree>
    <p:extLst>
      <p:ext uri="{BB962C8B-B14F-4D97-AF65-F5344CB8AC3E}">
        <p14:creationId xmlns:p14="http://schemas.microsoft.com/office/powerpoint/2010/main" val="4143184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8E7FB-79B7-50D1-9DF1-883F20DAD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92608"/>
            <a:ext cx="5181600" cy="58843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dirty="0"/>
              <a:t>In PHP, the most common approach is the </a:t>
            </a:r>
            <a:r>
              <a:rPr lang="en-GB" sz="1400" b="1" dirty="0"/>
              <a:t>Object Adapter</a:t>
            </a:r>
            <a:r>
              <a:rPr lang="en-GB" sz="1400" dirty="0"/>
              <a:t>, which uses composition (storing an instance of the </a:t>
            </a:r>
            <a:r>
              <a:rPr lang="en-GB" sz="1400" dirty="0" err="1"/>
              <a:t>Adaptee</a:t>
            </a:r>
            <a:r>
              <a:rPr lang="en-GB" sz="1400" dirty="0"/>
              <a:t> inside the Adapter) because PHP does not support multiple inheritance. [</a:t>
            </a:r>
            <a:r>
              <a:rPr lang="en-GB" sz="1400" dirty="0">
                <a:hlinkClick r:id="rId2"/>
              </a:rPr>
              <a:t>1</a:t>
            </a:r>
            <a:r>
              <a:rPr lang="en-GB" sz="1400" dirty="0"/>
              <a:t>, </a:t>
            </a:r>
            <a:r>
              <a:rPr lang="en-GB" sz="1400" dirty="0">
                <a:hlinkClick r:id="rId3"/>
              </a:rPr>
              <a:t>2</a:t>
            </a:r>
            <a:r>
              <a:rPr lang="en-GB" sz="1400" dirty="0"/>
              <a:t>]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// 1. The Target Interface your system expects</a:t>
            </a:r>
          </a:p>
          <a:p>
            <a:pPr marL="0" indent="0">
              <a:buNone/>
            </a:pPr>
            <a:r>
              <a:rPr lang="en-GB" sz="1400" dirty="0"/>
              <a:t>interface </a:t>
            </a:r>
            <a:r>
              <a:rPr lang="en-GB" sz="1400" dirty="0" err="1"/>
              <a:t>PaymentProcessor</a:t>
            </a:r>
            <a:r>
              <a:rPr lang="en-GB" sz="1400" dirty="0"/>
              <a:t> {</a:t>
            </a:r>
          </a:p>
          <a:p>
            <a:pPr marL="0" indent="0">
              <a:buNone/>
            </a:pPr>
            <a:r>
              <a:rPr lang="en-GB" sz="1400" dirty="0"/>
              <a:t>    public function pay(float $amount): void;</a:t>
            </a:r>
          </a:p>
          <a:p>
            <a:pPr marL="0" indent="0">
              <a:buNone/>
            </a:pPr>
            <a:r>
              <a:rPr lang="en-GB" sz="1400" dirty="0"/>
              <a:t>}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// 2. The </a:t>
            </a:r>
            <a:r>
              <a:rPr lang="en-GB" sz="1400" dirty="0" err="1"/>
              <a:t>Adaptee</a:t>
            </a:r>
            <a:r>
              <a:rPr lang="en-GB" sz="1400" dirty="0"/>
              <a:t> (Third-party library with a different method)</a:t>
            </a:r>
          </a:p>
          <a:p>
            <a:pPr marL="0" indent="0">
              <a:buNone/>
            </a:pPr>
            <a:r>
              <a:rPr lang="en-GB" sz="1400" dirty="0"/>
              <a:t>class PayPal {</a:t>
            </a:r>
          </a:p>
          <a:p>
            <a:pPr marL="0" indent="0">
              <a:buNone/>
            </a:pPr>
            <a:r>
              <a:rPr lang="en-GB" sz="1400" dirty="0"/>
              <a:t>    public function </a:t>
            </a:r>
            <a:r>
              <a:rPr lang="en-GB" sz="1400" dirty="0" err="1"/>
              <a:t>sendPayment</a:t>
            </a:r>
            <a:r>
              <a:rPr lang="en-GB" sz="1400" dirty="0"/>
              <a:t>($value): void {</a:t>
            </a:r>
          </a:p>
          <a:p>
            <a:pPr marL="0" indent="0">
              <a:buNone/>
            </a:pPr>
            <a:r>
              <a:rPr lang="en-GB" sz="1400" dirty="0"/>
              <a:t>        echo "Paid $value via PayPal.";</a:t>
            </a:r>
          </a:p>
          <a:p>
            <a:pPr marL="0" indent="0">
              <a:buNone/>
            </a:pPr>
            <a:r>
              <a:rPr lang="en-GB" sz="1400" dirty="0"/>
              <a:t>    }</a:t>
            </a:r>
          </a:p>
          <a:p>
            <a:pPr marL="0" indent="0">
              <a:buNone/>
            </a:pPr>
            <a:r>
              <a:rPr lang="en-GB" sz="1400" dirty="0"/>
              <a:t>}</a:t>
            </a:r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81243E-B2CE-F61D-B99A-292278B3B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9728"/>
            <a:ext cx="5181600" cy="60672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200" dirty="0"/>
              <a:t>// 3. The Adapter that bridges the two</a:t>
            </a:r>
          </a:p>
          <a:p>
            <a:pPr marL="0" indent="0">
              <a:buNone/>
            </a:pPr>
            <a:r>
              <a:rPr lang="en-GB" sz="1200" dirty="0"/>
              <a:t>class </a:t>
            </a:r>
            <a:r>
              <a:rPr lang="en-GB" sz="1200" dirty="0" err="1"/>
              <a:t>PayPalAdapter</a:t>
            </a:r>
            <a:r>
              <a:rPr lang="en-GB" sz="1200" dirty="0"/>
              <a:t> implements </a:t>
            </a:r>
            <a:r>
              <a:rPr lang="en-GB" sz="1200" dirty="0" err="1"/>
              <a:t>PaymentProcessor</a:t>
            </a:r>
            <a:r>
              <a:rPr lang="en-GB" sz="1200" dirty="0"/>
              <a:t> {</a:t>
            </a:r>
          </a:p>
          <a:p>
            <a:pPr marL="0" indent="0">
              <a:buNone/>
            </a:pPr>
            <a:r>
              <a:rPr lang="en-GB" sz="1200" dirty="0"/>
              <a:t>    private $</a:t>
            </a:r>
            <a:r>
              <a:rPr lang="en-GB" sz="1200" dirty="0" err="1"/>
              <a:t>paypal</a:t>
            </a:r>
            <a:r>
              <a:rPr lang="en-GB" sz="1200" dirty="0"/>
              <a:t>;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    public function __construct(PayPal $</a:t>
            </a:r>
            <a:r>
              <a:rPr lang="en-GB" sz="1200" dirty="0" err="1"/>
              <a:t>paypal</a:t>
            </a:r>
            <a:r>
              <a:rPr lang="en-GB" sz="1200" dirty="0"/>
              <a:t>) {</a:t>
            </a:r>
          </a:p>
          <a:p>
            <a:pPr marL="0" indent="0">
              <a:buNone/>
            </a:pPr>
            <a:r>
              <a:rPr lang="en-GB" sz="1200" dirty="0"/>
              <a:t>        $this-&gt;</a:t>
            </a:r>
            <a:r>
              <a:rPr lang="en-GB" sz="1200" dirty="0" err="1"/>
              <a:t>paypal</a:t>
            </a:r>
            <a:r>
              <a:rPr lang="en-GB" sz="1200" dirty="0"/>
              <a:t> = $</a:t>
            </a:r>
            <a:r>
              <a:rPr lang="en-GB" sz="1200" dirty="0" err="1"/>
              <a:t>paypal</a:t>
            </a:r>
            <a:r>
              <a:rPr lang="en-GB" sz="1200" dirty="0"/>
              <a:t>;</a:t>
            </a:r>
          </a:p>
          <a:p>
            <a:pPr marL="0" indent="0">
              <a:buNone/>
            </a:pPr>
            <a:r>
              <a:rPr lang="en-GB" sz="1200" dirty="0"/>
              <a:t>    }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    public function pay(float $amount): void {</a:t>
            </a:r>
          </a:p>
          <a:p>
            <a:pPr marL="0" indent="0">
              <a:buNone/>
            </a:pPr>
            <a:r>
              <a:rPr lang="en-GB" sz="1200" dirty="0"/>
              <a:t>        // Translate the call from pay() to </a:t>
            </a:r>
            <a:r>
              <a:rPr lang="en-GB" sz="1200" dirty="0" err="1"/>
              <a:t>sendPayment</a:t>
            </a:r>
            <a:r>
              <a:rPr lang="en-GB" sz="1200" dirty="0"/>
              <a:t>()</a:t>
            </a:r>
          </a:p>
          <a:p>
            <a:pPr marL="0" indent="0">
              <a:buNone/>
            </a:pPr>
            <a:r>
              <a:rPr lang="en-GB" sz="1200" dirty="0"/>
              <a:t>        $this-&gt;</a:t>
            </a:r>
            <a:r>
              <a:rPr lang="en-GB" sz="1200" dirty="0" err="1"/>
              <a:t>paypal</a:t>
            </a:r>
            <a:r>
              <a:rPr lang="en-GB" sz="1200" dirty="0"/>
              <a:t>-&gt;</a:t>
            </a:r>
            <a:r>
              <a:rPr lang="en-GB" sz="1200" dirty="0" err="1"/>
              <a:t>sendPayment</a:t>
            </a:r>
            <a:r>
              <a:rPr lang="en-GB" sz="1200" dirty="0"/>
              <a:t>($amount);</a:t>
            </a:r>
          </a:p>
          <a:p>
            <a:pPr marL="0" indent="0">
              <a:buNone/>
            </a:pPr>
            <a:r>
              <a:rPr lang="en-GB" sz="1200" dirty="0"/>
              <a:t>    }</a:t>
            </a:r>
          </a:p>
          <a:p>
            <a:pPr marL="0" indent="0">
              <a:buNone/>
            </a:pPr>
            <a:r>
              <a:rPr lang="en-GB" sz="1200" dirty="0"/>
              <a:t>}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// 4. Client Code</a:t>
            </a:r>
          </a:p>
          <a:p>
            <a:pPr marL="0" indent="0">
              <a:buNone/>
            </a:pPr>
            <a:r>
              <a:rPr lang="en-GB" sz="1200" dirty="0"/>
              <a:t>$</a:t>
            </a:r>
            <a:r>
              <a:rPr lang="en-GB" sz="1200" dirty="0" err="1"/>
              <a:t>paypal</a:t>
            </a:r>
            <a:r>
              <a:rPr lang="en-GB" sz="1200" dirty="0"/>
              <a:t> = new PayPal();</a:t>
            </a:r>
          </a:p>
          <a:p>
            <a:pPr marL="0" indent="0">
              <a:buNone/>
            </a:pPr>
            <a:r>
              <a:rPr lang="en-GB" sz="1200" dirty="0"/>
              <a:t>$adapter = new </a:t>
            </a:r>
            <a:r>
              <a:rPr lang="en-GB" sz="1200" dirty="0" err="1"/>
              <a:t>PayPalAdapter</a:t>
            </a:r>
            <a:r>
              <a:rPr lang="en-GB" sz="1200" dirty="0"/>
              <a:t>($</a:t>
            </a:r>
            <a:r>
              <a:rPr lang="en-GB" sz="1200" dirty="0" err="1"/>
              <a:t>paypal</a:t>
            </a:r>
            <a:r>
              <a:rPr lang="en-GB" sz="1200" dirty="0"/>
              <a:t>);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// The client uses the 'pay' method it expects, even though PayPal uses '</a:t>
            </a:r>
            <a:r>
              <a:rPr lang="en-GB" sz="1200" dirty="0" err="1"/>
              <a:t>sendPayment</a:t>
            </a:r>
            <a:r>
              <a:rPr lang="en-GB" sz="1200" dirty="0"/>
              <a:t>'</a:t>
            </a:r>
          </a:p>
          <a:p>
            <a:pPr marL="0" indent="0">
              <a:buNone/>
            </a:pPr>
            <a:r>
              <a:rPr lang="en-GB" sz="1200" dirty="0"/>
              <a:t>$adapter-&gt;pay(100.00); 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821973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F97B-FA44-39AD-3756-957815CD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4E419-529D-444F-873B-A779A6FB0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Legacy code integration</a:t>
            </a:r>
            <a:r>
              <a:rPr lang="en-GB" dirty="0"/>
              <a:t> → Wrap old classes to fit new requirements.</a:t>
            </a:r>
          </a:p>
          <a:p>
            <a:pPr lvl="0"/>
            <a:r>
              <a:rPr lang="en-GB" b="1" dirty="0"/>
              <a:t>Third-party libraries</a:t>
            </a:r>
            <a:r>
              <a:rPr lang="en-GB" dirty="0"/>
              <a:t> → Adapt external APIs to your application’s interface.</a:t>
            </a:r>
          </a:p>
          <a:p>
            <a:pPr lvl="0"/>
            <a:r>
              <a:rPr lang="en-GB" b="1" dirty="0"/>
              <a:t>Cross-platform development</a:t>
            </a:r>
            <a:r>
              <a:rPr lang="en-GB" dirty="0"/>
              <a:t> → Bridge differences between platform-specific APIs.</a:t>
            </a:r>
          </a:p>
          <a:p>
            <a:r>
              <a:rPr lang="en-GB" b="1" dirty="0"/>
              <a:t>Testing</a:t>
            </a:r>
            <a:r>
              <a:rPr lang="en-GB" dirty="0"/>
              <a:t> → Create mock adapters for unit testing.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This pattern is especially useful in </a:t>
            </a:r>
            <a:r>
              <a:rPr lang="en-GB" b="1" dirty="0"/>
              <a:t>enterprise PHP applications</a:t>
            </a:r>
            <a:r>
              <a:rPr lang="en-GB" dirty="0"/>
              <a:t> where you need to integrate older modules or external services without rewriting them.</a:t>
            </a:r>
          </a:p>
          <a:p>
            <a:pPr lvl="0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567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3970-D6B9-AE5B-2658-D3A54F1F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Decorator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9F52-6394-19E9-1088-8E4A949C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Decorator</a:t>
            </a:r>
            <a:r>
              <a:rPr lang="en-GB" dirty="0"/>
              <a:t> is a </a:t>
            </a:r>
            <a:r>
              <a:rPr lang="en-GB" b="1" dirty="0"/>
              <a:t>structural design pattern</a:t>
            </a:r>
            <a:r>
              <a:rPr lang="en-GB" dirty="0"/>
              <a:t> that lets you dynamically add responsibilities or </a:t>
            </a:r>
            <a:r>
              <a:rPr lang="en-GB" dirty="0" err="1"/>
              <a:t>behaviors</a:t>
            </a:r>
            <a:r>
              <a:rPr lang="en-GB" dirty="0"/>
              <a:t> to objects without modifying their original code. </a:t>
            </a:r>
          </a:p>
          <a:p>
            <a:r>
              <a:rPr lang="en-GB" dirty="0"/>
              <a:t>Allows you to dynamically add new </a:t>
            </a:r>
            <a:r>
              <a:rPr lang="en-GB" dirty="0" err="1"/>
              <a:t>behaviors</a:t>
            </a:r>
            <a:r>
              <a:rPr lang="en-GB" dirty="0"/>
              <a:t> to an object by "wrapping" it within special wrapper classes. </a:t>
            </a:r>
          </a:p>
          <a:p>
            <a:r>
              <a:rPr lang="en-GB" dirty="0"/>
              <a:t>Instead of relying on rigid class inheritance, it uses </a:t>
            </a:r>
            <a:r>
              <a:rPr lang="en-GB" b="1" dirty="0"/>
              <a:t>composition</a:t>
            </a:r>
            <a:r>
              <a:rPr lang="en-GB" dirty="0"/>
              <a:t> to stack functionalities at runtime. </a:t>
            </a:r>
          </a:p>
          <a:p>
            <a:r>
              <a:rPr lang="en-GB" dirty="0"/>
              <a:t>It’s like wrapping an object with extra functionality.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0650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830B-3284-EAC8-AAC7-DC3100D6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Concepts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CD0C7-C955-F1ED-5624-ED53B0021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Dynamic Extension: You can add or remove responsibilities from an object without affecting other objects of the same class.</a:t>
            </a:r>
          </a:p>
          <a:p>
            <a:r>
              <a:rPr lang="en-GB" dirty="0"/>
              <a:t>Wrapper Objects: A decorator implements the same interface as the object it wraps, allowing it to pass requests to the wrapped object and add its own logic before or after.</a:t>
            </a:r>
          </a:p>
          <a:p>
            <a:r>
              <a:rPr lang="en-GB" dirty="0"/>
              <a:t>Alternative to Subclassing: It prevents "class explosion" where you'd otherwise need a new subclass for every possible combination of features.</a:t>
            </a:r>
          </a:p>
        </p:txBody>
      </p:sp>
    </p:spTree>
    <p:extLst>
      <p:ext uri="{BB962C8B-B14F-4D97-AF65-F5344CB8AC3E}">
        <p14:creationId xmlns:p14="http://schemas.microsoft.com/office/powerpoint/2010/main" val="1751656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9D30-23E2-B70A-E9CC-1883C8C1A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10896"/>
            <a:ext cx="5181600" cy="586606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// 1. The Common Interface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CarService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getCost</a:t>
            </a:r>
            <a:r>
              <a:rPr lang="en-GB" dirty="0"/>
              <a:t>(): int;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getDescription</a:t>
            </a:r>
            <a:r>
              <a:rPr lang="en-GB" dirty="0"/>
              <a:t>(): string;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2. Concrete Component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BasicInspection</a:t>
            </a:r>
            <a:r>
              <a:rPr lang="en-GB" dirty="0"/>
              <a:t> implements </a:t>
            </a:r>
            <a:r>
              <a:rPr lang="en-GB" dirty="0" err="1"/>
              <a:t>CarService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getCost</a:t>
            </a:r>
            <a:r>
              <a:rPr lang="en-GB" dirty="0"/>
              <a:t>(): int { return 25; }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getDescription</a:t>
            </a:r>
            <a:r>
              <a:rPr lang="en-GB" dirty="0"/>
              <a:t>(): string { return "Basic inspection";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3. Decorator Class (implements same interface)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OilChange</a:t>
            </a:r>
            <a:r>
              <a:rPr lang="en-GB" dirty="0"/>
              <a:t> implements </a:t>
            </a:r>
            <a:r>
              <a:rPr lang="en-GB" dirty="0" err="1"/>
              <a:t>CarService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protected $</a:t>
            </a:r>
            <a:r>
              <a:rPr lang="en-GB" dirty="0" err="1"/>
              <a:t>carService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</a:t>
            </a:r>
            <a:r>
              <a:rPr lang="en-GB" dirty="0" err="1"/>
              <a:t>CarService</a:t>
            </a:r>
            <a:r>
              <a:rPr lang="en-GB" dirty="0"/>
              <a:t> $</a:t>
            </a:r>
            <a:r>
              <a:rPr lang="en-GB" dirty="0" err="1"/>
              <a:t>carService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carService</a:t>
            </a:r>
            <a:r>
              <a:rPr lang="en-GB" dirty="0"/>
              <a:t> = $</a:t>
            </a:r>
            <a:r>
              <a:rPr lang="en-GB" dirty="0" err="1"/>
              <a:t>carService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75A47B-EAE0-0E36-C83A-D220B6007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10896"/>
            <a:ext cx="5181600" cy="586606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getCost</a:t>
            </a:r>
            <a:r>
              <a:rPr lang="en-GB" dirty="0"/>
              <a:t>(): int {</a:t>
            </a:r>
          </a:p>
          <a:p>
            <a:pPr marL="0" indent="0">
              <a:buNone/>
            </a:pPr>
            <a:r>
              <a:rPr lang="en-GB" dirty="0"/>
              <a:t>        return 29 + $this-&gt;</a:t>
            </a:r>
            <a:r>
              <a:rPr lang="en-GB" dirty="0" err="1"/>
              <a:t>carService</a:t>
            </a:r>
            <a:r>
              <a:rPr lang="en-GB" dirty="0"/>
              <a:t>-&gt;</a:t>
            </a:r>
            <a:r>
              <a:rPr lang="en-GB" dirty="0" err="1"/>
              <a:t>getCost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getDescription</a:t>
            </a:r>
            <a:r>
              <a:rPr lang="en-GB" dirty="0"/>
              <a:t>(): string {</a:t>
            </a:r>
          </a:p>
          <a:p>
            <a:pPr marL="0" indent="0">
              <a:buNone/>
            </a:pPr>
            <a:r>
              <a:rPr lang="en-GB" dirty="0"/>
              <a:t>        return $this-&gt;</a:t>
            </a:r>
            <a:r>
              <a:rPr lang="en-GB" dirty="0" err="1"/>
              <a:t>carService</a:t>
            </a:r>
            <a:r>
              <a:rPr lang="en-GB" dirty="0"/>
              <a:t>-&gt;</a:t>
            </a:r>
            <a:r>
              <a:rPr lang="en-GB" dirty="0" err="1"/>
              <a:t>getDescription</a:t>
            </a:r>
            <a:r>
              <a:rPr lang="en-GB" dirty="0"/>
              <a:t>() . ", plus oil change";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Usage: Stacking </a:t>
            </a:r>
            <a:r>
              <a:rPr lang="en-GB" dirty="0" err="1"/>
              <a:t>behaviors</a:t>
            </a:r>
            <a:r>
              <a:rPr lang="en-GB" dirty="0"/>
              <a:t> at runtime</a:t>
            </a:r>
          </a:p>
          <a:p>
            <a:pPr marL="0" indent="0">
              <a:buNone/>
            </a:pPr>
            <a:r>
              <a:rPr lang="en-GB" dirty="0"/>
              <a:t>$service = new </a:t>
            </a:r>
            <a:r>
              <a:rPr lang="en-GB" dirty="0" err="1"/>
              <a:t>BasicInspection</a:t>
            </a:r>
            <a:r>
              <a:rPr lang="en-GB" dirty="0"/>
              <a:t>(); // $25</a:t>
            </a:r>
          </a:p>
          <a:p>
            <a:pPr marL="0" indent="0">
              <a:buNone/>
            </a:pPr>
            <a:r>
              <a:rPr lang="en-GB" dirty="0"/>
              <a:t>$service = new </a:t>
            </a:r>
            <a:r>
              <a:rPr lang="en-GB" dirty="0" err="1"/>
              <a:t>OilChange</a:t>
            </a:r>
            <a:r>
              <a:rPr lang="en-GB" dirty="0"/>
              <a:t>($service); // $25 + $29 = $54</a:t>
            </a:r>
          </a:p>
          <a:p>
            <a:pPr marL="0" indent="0">
              <a:buNone/>
            </a:pPr>
            <a:r>
              <a:rPr lang="en-GB" dirty="0"/>
              <a:t>echo $service-&gt;</a:t>
            </a:r>
            <a:r>
              <a:rPr lang="en-GB" dirty="0" err="1"/>
              <a:t>getDescription</a:t>
            </a:r>
            <a:r>
              <a:rPr lang="en-GB" dirty="0"/>
              <a:t>(); // "Basic inspection, plus oil change"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91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285F4-A4AB-F65D-374C-F8607725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Common Use Cases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573A-CB6B-D302-D38F-5BD18781B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Middleware/Logging: Adding logging or authentication checks to a request handler.</a:t>
            </a:r>
          </a:p>
          <a:p>
            <a:r>
              <a:rPr lang="en-GB" dirty="0"/>
              <a:t>UI Formatting: Wrapping text with HTML tags like &lt;b&gt; or &lt;</a:t>
            </a:r>
            <a:r>
              <a:rPr lang="en-GB" dirty="0" err="1"/>
              <a:t>i</a:t>
            </a:r>
            <a:r>
              <a:rPr lang="en-GB" dirty="0"/>
              <a:t>&gt; dynamically.</a:t>
            </a:r>
          </a:p>
          <a:p>
            <a:r>
              <a:rPr lang="en-GB" dirty="0"/>
              <a:t>Pricing Systems: Adding discounts, taxes, or extra service fees to a base price.</a:t>
            </a:r>
          </a:p>
        </p:txBody>
      </p:sp>
    </p:spTree>
    <p:extLst>
      <p:ext uri="{BB962C8B-B14F-4D97-AF65-F5344CB8AC3E}">
        <p14:creationId xmlns:p14="http://schemas.microsoft.com/office/powerpoint/2010/main" val="3450931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256B-D094-8679-7430-618CC0F7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Composite Pattern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660E5-CF9C-1495-A9AD-2F8DD354D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a structural design pattern in PHP used to organize objects into tree-like structures to represent part-whole hierarchies. </a:t>
            </a:r>
          </a:p>
          <a:p>
            <a:r>
              <a:rPr lang="en-GB" dirty="0"/>
              <a:t>It allows you to treat individual objects (</a:t>
            </a:r>
            <a:r>
              <a:rPr lang="en-GB" dirty="0" err="1"/>
              <a:t>leafs</a:t>
            </a:r>
            <a:r>
              <a:rPr lang="en-GB" dirty="0"/>
              <a:t>) and groups of objects (composites) uniformly.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 Key Points</a:t>
            </a:r>
            <a:endParaRPr lang="en-GB" dirty="0"/>
          </a:p>
          <a:p>
            <a:pPr lvl="2"/>
            <a:r>
              <a:rPr lang="en-GB" b="1" dirty="0"/>
              <a:t>Component interface</a:t>
            </a:r>
            <a:r>
              <a:rPr lang="en-GB" dirty="0"/>
              <a:t> → Defines common operations (</a:t>
            </a:r>
            <a:r>
              <a:rPr lang="en-GB" dirty="0" err="1"/>
              <a:t>FileSystemItem</a:t>
            </a:r>
            <a:r>
              <a:rPr lang="en-GB" dirty="0"/>
              <a:t>).</a:t>
            </a:r>
          </a:p>
          <a:p>
            <a:pPr lvl="2"/>
            <a:r>
              <a:rPr lang="en-GB" b="1" dirty="0"/>
              <a:t>Leaf</a:t>
            </a:r>
            <a:r>
              <a:rPr lang="en-GB" dirty="0"/>
              <a:t> → Represents simple objects (File).</a:t>
            </a:r>
          </a:p>
          <a:p>
            <a:pPr lvl="2"/>
            <a:r>
              <a:rPr lang="en-GB" b="1" dirty="0"/>
              <a:t>Composite</a:t>
            </a:r>
            <a:r>
              <a:rPr lang="en-GB" dirty="0"/>
              <a:t> → Represents complex objects that can contain children (Directory).</a:t>
            </a:r>
          </a:p>
          <a:p>
            <a:pPr lvl="2"/>
            <a:r>
              <a:rPr lang="en-GB" b="1" dirty="0"/>
              <a:t>Client code</a:t>
            </a:r>
            <a:r>
              <a:rPr lang="en-GB" dirty="0"/>
              <a:t> → Treats both files and directories uniformly.</a:t>
            </a:r>
          </a:p>
        </p:txBody>
      </p:sp>
    </p:spTree>
    <p:extLst>
      <p:ext uri="{BB962C8B-B14F-4D97-AF65-F5344CB8AC3E}">
        <p14:creationId xmlns:p14="http://schemas.microsoft.com/office/powerpoint/2010/main" val="977095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2AB16-5134-3C45-720C-CC7BD5C6A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29768"/>
            <a:ext cx="5181600" cy="57471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Component interface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FileSystemItem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showName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Leaf</a:t>
            </a:r>
          </a:p>
          <a:p>
            <a:pPr marL="0" indent="0">
              <a:buNone/>
            </a:pPr>
            <a:r>
              <a:rPr lang="en-GB" dirty="0"/>
              <a:t>class File implements </a:t>
            </a:r>
            <a:r>
              <a:rPr lang="en-GB" dirty="0" err="1"/>
              <a:t>FileSystemItem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$name;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__construct(string $name) {</a:t>
            </a:r>
          </a:p>
          <a:p>
            <a:pPr marL="0" indent="0">
              <a:buNone/>
            </a:pPr>
            <a:r>
              <a:rPr lang="en-GB" dirty="0"/>
              <a:t>        $this-&gt;name = $name;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showName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echo "File: " . $this-&gt;name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Composite</a:t>
            </a:r>
          </a:p>
          <a:p>
            <a:pPr marL="0" indent="0">
              <a:buNone/>
            </a:pPr>
            <a:r>
              <a:rPr lang="en-GB" dirty="0"/>
              <a:t>class Directory implements </a:t>
            </a:r>
            <a:r>
              <a:rPr lang="en-GB" dirty="0" err="1"/>
              <a:t>FileSystemItem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$name;</a:t>
            </a:r>
          </a:p>
          <a:p>
            <a:pPr marL="0" indent="0">
              <a:buNone/>
            </a:pPr>
            <a:r>
              <a:rPr lang="en-GB" dirty="0"/>
              <a:t>    private $items = [];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__construct(string $name) {</a:t>
            </a:r>
          </a:p>
          <a:p>
            <a:pPr marL="0" indent="0">
              <a:buNone/>
            </a:pPr>
            <a:r>
              <a:rPr lang="en-GB" dirty="0"/>
              <a:t>        $this-&gt;name = $name;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D695CB-4FA1-87E7-0917-C79F97E6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7840" y="0"/>
            <a:ext cx="5181600" cy="600760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 public function </a:t>
            </a:r>
            <a:r>
              <a:rPr lang="en-GB" dirty="0" err="1"/>
              <a:t>addItem</a:t>
            </a:r>
            <a:r>
              <a:rPr lang="en-GB" dirty="0"/>
              <a:t>(</a:t>
            </a:r>
            <a:r>
              <a:rPr lang="en-GB" dirty="0" err="1"/>
              <a:t>FileSystemItem</a:t>
            </a:r>
            <a:r>
              <a:rPr lang="en-GB" dirty="0"/>
              <a:t> $item) {</a:t>
            </a:r>
          </a:p>
          <a:p>
            <a:pPr marL="0" indent="0">
              <a:buNone/>
            </a:pPr>
            <a:r>
              <a:rPr lang="en-GB" dirty="0"/>
              <a:t>        $this-&gt;items[] = $item;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showName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echo "Directory: " . $this-&gt;name . PHP_EOL;</a:t>
            </a:r>
          </a:p>
          <a:p>
            <a:pPr marL="0" indent="0">
              <a:buNone/>
            </a:pPr>
            <a:r>
              <a:rPr lang="en-GB" dirty="0"/>
              <a:t>        foreach ($this-&gt;items as $item) {</a:t>
            </a:r>
          </a:p>
          <a:p>
            <a:pPr marL="0" indent="0">
              <a:buNone/>
            </a:pPr>
            <a:r>
              <a:rPr lang="en-GB" dirty="0"/>
              <a:t>            $item-&gt;</a:t>
            </a:r>
            <a:r>
              <a:rPr lang="en-GB" dirty="0" err="1"/>
              <a:t>showName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Client code</a:t>
            </a:r>
          </a:p>
          <a:p>
            <a:pPr marL="0" indent="0">
              <a:buNone/>
            </a:pPr>
            <a:r>
              <a:rPr lang="en-GB" dirty="0"/>
              <a:t>$file1 = new File("document.txt");</a:t>
            </a:r>
          </a:p>
          <a:p>
            <a:pPr marL="0" indent="0">
              <a:buNone/>
            </a:pPr>
            <a:r>
              <a:rPr lang="en-GB" dirty="0"/>
              <a:t>$file2 = new File("photo.jpg");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dir</a:t>
            </a:r>
            <a:r>
              <a:rPr lang="en-GB" dirty="0"/>
              <a:t> = new Directory("</a:t>
            </a:r>
            <a:r>
              <a:rPr lang="en-GB" dirty="0" err="1"/>
              <a:t>MyFolder</a:t>
            </a:r>
            <a:r>
              <a:rPr lang="en-GB" dirty="0"/>
              <a:t>");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dir</a:t>
            </a:r>
            <a:r>
              <a:rPr lang="en-GB" dirty="0"/>
              <a:t>-&gt;</a:t>
            </a:r>
            <a:r>
              <a:rPr lang="en-GB" dirty="0" err="1"/>
              <a:t>addItem</a:t>
            </a:r>
            <a:r>
              <a:rPr lang="en-GB" dirty="0"/>
              <a:t>($file1);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dir</a:t>
            </a:r>
            <a:r>
              <a:rPr lang="en-GB" dirty="0"/>
              <a:t>-&gt;</a:t>
            </a:r>
            <a:r>
              <a:rPr lang="en-GB" dirty="0" err="1"/>
              <a:t>addItem</a:t>
            </a:r>
            <a:r>
              <a:rPr lang="en-GB" dirty="0"/>
              <a:t>($file2);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$root = new Directory("Root");</a:t>
            </a:r>
          </a:p>
          <a:p>
            <a:pPr marL="0" indent="0">
              <a:buNone/>
            </a:pPr>
            <a:r>
              <a:rPr lang="en-GB" dirty="0"/>
              <a:t>$root-&gt;</a:t>
            </a:r>
            <a:r>
              <a:rPr lang="en-GB" dirty="0" err="1"/>
              <a:t>addItem</a:t>
            </a:r>
            <a:r>
              <a:rPr lang="en-GB" dirty="0"/>
              <a:t>($</a:t>
            </a:r>
            <a:r>
              <a:rPr lang="en-GB" dirty="0" err="1"/>
              <a:t>dir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$root-&gt;</a:t>
            </a:r>
            <a:r>
              <a:rPr lang="en-GB" dirty="0" err="1"/>
              <a:t>addItem</a:t>
            </a:r>
            <a:r>
              <a:rPr lang="en-GB" dirty="0"/>
              <a:t>(new File("readme.md"));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$root-&gt;</a:t>
            </a:r>
            <a:r>
              <a:rPr lang="en-GB" dirty="0" err="1"/>
              <a:t>showName</a:t>
            </a:r>
            <a:r>
              <a:rPr lang="en-GB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526783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A245-2D5B-7C20-2DFF-7660E1E7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BD938-8781-3618-260B-752D43CD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File systems</a:t>
            </a:r>
            <a:r>
              <a:rPr lang="en-GB" dirty="0"/>
              <a:t> (folders and files).</a:t>
            </a:r>
          </a:p>
          <a:p>
            <a:pPr lvl="0"/>
            <a:r>
              <a:rPr lang="en-GB" b="1" dirty="0"/>
              <a:t>UI hierarchies</a:t>
            </a:r>
            <a:r>
              <a:rPr lang="en-GB" dirty="0"/>
              <a:t> (windows, panels, buttons).</a:t>
            </a:r>
          </a:p>
          <a:p>
            <a:pPr lvl="0"/>
            <a:r>
              <a:rPr lang="en-GB" b="1" dirty="0"/>
              <a:t>Company structures</a:t>
            </a:r>
            <a:r>
              <a:rPr lang="en-GB" dirty="0"/>
              <a:t> (employees, departments).</a:t>
            </a:r>
          </a:p>
          <a:p>
            <a:pPr lvl="0"/>
            <a:r>
              <a:rPr lang="en-GB" b="1" dirty="0"/>
              <a:t>Menus</a:t>
            </a:r>
            <a:r>
              <a:rPr lang="en-GB" dirty="0"/>
              <a:t> (menu items and submenus).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4926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1F9E-71CE-7D0F-5747-844DEA59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Facade Pattern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7C9A-87DC-271D-5A61-D0EE87D4E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</a:t>
            </a:r>
            <a:r>
              <a:rPr lang="en-GB" b="1" dirty="0"/>
              <a:t>Facade</a:t>
            </a:r>
            <a:r>
              <a:rPr lang="en-GB" dirty="0"/>
              <a:t> is a </a:t>
            </a:r>
            <a:r>
              <a:rPr lang="en-GB" b="1" dirty="0"/>
              <a:t>structural design pattern</a:t>
            </a:r>
            <a:r>
              <a:rPr lang="en-GB" dirty="0"/>
              <a:t> that provides a simplified interface to a complex subsystem. </a:t>
            </a:r>
          </a:p>
          <a:p>
            <a:r>
              <a:rPr lang="en-GB" dirty="0"/>
              <a:t>It hides the complexity of multiple classes and exposes a single unified API for the client.</a:t>
            </a:r>
          </a:p>
          <a:p>
            <a:r>
              <a:rPr lang="en-GB" b="1" dirty="0"/>
              <a:t>Why Use It?</a:t>
            </a:r>
          </a:p>
          <a:p>
            <a:pPr lvl="1"/>
            <a:r>
              <a:rPr lang="en-GB" dirty="0"/>
              <a:t>Simplicity: It provides a one-liner for a task that might actually require dozens of lines of setup.</a:t>
            </a:r>
          </a:p>
          <a:p>
            <a:pPr lvl="1"/>
            <a:r>
              <a:rPr lang="en-GB" dirty="0"/>
              <a:t>Decoupling: If you swap your billing provider (e.g., from Stripe to PayPal), you only change code inside the Facade, not everywhere in your app.</a:t>
            </a:r>
          </a:p>
          <a:p>
            <a:pPr lvl="1"/>
            <a:r>
              <a:rPr lang="en-GB" dirty="0"/>
              <a:t>Legacy Code: It’s great for wrapping "ugly" legacy code with a modern, clean interface.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0358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E626-D07E-4BE8-D856-CD2230EF6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"/>
            <a:ext cx="5181600" cy="59483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Processing System</a:t>
            </a:r>
          </a:p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Subsystem classes</a:t>
            </a:r>
          </a:p>
          <a:p>
            <a:pPr marL="0" indent="0">
              <a:buNone/>
            </a:pPr>
            <a:r>
              <a:rPr lang="en-GB" dirty="0"/>
              <a:t>class Inventory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checkStock</a:t>
            </a:r>
            <a:r>
              <a:rPr lang="en-GB" dirty="0"/>
              <a:t>($item) {</a:t>
            </a:r>
          </a:p>
          <a:p>
            <a:pPr marL="0" indent="0">
              <a:buNone/>
            </a:pPr>
            <a:r>
              <a:rPr lang="en-GB" dirty="0"/>
              <a:t>        echo "Checking stock for {$item}..." . PHP_EOL;</a:t>
            </a:r>
          </a:p>
          <a:p>
            <a:pPr marL="0" indent="0">
              <a:buNone/>
            </a:pPr>
            <a:r>
              <a:rPr lang="en-GB" dirty="0"/>
              <a:t>        return true;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Payment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makePayment</a:t>
            </a:r>
            <a:r>
              <a:rPr lang="en-GB" dirty="0"/>
              <a:t>($amount) {</a:t>
            </a:r>
          </a:p>
          <a:p>
            <a:pPr marL="0" indent="0">
              <a:buNone/>
            </a:pPr>
            <a:r>
              <a:rPr lang="en-GB" dirty="0"/>
              <a:t>        echo "Processing payment of \${$amount}..." . PHP_EOL;</a:t>
            </a:r>
          </a:p>
          <a:p>
            <a:pPr marL="0" indent="0">
              <a:buNone/>
            </a:pPr>
            <a:r>
              <a:rPr lang="en-GB" dirty="0"/>
              <a:t>        return true;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Shipping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shipItem</a:t>
            </a:r>
            <a:r>
              <a:rPr lang="en-GB" dirty="0"/>
              <a:t>($item) {</a:t>
            </a:r>
          </a:p>
          <a:p>
            <a:pPr marL="0" indent="0">
              <a:buNone/>
            </a:pPr>
            <a:r>
              <a:rPr lang="en-GB" dirty="0"/>
              <a:t>        echo "Shipping {$item}..." . PHP_EOL;</a:t>
            </a:r>
          </a:p>
          <a:p>
            <a:pPr marL="0" indent="0">
              <a:buNone/>
            </a:pPr>
            <a:r>
              <a:rPr lang="en-GB" dirty="0"/>
              <a:t>        return true;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8E2B59-D26C-9151-FDCA-14148D2B5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1769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// Facade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OrderFacade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$inventory;</a:t>
            </a:r>
          </a:p>
          <a:p>
            <a:pPr marL="0" indent="0">
              <a:buNone/>
            </a:pPr>
            <a:r>
              <a:rPr lang="en-GB" dirty="0"/>
              <a:t>    private $payment;</a:t>
            </a:r>
          </a:p>
          <a:p>
            <a:pPr marL="0" indent="0">
              <a:buNone/>
            </a:pPr>
            <a:r>
              <a:rPr lang="en-GB" dirty="0"/>
              <a:t>    private $shipping;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__construct() {</a:t>
            </a:r>
          </a:p>
          <a:p>
            <a:pPr marL="0" indent="0">
              <a:buNone/>
            </a:pPr>
            <a:r>
              <a:rPr lang="en-GB" dirty="0"/>
              <a:t>        $this-&gt;inventory = new Inventory();</a:t>
            </a:r>
          </a:p>
          <a:p>
            <a:pPr marL="0" indent="0">
              <a:buNone/>
            </a:pPr>
            <a:r>
              <a:rPr lang="en-GB" dirty="0"/>
              <a:t>        $this-&gt;payment   = new Payment();</a:t>
            </a:r>
          </a:p>
          <a:p>
            <a:pPr marL="0" indent="0">
              <a:buNone/>
            </a:pPr>
            <a:r>
              <a:rPr lang="en-GB" dirty="0"/>
              <a:t>        $this-&gt;shipping  = new Shipping();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placeOrder</a:t>
            </a:r>
            <a:r>
              <a:rPr lang="en-GB" dirty="0"/>
              <a:t>($item, $amount) {</a:t>
            </a:r>
          </a:p>
          <a:p>
            <a:pPr marL="0" indent="0">
              <a:buNone/>
            </a:pPr>
            <a:r>
              <a:rPr lang="en-GB" dirty="0"/>
              <a:t>        if ($this-&gt;inventory-&gt;</a:t>
            </a:r>
            <a:r>
              <a:rPr lang="en-GB" dirty="0" err="1"/>
              <a:t>checkStock</a:t>
            </a:r>
            <a:r>
              <a:rPr lang="en-GB" dirty="0"/>
              <a:t>($item)) {</a:t>
            </a:r>
          </a:p>
          <a:p>
            <a:pPr marL="0" indent="0">
              <a:buNone/>
            </a:pPr>
            <a:r>
              <a:rPr lang="en-GB" dirty="0"/>
              <a:t>            if ($this-&gt;payment-&gt;</a:t>
            </a:r>
            <a:r>
              <a:rPr lang="en-GB" dirty="0" err="1"/>
              <a:t>makePayment</a:t>
            </a:r>
            <a:r>
              <a:rPr lang="en-GB" dirty="0"/>
              <a:t>($amount)) {</a:t>
            </a:r>
          </a:p>
          <a:p>
            <a:pPr marL="0" indent="0">
              <a:buNone/>
            </a:pPr>
            <a:r>
              <a:rPr lang="en-GB" dirty="0"/>
              <a:t>                $this-&gt;shipping-&gt;</a:t>
            </a:r>
            <a:r>
              <a:rPr lang="en-GB" dirty="0" err="1"/>
              <a:t>shipItem</a:t>
            </a:r>
            <a:r>
              <a:rPr lang="en-GB" dirty="0"/>
              <a:t>($item);</a:t>
            </a:r>
          </a:p>
          <a:p>
            <a:pPr marL="0" indent="0">
              <a:buNone/>
            </a:pPr>
            <a:r>
              <a:rPr lang="en-GB" dirty="0"/>
              <a:t>                echo "Order placed successfully!" . PHP_EOL;</a:t>
            </a:r>
          </a:p>
          <a:p>
            <a:pPr marL="0" indent="0">
              <a:buNone/>
            </a:pPr>
            <a:r>
              <a:rPr lang="en-GB" dirty="0"/>
              <a:t>            }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Client code</a:t>
            </a:r>
          </a:p>
          <a:p>
            <a:pPr marL="0" indent="0">
              <a:buNone/>
            </a:pPr>
            <a:r>
              <a:rPr lang="en-GB" dirty="0"/>
              <a:t>$order = new </a:t>
            </a:r>
            <a:r>
              <a:rPr lang="en-GB" dirty="0" err="1"/>
              <a:t>OrderFacade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$order-&gt;</a:t>
            </a:r>
            <a:r>
              <a:rPr lang="en-GB" dirty="0" err="1"/>
              <a:t>placeOrder</a:t>
            </a:r>
            <a:r>
              <a:rPr lang="en-GB" dirty="0"/>
              <a:t>("Laptop", 1200);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7314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B0E1-E9C1-3FE8-82BD-02154604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🔑 Key Points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A22B3-1623-35C2-2C6F-46D522160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Subsystem classes</a:t>
            </a:r>
            <a:r>
              <a:rPr lang="en-GB" dirty="0"/>
              <a:t> → Handle individual tasks (Inventory, Payment, Shipping).</a:t>
            </a:r>
          </a:p>
          <a:p>
            <a:pPr lvl="0"/>
            <a:r>
              <a:rPr lang="en-GB" b="1" dirty="0"/>
              <a:t>Facade class</a:t>
            </a:r>
            <a:r>
              <a:rPr lang="en-GB" dirty="0"/>
              <a:t> → Provides a unified interface (</a:t>
            </a:r>
            <a:r>
              <a:rPr lang="en-GB" dirty="0" err="1"/>
              <a:t>OrderFacade</a:t>
            </a:r>
            <a:r>
              <a:rPr lang="en-GB" dirty="0"/>
              <a:t>).</a:t>
            </a:r>
          </a:p>
          <a:p>
            <a:pPr lvl="0"/>
            <a:r>
              <a:rPr lang="en-GB" b="1" dirty="0"/>
              <a:t>Client code</a:t>
            </a:r>
            <a:r>
              <a:rPr lang="en-GB" dirty="0"/>
              <a:t> → Calls the facade instead of dealing with multiple subsystems directly.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652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C419-8B9D-CE7F-568F-588D4C98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D8D17-3526-DA5F-3D46-1AA9B80BB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E-commerce systems</a:t>
            </a:r>
            <a:r>
              <a:rPr lang="en-GB" dirty="0"/>
              <a:t> → Simplify order processing.</a:t>
            </a:r>
          </a:p>
          <a:p>
            <a:pPr lvl="0"/>
            <a:r>
              <a:rPr lang="en-GB" b="1" dirty="0"/>
              <a:t>Database operations</a:t>
            </a:r>
            <a:r>
              <a:rPr lang="en-GB" dirty="0"/>
              <a:t> → Wrap complex queries and transactions.</a:t>
            </a:r>
          </a:p>
          <a:p>
            <a:pPr lvl="0"/>
            <a:r>
              <a:rPr lang="en-GB" b="1" dirty="0"/>
              <a:t>Libraries/frameworks</a:t>
            </a:r>
            <a:r>
              <a:rPr lang="en-GB" dirty="0"/>
              <a:t> → Provide a clean API over complex internals.</a:t>
            </a:r>
          </a:p>
          <a:p>
            <a:pPr lvl="0"/>
            <a:r>
              <a:rPr lang="en-GB" b="1" dirty="0"/>
              <a:t>Legacy systems</a:t>
            </a:r>
            <a:r>
              <a:rPr lang="en-GB" dirty="0"/>
              <a:t> → Hide outdated or complex code behind a modern interface.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pattern is especially useful when you want to </a:t>
            </a:r>
            <a:r>
              <a:rPr lang="en-GB" b="1" dirty="0"/>
              <a:t>reduce coupling</a:t>
            </a:r>
            <a:r>
              <a:rPr lang="en-GB" dirty="0"/>
              <a:t> between client code and complex subsystems, making your application easier to maintain and extend.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2586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82D0-0278-C70F-4130-F3BFF179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Proxy Pattern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1B58D-1BD6-F5D6-41BF-561A36279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It is a </a:t>
            </a:r>
            <a:r>
              <a:rPr lang="en-GB" b="1" dirty="0"/>
              <a:t>structural design pattern</a:t>
            </a:r>
            <a:r>
              <a:rPr lang="en-GB" dirty="0"/>
              <a:t> that provides a surrogate or placeholder for another object to control access to it. </a:t>
            </a:r>
          </a:p>
          <a:p>
            <a:r>
              <a:rPr lang="en-GB" dirty="0"/>
              <a:t>It’s often used for </a:t>
            </a:r>
            <a:r>
              <a:rPr lang="en-GB" b="1" dirty="0"/>
              <a:t>lazy loading, access control, logging, or caching</a:t>
            </a:r>
            <a:r>
              <a:rPr lang="en-GB" dirty="0"/>
              <a:t>.</a:t>
            </a:r>
          </a:p>
          <a:p>
            <a:r>
              <a:rPr lang="en-GB" b="1" dirty="0"/>
              <a:t>Common Use Cases in PHP</a:t>
            </a:r>
          </a:p>
          <a:p>
            <a:pPr lvl="1"/>
            <a:r>
              <a:rPr lang="en-GB" dirty="0"/>
              <a:t>Virtual Proxy (Lazy Loading): Defers the creation of expensive objects (e.g., a heavy database connection or a large file reader) until they are actually needed.</a:t>
            </a:r>
          </a:p>
          <a:p>
            <a:pPr lvl="1"/>
            <a:r>
              <a:rPr lang="en-GB" dirty="0"/>
              <a:t>Protection Proxy: Controls access based on permissions, such as checking if a user has the right to perform a specific action before delegating to the service.</a:t>
            </a:r>
          </a:p>
          <a:p>
            <a:pPr lvl="1"/>
            <a:r>
              <a:rPr lang="en-GB" dirty="0"/>
              <a:t>Cache Proxy: Stores results of expensive operations and returns the cached version for subsequent identical requests.</a:t>
            </a:r>
          </a:p>
          <a:p>
            <a:pPr lvl="1"/>
            <a:r>
              <a:rPr lang="en-GB" dirty="0"/>
              <a:t>Remote Proxy: Provides a local representation for an object that resides in a different address space (e.g., an external API).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1276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D864-72DE-6D01-F7A8-2AF3CFD3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Points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B07E0-A590-B0F4-F599-EBDD54F43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Subject interface</a:t>
            </a:r>
            <a:r>
              <a:rPr lang="en-GB" dirty="0"/>
              <a:t> → Defines the contract (Image).</a:t>
            </a:r>
          </a:p>
          <a:p>
            <a:pPr lvl="0"/>
            <a:r>
              <a:rPr lang="en-GB" b="1" dirty="0"/>
              <a:t>Real Subject</a:t>
            </a:r>
            <a:r>
              <a:rPr lang="en-GB" dirty="0"/>
              <a:t> → Performs the actual work (</a:t>
            </a:r>
            <a:r>
              <a:rPr lang="en-GB" dirty="0" err="1"/>
              <a:t>RealImage</a:t>
            </a:r>
            <a:r>
              <a:rPr lang="en-GB" dirty="0"/>
              <a:t>).</a:t>
            </a:r>
          </a:p>
          <a:p>
            <a:pPr lvl="0"/>
            <a:r>
              <a:rPr lang="en-GB" b="1" dirty="0"/>
              <a:t>Proxy</a:t>
            </a:r>
            <a:r>
              <a:rPr lang="en-GB" dirty="0"/>
              <a:t> → Controls access and adds </a:t>
            </a:r>
            <a:r>
              <a:rPr lang="en-GB" dirty="0" err="1"/>
              <a:t>behavior</a:t>
            </a:r>
            <a:r>
              <a:rPr lang="en-GB" dirty="0"/>
              <a:t> (</a:t>
            </a:r>
            <a:r>
              <a:rPr lang="en-GB" dirty="0" err="1"/>
              <a:t>ProxyImage</a:t>
            </a:r>
            <a:r>
              <a:rPr lang="en-GB" dirty="0"/>
              <a:t>).</a:t>
            </a:r>
          </a:p>
          <a:p>
            <a:pPr lvl="0"/>
            <a:r>
              <a:rPr lang="en-GB" b="1" dirty="0"/>
              <a:t>Client code</a:t>
            </a:r>
            <a:r>
              <a:rPr lang="en-GB" dirty="0"/>
              <a:t> → Works with the proxy as if it were the real object.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69189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09DE59-EF9C-7BA2-A5EC-C71307DAA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7744"/>
            <a:ext cx="5181600" cy="593921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Example: Image Proxy (Lazy Loading)</a:t>
            </a:r>
          </a:p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Subject interface</a:t>
            </a:r>
          </a:p>
          <a:p>
            <a:pPr marL="0" indent="0">
              <a:buNone/>
            </a:pPr>
            <a:r>
              <a:rPr lang="en-GB" dirty="0"/>
              <a:t>interface Image {</a:t>
            </a:r>
          </a:p>
          <a:p>
            <a:pPr marL="0" indent="0">
              <a:buNone/>
            </a:pPr>
            <a:r>
              <a:rPr lang="en-GB" dirty="0"/>
              <a:t>    public function display();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Real Subject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RealImage</a:t>
            </a:r>
            <a:r>
              <a:rPr lang="en-GB" dirty="0"/>
              <a:t> implements Image {</a:t>
            </a:r>
          </a:p>
          <a:p>
            <a:pPr marL="0" indent="0">
              <a:buNone/>
            </a:pPr>
            <a:r>
              <a:rPr lang="en-GB" dirty="0"/>
              <a:t>    private $filename;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__construct(string $filename) {</a:t>
            </a:r>
          </a:p>
          <a:p>
            <a:pPr marL="0" indent="0">
              <a:buNone/>
            </a:pPr>
            <a:r>
              <a:rPr lang="en-GB" dirty="0"/>
              <a:t>        $this-&gt;filename = $filename;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loadFromDisk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private function </a:t>
            </a:r>
            <a:r>
              <a:rPr lang="en-GB" dirty="0" err="1"/>
              <a:t>loadFromDisk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echo "Loading image from disk: {$this-&gt;filename}"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display() {</a:t>
            </a:r>
          </a:p>
          <a:p>
            <a:pPr marL="0" indent="0">
              <a:buNone/>
            </a:pPr>
            <a:r>
              <a:rPr lang="en-GB" dirty="0"/>
              <a:t>        echo "Displaying image: {$this-&gt;filename}" . PHP_EOL;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174CB-7B08-C66C-07FA-9B99CD3F2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1769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Proxy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ProxyImage</a:t>
            </a:r>
            <a:r>
              <a:rPr lang="en-GB" dirty="0"/>
              <a:t> implements Image {</a:t>
            </a:r>
          </a:p>
          <a:p>
            <a:pPr marL="0" indent="0">
              <a:buNone/>
            </a:pPr>
            <a:r>
              <a:rPr lang="en-GB" dirty="0"/>
              <a:t>    private $filename;</a:t>
            </a:r>
          </a:p>
          <a:p>
            <a:pPr marL="0" indent="0">
              <a:buNone/>
            </a:pPr>
            <a:r>
              <a:rPr lang="en-GB" dirty="0"/>
              <a:t>    private $</a:t>
            </a:r>
            <a:r>
              <a:rPr lang="en-GB" dirty="0" err="1"/>
              <a:t>realImage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__construct(string $filename) {</a:t>
            </a:r>
          </a:p>
          <a:p>
            <a:pPr marL="0" indent="0">
              <a:buNone/>
            </a:pPr>
            <a:r>
              <a:rPr lang="en-GB" dirty="0"/>
              <a:t>        $this-&gt;filename = $filename;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display() {</a:t>
            </a:r>
          </a:p>
          <a:p>
            <a:pPr marL="0" indent="0">
              <a:buNone/>
            </a:pPr>
            <a:r>
              <a:rPr lang="en-GB" dirty="0"/>
              <a:t>        if ($this-&gt;</a:t>
            </a:r>
            <a:r>
              <a:rPr lang="en-GB" dirty="0" err="1"/>
              <a:t>realImage</a:t>
            </a:r>
            <a:r>
              <a:rPr lang="en-GB" dirty="0"/>
              <a:t> === null) {</a:t>
            </a:r>
          </a:p>
          <a:p>
            <a:pPr marL="0" indent="0">
              <a:buNone/>
            </a:pPr>
            <a:r>
              <a:rPr lang="en-GB" dirty="0"/>
              <a:t>            $this-&gt;</a:t>
            </a:r>
            <a:r>
              <a:rPr lang="en-GB" dirty="0" err="1"/>
              <a:t>realImage</a:t>
            </a:r>
            <a:r>
              <a:rPr lang="en-GB" dirty="0"/>
              <a:t> = new </a:t>
            </a:r>
            <a:r>
              <a:rPr lang="en-GB" dirty="0" err="1"/>
              <a:t>RealImage</a:t>
            </a:r>
            <a:r>
              <a:rPr lang="en-GB" dirty="0"/>
              <a:t>($this-&gt;filename);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realImage</a:t>
            </a:r>
            <a:r>
              <a:rPr lang="en-GB" dirty="0"/>
              <a:t>-&gt;display();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Client code</a:t>
            </a:r>
          </a:p>
          <a:p>
            <a:pPr marL="0" indent="0">
              <a:buNone/>
            </a:pPr>
            <a:r>
              <a:rPr lang="en-GB" dirty="0"/>
              <a:t>$image1 = new </a:t>
            </a:r>
            <a:r>
              <a:rPr lang="en-GB" dirty="0" err="1"/>
              <a:t>ProxyImage</a:t>
            </a:r>
            <a:r>
              <a:rPr lang="en-GB" dirty="0"/>
              <a:t>("photo1.jpg");</a:t>
            </a:r>
          </a:p>
          <a:p>
            <a:pPr marL="0" indent="0">
              <a:buNone/>
            </a:pPr>
            <a:r>
              <a:rPr lang="en-GB" dirty="0"/>
              <a:t>$image2 = new </a:t>
            </a:r>
            <a:r>
              <a:rPr lang="en-GB" dirty="0" err="1"/>
              <a:t>ProxyImage</a:t>
            </a:r>
            <a:r>
              <a:rPr lang="en-GB" dirty="0"/>
              <a:t>("photo2.jpg");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Images are not loaded until display() is called</a:t>
            </a:r>
          </a:p>
          <a:p>
            <a:pPr marL="0" indent="0">
              <a:buNone/>
            </a:pPr>
            <a:r>
              <a:rPr lang="en-GB" dirty="0"/>
              <a:t>$image1-&gt;display();</a:t>
            </a:r>
          </a:p>
          <a:p>
            <a:pPr marL="0" indent="0">
              <a:buNone/>
            </a:pPr>
            <a:r>
              <a:rPr lang="en-GB" dirty="0"/>
              <a:t>$image2-&gt;display();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76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E76C-B676-8A71-9481-02132766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📌 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B276-3115-3A5F-626B-7E34AEC44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Lazy loading</a:t>
            </a:r>
            <a:r>
              <a:rPr lang="en-GB" dirty="0"/>
              <a:t> → Load heavy resources only when needed.</a:t>
            </a:r>
          </a:p>
          <a:p>
            <a:pPr lvl="0"/>
            <a:r>
              <a:rPr lang="en-GB" b="1" dirty="0"/>
              <a:t>Access control</a:t>
            </a:r>
            <a:r>
              <a:rPr lang="en-GB" dirty="0"/>
              <a:t> → Restrict access to sensitive objects.</a:t>
            </a:r>
          </a:p>
          <a:p>
            <a:pPr lvl="0"/>
            <a:r>
              <a:rPr lang="en-GB" b="1" dirty="0"/>
              <a:t>Remote proxy</a:t>
            </a:r>
            <a:r>
              <a:rPr lang="en-GB" dirty="0"/>
              <a:t> → Represent objects in different address spaces (e.g., APIs).</a:t>
            </a:r>
          </a:p>
          <a:p>
            <a:r>
              <a:rPr lang="en-GB" b="1" dirty="0"/>
              <a:t>Caching/logging</a:t>
            </a:r>
            <a:r>
              <a:rPr lang="en-GB" dirty="0"/>
              <a:t> → Add extra functionality without changing the real object.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This pattern is especially useful in PHP applications when dealing with </a:t>
            </a:r>
            <a:r>
              <a:rPr lang="en-GB" b="1" dirty="0"/>
              <a:t>large files, expensive database queries, or external APIs</a:t>
            </a:r>
            <a:r>
              <a:rPr lang="en-GB" dirty="0"/>
              <a:t> where you don’t want to load or execute until absolutely necessary.</a:t>
            </a:r>
          </a:p>
          <a:p>
            <a:pPr lvl="0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49441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792B-35D2-C042-EC05-BFEC8A29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🔄 </a:t>
            </a:r>
            <a:r>
              <a:rPr lang="en-GB" b="1" dirty="0" err="1"/>
              <a:t>Behavioral</a:t>
            </a:r>
            <a:r>
              <a:rPr lang="en-GB" b="1" dirty="0"/>
              <a:t> Patterns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E847-AA20-B86C-8F96-3FF62FE86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These handle communication between objects.</a:t>
            </a:r>
          </a:p>
          <a:p>
            <a:r>
              <a:rPr lang="en-GB" dirty="0"/>
              <a:t>They decouple interacting components to increase system flexibility, reusability, and maintainability. </a:t>
            </a:r>
          </a:p>
          <a:p>
            <a:r>
              <a:rPr lang="en-GB" dirty="0"/>
              <a:t>These patterns simplify complex control flows by establishing clear communication framework.</a:t>
            </a:r>
          </a:p>
          <a:p>
            <a:pPr lvl="1"/>
            <a:r>
              <a:rPr lang="en-GB" b="1" dirty="0"/>
              <a:t>Observer</a:t>
            </a:r>
            <a:r>
              <a:rPr lang="en-GB" dirty="0"/>
              <a:t> Implements publish/subscribe for event handling.</a:t>
            </a:r>
          </a:p>
          <a:p>
            <a:pPr lvl="1"/>
            <a:r>
              <a:rPr lang="en-GB" b="1" dirty="0"/>
              <a:t>Strategy</a:t>
            </a:r>
            <a:r>
              <a:rPr lang="en-GB" dirty="0"/>
              <a:t> Encapsulates interchangeable algorithms.</a:t>
            </a:r>
          </a:p>
          <a:p>
            <a:pPr lvl="1"/>
            <a:r>
              <a:rPr lang="en-GB" b="1" dirty="0"/>
              <a:t>Command</a:t>
            </a:r>
            <a:r>
              <a:rPr lang="en-GB" dirty="0"/>
              <a:t> Turns requests into objects for queuing/undo.</a:t>
            </a:r>
          </a:p>
          <a:p>
            <a:pPr lvl="1"/>
            <a:r>
              <a:rPr lang="en-GB" b="1" dirty="0"/>
              <a:t>Chain of Responsibility</a:t>
            </a:r>
            <a:r>
              <a:rPr lang="en-GB" dirty="0"/>
              <a:t> Passes requests along a chain of handlers.</a:t>
            </a:r>
          </a:p>
          <a:p>
            <a:pPr lvl="1"/>
            <a:r>
              <a:rPr lang="en-GB" b="1" dirty="0"/>
              <a:t>State</a:t>
            </a:r>
            <a:r>
              <a:rPr lang="en-GB" dirty="0"/>
              <a:t> Alters object </a:t>
            </a:r>
            <a:r>
              <a:rPr lang="en-GB" dirty="0" err="1"/>
              <a:t>behavior</a:t>
            </a:r>
            <a:r>
              <a:rPr lang="en-GB" dirty="0"/>
              <a:t> based on internal state.</a:t>
            </a:r>
          </a:p>
          <a:p>
            <a:pPr lvl="1"/>
            <a:r>
              <a:rPr lang="en-GB" b="1" dirty="0"/>
              <a:t>Iterator</a:t>
            </a:r>
            <a:r>
              <a:rPr lang="en-GB" dirty="0"/>
              <a:t> Provides sequential access to elements.</a:t>
            </a:r>
          </a:p>
          <a:p>
            <a:pPr lvl="1"/>
            <a:r>
              <a:rPr lang="en-GB" b="1" dirty="0"/>
              <a:t>Mediator</a:t>
            </a:r>
            <a:r>
              <a:rPr lang="en-GB" dirty="0"/>
              <a:t> Centralizes complex communication between objects</a:t>
            </a:r>
          </a:p>
        </p:txBody>
      </p:sp>
    </p:spTree>
    <p:extLst>
      <p:ext uri="{BB962C8B-B14F-4D97-AF65-F5344CB8AC3E}">
        <p14:creationId xmlns:p14="http://schemas.microsoft.com/office/powerpoint/2010/main" val="3168805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AF705-91AB-BEA0-FBA6-64C61D63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👀 Observer Pattern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93FBB-B981-3FBD-5B79-64D65ED8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</a:t>
            </a:r>
            <a:r>
              <a:rPr lang="en-GB" b="1" dirty="0"/>
              <a:t>Observer</a:t>
            </a:r>
            <a:r>
              <a:rPr lang="en-GB" dirty="0"/>
              <a:t> is a </a:t>
            </a:r>
            <a:r>
              <a:rPr lang="en-GB" b="1" dirty="0" err="1"/>
              <a:t>behavioral</a:t>
            </a:r>
            <a:r>
              <a:rPr lang="en-GB" b="1" dirty="0"/>
              <a:t> design pattern</a:t>
            </a:r>
            <a:r>
              <a:rPr lang="en-GB" dirty="0"/>
              <a:t> that defines a one‑to‑many relationship: when one object (the </a:t>
            </a:r>
            <a:r>
              <a:rPr lang="en-GB" i="1" dirty="0"/>
              <a:t>subject</a:t>
            </a:r>
            <a:r>
              <a:rPr lang="en-GB" dirty="0"/>
              <a:t>) changes state, all its dependents (</a:t>
            </a:r>
            <a:r>
              <a:rPr lang="en-GB" i="1" dirty="0"/>
              <a:t>observers</a:t>
            </a:r>
            <a:r>
              <a:rPr lang="en-GB" dirty="0"/>
              <a:t>) are notified automatically.</a:t>
            </a:r>
          </a:p>
          <a:p>
            <a:r>
              <a:rPr lang="en-GB" dirty="0"/>
              <a:t>It is used to create a one-to-many relationship where an object (the </a:t>
            </a:r>
            <a:r>
              <a:rPr lang="en-GB" b="1" dirty="0"/>
              <a:t>Subject</a:t>
            </a:r>
            <a:r>
              <a:rPr lang="en-GB" dirty="0"/>
              <a:t>) automatically notifies multiple other objects (</a:t>
            </a:r>
            <a:r>
              <a:rPr lang="en-GB" b="1" dirty="0"/>
              <a:t>Observers</a:t>
            </a:r>
            <a:r>
              <a:rPr lang="en-GB" dirty="0"/>
              <a:t>) when its state changes.</a:t>
            </a:r>
          </a:p>
          <a:p>
            <a:r>
              <a:rPr lang="en-GB" b="1" dirty="0"/>
              <a:t>Core Components</a:t>
            </a:r>
          </a:p>
          <a:p>
            <a:pPr lvl="1"/>
            <a:r>
              <a:rPr lang="en-GB" dirty="0"/>
              <a:t>Subject (Publisher): Maintains a list of observers and provides methods to attach, detach, and notify them.</a:t>
            </a:r>
          </a:p>
          <a:p>
            <a:pPr lvl="1"/>
            <a:r>
              <a:rPr lang="en-GB" dirty="0"/>
              <a:t>Observer (Subscriber): Defines an update method that is called by the Subject to signal a change.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2955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13577-1003-463F-1A35-91D9D7686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5176"/>
            <a:ext cx="5181600" cy="591178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// 1. The Observer (Subscriber)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WelcomeEmailObserver</a:t>
            </a:r>
            <a:r>
              <a:rPr lang="en-GB" dirty="0"/>
              <a:t> implements </a:t>
            </a:r>
            <a:r>
              <a:rPr lang="en-GB" dirty="0" err="1"/>
              <a:t>SplObserver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update(</a:t>
            </a:r>
            <a:r>
              <a:rPr lang="en-GB" dirty="0" err="1"/>
              <a:t>SplSubject</a:t>
            </a:r>
            <a:r>
              <a:rPr lang="en-GB" dirty="0"/>
              <a:t> $subject): void {</a:t>
            </a:r>
          </a:p>
          <a:p>
            <a:pPr marL="0" indent="0">
              <a:buNone/>
            </a:pPr>
            <a:r>
              <a:rPr lang="en-GB" dirty="0"/>
              <a:t>        echo "Welcome email sent to: " . $subject-&gt;</a:t>
            </a:r>
            <a:r>
              <a:rPr lang="en-GB" dirty="0" err="1"/>
              <a:t>getEmail</a:t>
            </a:r>
            <a:r>
              <a:rPr lang="en-GB" dirty="0"/>
              <a:t>() . "\n";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2. The Subject (Publisher)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UserRegistration</a:t>
            </a:r>
            <a:r>
              <a:rPr lang="en-GB" dirty="0"/>
              <a:t> implements </a:t>
            </a:r>
            <a:r>
              <a:rPr lang="en-GB" dirty="0" err="1"/>
              <a:t>SplSubject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</a:t>
            </a:r>
            <a:r>
              <a:rPr lang="en-GB" dirty="0" err="1"/>
              <a:t>SplObjectStorage</a:t>
            </a:r>
            <a:r>
              <a:rPr lang="en-GB" dirty="0"/>
              <a:t> $observers;</a:t>
            </a:r>
          </a:p>
          <a:p>
            <a:pPr marL="0" indent="0">
              <a:buNone/>
            </a:pPr>
            <a:r>
              <a:rPr lang="en-GB" dirty="0"/>
              <a:t>    private string $email;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__construct() {</a:t>
            </a:r>
          </a:p>
          <a:p>
            <a:pPr marL="0" indent="0">
              <a:buNone/>
            </a:pPr>
            <a:r>
              <a:rPr lang="en-GB" dirty="0"/>
              <a:t>        $this-&gt;observers = new </a:t>
            </a:r>
            <a:r>
              <a:rPr lang="en-GB" dirty="0" err="1"/>
              <a:t>SplObjectStorage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attach(</a:t>
            </a:r>
            <a:r>
              <a:rPr lang="en-GB" dirty="0" err="1"/>
              <a:t>SplObserver</a:t>
            </a:r>
            <a:r>
              <a:rPr lang="en-GB" dirty="0"/>
              <a:t> $observer): void {</a:t>
            </a:r>
          </a:p>
          <a:p>
            <a:pPr marL="0" indent="0">
              <a:buNone/>
            </a:pPr>
            <a:r>
              <a:rPr lang="en-GB" dirty="0"/>
              <a:t>        $this-&gt;observers-&gt;attach($observer);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DDC225-579D-2505-437C-257F1659B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-512064"/>
            <a:ext cx="5181600" cy="668902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    public function detach(</a:t>
            </a:r>
            <a:r>
              <a:rPr lang="en-GB" sz="1200" dirty="0" err="1"/>
              <a:t>SplObserver</a:t>
            </a:r>
            <a:r>
              <a:rPr lang="en-GB" sz="1200" dirty="0"/>
              <a:t> $observer): void {</a:t>
            </a:r>
          </a:p>
          <a:p>
            <a:pPr marL="0" indent="0">
              <a:buNone/>
            </a:pPr>
            <a:r>
              <a:rPr lang="en-GB" sz="1200" dirty="0"/>
              <a:t>        $this-&gt;observers-&gt;detach($observer);</a:t>
            </a:r>
          </a:p>
          <a:p>
            <a:pPr marL="0" indent="0">
              <a:buNone/>
            </a:pPr>
            <a:r>
              <a:rPr lang="en-GB" sz="1200" dirty="0"/>
              <a:t>    }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    public function notify(): void {</a:t>
            </a:r>
          </a:p>
          <a:p>
            <a:pPr marL="0" indent="0">
              <a:buNone/>
            </a:pPr>
            <a:r>
              <a:rPr lang="en-GB" sz="1200" dirty="0"/>
              <a:t>        foreach ($this-&gt;observers as $observer) {</a:t>
            </a:r>
          </a:p>
          <a:p>
            <a:pPr marL="0" indent="0">
              <a:buNone/>
            </a:pPr>
            <a:r>
              <a:rPr lang="en-GB" sz="1200" dirty="0"/>
              <a:t>            $observer-&gt;update($this);</a:t>
            </a:r>
          </a:p>
          <a:p>
            <a:pPr marL="0" indent="0">
              <a:buNone/>
            </a:pPr>
            <a:r>
              <a:rPr lang="en-GB" sz="1200" dirty="0"/>
              <a:t>        }</a:t>
            </a:r>
          </a:p>
          <a:p>
            <a:pPr marL="0" indent="0">
              <a:buNone/>
            </a:pPr>
            <a:r>
              <a:rPr lang="en-GB" sz="1200" dirty="0"/>
              <a:t>    }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    public function register(string $email): void {</a:t>
            </a:r>
          </a:p>
          <a:p>
            <a:pPr marL="0" indent="0">
              <a:buNone/>
            </a:pPr>
            <a:r>
              <a:rPr lang="en-GB" sz="1200" dirty="0"/>
              <a:t>        $this-&gt;email = $email;</a:t>
            </a:r>
          </a:p>
          <a:p>
            <a:pPr marL="0" indent="0">
              <a:buNone/>
            </a:pPr>
            <a:r>
              <a:rPr lang="en-GB" sz="1200" dirty="0"/>
              <a:t>        echo "User registered: $email\n";</a:t>
            </a:r>
          </a:p>
          <a:p>
            <a:pPr marL="0" indent="0">
              <a:buNone/>
            </a:pPr>
            <a:r>
              <a:rPr lang="en-GB" sz="1200" dirty="0"/>
              <a:t>        $this-&gt;notify(); // Trigger notifications</a:t>
            </a:r>
          </a:p>
          <a:p>
            <a:pPr marL="0" indent="0">
              <a:buNone/>
            </a:pPr>
            <a:r>
              <a:rPr lang="en-GB" sz="1200" dirty="0"/>
              <a:t>    }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    public function </a:t>
            </a:r>
            <a:r>
              <a:rPr lang="en-GB" sz="1200" dirty="0" err="1"/>
              <a:t>getEmail</a:t>
            </a:r>
            <a:r>
              <a:rPr lang="en-GB" sz="1200" dirty="0"/>
              <a:t>(): string { return $this-&gt;email; }</a:t>
            </a:r>
          </a:p>
          <a:p>
            <a:pPr marL="0" indent="0">
              <a:buNone/>
            </a:pPr>
            <a:r>
              <a:rPr lang="en-GB" sz="1200" dirty="0"/>
              <a:t>}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sz="1200" dirty="0"/>
              <a:t>// 3. Usage</a:t>
            </a:r>
          </a:p>
          <a:p>
            <a:pPr marL="0" indent="0">
              <a:buNone/>
            </a:pPr>
            <a:r>
              <a:rPr lang="en-GB" sz="1200" dirty="0"/>
              <a:t>$registration = new </a:t>
            </a:r>
            <a:r>
              <a:rPr lang="en-GB" sz="1200" dirty="0" err="1"/>
              <a:t>UserRegistration</a:t>
            </a:r>
            <a:r>
              <a:rPr lang="en-GB" sz="1200" dirty="0"/>
              <a:t>();</a:t>
            </a:r>
          </a:p>
          <a:p>
            <a:pPr marL="0" indent="0">
              <a:buNone/>
            </a:pPr>
            <a:r>
              <a:rPr lang="en-GB" sz="1200" dirty="0"/>
              <a:t>$registration-&gt;attach(new </a:t>
            </a:r>
            <a:r>
              <a:rPr lang="en-GB" sz="1200" dirty="0" err="1"/>
              <a:t>WelcomeEmailObserver</a:t>
            </a:r>
            <a:r>
              <a:rPr lang="en-GB" sz="1200" dirty="0"/>
              <a:t>());</a:t>
            </a:r>
          </a:p>
          <a:p>
            <a:pPr marL="0" indent="0">
              <a:buNone/>
            </a:pPr>
            <a:r>
              <a:rPr lang="en-GB" sz="1200" dirty="0"/>
              <a:t>$registration-&gt;register("hello@example.com");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38948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15FE-F4D6-F347-C949-21C5E4A8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📌 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63232-4AF9-E855-FDE0-9CA8959EF3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Event-driven systems</a:t>
            </a:r>
            <a:r>
              <a:rPr lang="en-GB" dirty="0"/>
              <a:t> (publish/subscribe).</a:t>
            </a:r>
          </a:p>
          <a:p>
            <a:pPr lvl="0"/>
            <a:r>
              <a:rPr lang="en-GB" b="1" dirty="0"/>
              <a:t>User interfaces</a:t>
            </a:r>
            <a:r>
              <a:rPr lang="en-GB" dirty="0"/>
              <a:t> (update multiple views when data changes).</a:t>
            </a:r>
          </a:p>
          <a:p>
            <a:pPr lvl="0"/>
            <a:r>
              <a:rPr lang="en-GB" b="1" dirty="0"/>
              <a:t>Messaging apps</a:t>
            </a:r>
            <a:r>
              <a:rPr lang="en-GB" dirty="0"/>
              <a:t> (notify subscribers of new messages).</a:t>
            </a:r>
          </a:p>
          <a:p>
            <a:pPr lvl="0"/>
            <a:r>
              <a:rPr lang="en-GB" b="1" dirty="0"/>
              <a:t>E-commerce</a:t>
            </a:r>
            <a:r>
              <a:rPr lang="en-GB" dirty="0"/>
              <a:t> (notify customers when product stock changes).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BEAFF-9995-072B-0E9C-DD434BA35A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19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E8C0-BC8C-E18B-9D51-B17F303B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Strategy Pattern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7748-FDCF-3D15-C0E9-C5D28985D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a </a:t>
            </a:r>
            <a:r>
              <a:rPr lang="en-GB" b="1" dirty="0" err="1"/>
              <a:t>behavioral</a:t>
            </a:r>
            <a:r>
              <a:rPr lang="en-GB" b="1" dirty="0"/>
              <a:t> design pattern</a:t>
            </a:r>
            <a:r>
              <a:rPr lang="en-GB" dirty="0"/>
              <a:t> that lets you define a family of algorithms, encapsulate each one, and make them interchangeable. </a:t>
            </a:r>
          </a:p>
          <a:p>
            <a:r>
              <a:rPr lang="en-GB" dirty="0"/>
              <a:t>The client can choose which algorithm to use at runtime without changing its code.</a:t>
            </a:r>
          </a:p>
          <a:p>
            <a:r>
              <a:rPr lang="en-GB" dirty="0"/>
              <a:t>It define a family of algorithms, encapsulate each one in a separate class, and make them interchangeable at runtime.</a:t>
            </a:r>
          </a:p>
          <a:p>
            <a:r>
              <a:rPr lang="en-GB" dirty="0"/>
              <a:t> In PHP, this is primarily used to replace large switch or if-else blocks with clean, object-oriented code that is easy to extend.</a:t>
            </a:r>
          </a:p>
        </p:txBody>
      </p:sp>
    </p:spTree>
    <p:extLst>
      <p:ext uri="{BB962C8B-B14F-4D97-AF65-F5344CB8AC3E}">
        <p14:creationId xmlns:p14="http://schemas.microsoft.com/office/powerpoint/2010/main" val="2676519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9EA5A-1A22-3911-2E93-3AF5D40A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Core Components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D2071-AA99-EF57-0C52-058E4871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Strategy Interface: Defines a common contract (method) that all concrete algorithms must follow.</a:t>
            </a:r>
          </a:p>
          <a:p>
            <a:r>
              <a:rPr lang="en-GB" dirty="0"/>
              <a:t>Concrete Strategies: Classes that implement the interface with specific </a:t>
            </a:r>
            <a:r>
              <a:rPr lang="en-GB" dirty="0" err="1"/>
              <a:t>behaviors</a:t>
            </a:r>
            <a:r>
              <a:rPr lang="en-GB" dirty="0"/>
              <a:t> (e.g., </a:t>
            </a:r>
            <a:r>
              <a:rPr lang="en-GB" dirty="0" err="1"/>
              <a:t>CreditCard</a:t>
            </a:r>
            <a:r>
              <a:rPr lang="en-GB" dirty="0"/>
              <a:t>, PayPal, Bitcoin).</a:t>
            </a:r>
          </a:p>
          <a:p>
            <a:r>
              <a:rPr lang="en-GB" dirty="0"/>
              <a:t>Context: The class that maintains a reference to a Strategy object and delegates the task to it.</a:t>
            </a:r>
          </a:p>
          <a:p>
            <a:r>
              <a:rPr lang="en-GB" dirty="0"/>
              <a:t>Client: The code that chooses the specific strategy and passes it to the Context.</a:t>
            </a:r>
          </a:p>
        </p:txBody>
      </p:sp>
    </p:spTree>
    <p:extLst>
      <p:ext uri="{BB962C8B-B14F-4D97-AF65-F5344CB8AC3E}">
        <p14:creationId xmlns:p14="http://schemas.microsoft.com/office/powerpoint/2010/main" val="6693226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59BC04-0C4C-17F6-1E31-04C5E69C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1AE4-93E5-FED2-8FB0-C68FAC5EFA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// 1. Strategy Interface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PaymentStrategy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pay(float $amount): string;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2. Concrete Strategies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PayPalPayment</a:t>
            </a:r>
            <a:r>
              <a:rPr lang="en-GB" dirty="0"/>
              <a:t> implements </a:t>
            </a:r>
            <a:r>
              <a:rPr lang="en-GB" dirty="0" err="1"/>
              <a:t>PaymentStrategy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pay(float $amount): string {</a:t>
            </a:r>
          </a:p>
          <a:p>
            <a:pPr marL="0" indent="0">
              <a:buNone/>
            </a:pPr>
            <a:r>
              <a:rPr lang="en-GB" dirty="0"/>
              <a:t>        return "Paid $amount via PayPal.";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CreditCardPayment</a:t>
            </a:r>
            <a:r>
              <a:rPr lang="en-GB" dirty="0"/>
              <a:t> implements </a:t>
            </a:r>
            <a:r>
              <a:rPr lang="en-GB" dirty="0" err="1"/>
              <a:t>PaymentStrategy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pay(float $amount): string {</a:t>
            </a:r>
          </a:p>
          <a:p>
            <a:pPr marL="0" indent="0">
              <a:buNone/>
            </a:pPr>
            <a:r>
              <a:rPr lang="en-GB" dirty="0"/>
              <a:t>        return "Paid $amount via Credit Card.";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5F9EB9-667F-B647-F158-68D23ECCF0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3. Context Class</a:t>
            </a:r>
          </a:p>
          <a:p>
            <a:pPr marL="0" indent="0">
              <a:buNone/>
            </a:pPr>
            <a:r>
              <a:rPr lang="en-GB" dirty="0"/>
              <a:t>class Checkout {</a:t>
            </a:r>
          </a:p>
          <a:p>
            <a:pPr marL="0" indent="0">
              <a:buNone/>
            </a:pPr>
            <a:r>
              <a:rPr lang="en-GB" dirty="0"/>
              <a:t>    private </a:t>
            </a:r>
            <a:r>
              <a:rPr lang="en-GB" dirty="0" err="1"/>
              <a:t>PaymentStrategy</a:t>
            </a:r>
            <a:r>
              <a:rPr lang="en-GB" dirty="0"/>
              <a:t> $</a:t>
            </a:r>
            <a:r>
              <a:rPr lang="en-GB" dirty="0" err="1"/>
              <a:t>paymentMethod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</a:t>
            </a:r>
            <a:r>
              <a:rPr lang="en-GB" dirty="0" err="1"/>
              <a:t>PaymentStrategy</a:t>
            </a:r>
            <a:r>
              <a:rPr lang="en-GB" dirty="0"/>
              <a:t> $method) {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paymentMethod</a:t>
            </a:r>
            <a:r>
              <a:rPr lang="en-GB" dirty="0"/>
              <a:t> = $method;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process(float $amount) {</a:t>
            </a:r>
          </a:p>
          <a:p>
            <a:pPr marL="0" indent="0">
              <a:buNone/>
            </a:pPr>
            <a:r>
              <a:rPr lang="en-GB" dirty="0"/>
              <a:t>        echo $this-&gt;</a:t>
            </a:r>
            <a:r>
              <a:rPr lang="en-GB" dirty="0" err="1"/>
              <a:t>paymentMethod</a:t>
            </a:r>
            <a:r>
              <a:rPr lang="en-GB" dirty="0"/>
              <a:t>-&gt;pay($amount);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4. Usage (Client)</a:t>
            </a:r>
          </a:p>
          <a:p>
            <a:pPr marL="0" indent="0">
              <a:buNone/>
            </a:pPr>
            <a:r>
              <a:rPr lang="en-GB" dirty="0"/>
              <a:t>$order = new Checkout(new </a:t>
            </a:r>
            <a:r>
              <a:rPr lang="en-GB" dirty="0" err="1"/>
              <a:t>PayPalPayment</a:t>
            </a:r>
            <a:r>
              <a:rPr lang="en-GB" dirty="0"/>
              <a:t>());</a:t>
            </a:r>
          </a:p>
          <a:p>
            <a:pPr marL="0" indent="0">
              <a:buNone/>
            </a:pPr>
            <a:r>
              <a:rPr lang="en-GB" dirty="0"/>
              <a:t>$order-&gt;process(100.50);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873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75E6-0580-129E-D226-2A3BB079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📌 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06D7B-1654-C542-4917-E6A2AA8B0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Payment processing</a:t>
            </a:r>
            <a:r>
              <a:rPr lang="en-GB" dirty="0"/>
              <a:t> → Different gateways (PayPal, Stripe, Bitcoin).</a:t>
            </a:r>
          </a:p>
          <a:p>
            <a:pPr lvl="0"/>
            <a:r>
              <a:rPr lang="en-GB" b="1" dirty="0"/>
              <a:t>Sorting algorithms</a:t>
            </a:r>
            <a:r>
              <a:rPr lang="en-GB" dirty="0"/>
              <a:t> → Switch between quicksort, </a:t>
            </a:r>
            <a:r>
              <a:rPr lang="en-GB" dirty="0" err="1"/>
              <a:t>mergesort</a:t>
            </a:r>
            <a:r>
              <a:rPr lang="en-GB" dirty="0"/>
              <a:t>, etc.</a:t>
            </a:r>
          </a:p>
          <a:p>
            <a:pPr lvl="0"/>
            <a:r>
              <a:rPr lang="en-GB" b="1" dirty="0"/>
              <a:t>Compression algorithms</a:t>
            </a:r>
            <a:r>
              <a:rPr lang="en-GB" dirty="0"/>
              <a:t> → Choose ZIP, RAR, or GZIP.</a:t>
            </a:r>
          </a:p>
          <a:p>
            <a:pPr lvl="0"/>
            <a:r>
              <a:rPr lang="en-GB" b="1" dirty="0"/>
              <a:t>Authentication methods</a:t>
            </a:r>
            <a:r>
              <a:rPr lang="en-GB" dirty="0"/>
              <a:t> → Password, OAuth, biometric.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7113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2FE5-9846-ACCA-A125-F3C4F320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When to Use It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1D924-9679-F201-A11C-655733ACC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Dynamic </a:t>
            </a:r>
            <a:r>
              <a:rPr lang="en-GB" dirty="0" err="1"/>
              <a:t>Behavior</a:t>
            </a:r>
            <a:r>
              <a:rPr lang="en-GB" dirty="0"/>
              <a:t>: You need to switch between different versions of an algorithm at runtime based on user input or state.</a:t>
            </a:r>
          </a:p>
          <a:p>
            <a:r>
              <a:rPr lang="en-GB" dirty="0"/>
              <a:t>Avoiding "Conditional Hell": You have a massive conditional statement that chooses between several variants of the same task.</a:t>
            </a:r>
          </a:p>
          <a:p>
            <a:r>
              <a:rPr lang="en-GB" dirty="0"/>
              <a:t>Adhering to SOLID: It specifically follows the Open/Closed Principle, allowing you to add new strategies (like a new "</a:t>
            </a:r>
            <a:r>
              <a:rPr lang="en-GB" dirty="0" err="1"/>
              <a:t>CryptoPayment</a:t>
            </a:r>
            <a:r>
              <a:rPr lang="en-GB" dirty="0"/>
              <a:t>") without modifying the existing Checkout class.</a:t>
            </a:r>
          </a:p>
        </p:txBody>
      </p:sp>
    </p:spTree>
    <p:extLst>
      <p:ext uri="{BB962C8B-B14F-4D97-AF65-F5344CB8AC3E}">
        <p14:creationId xmlns:p14="http://schemas.microsoft.com/office/powerpoint/2010/main" val="37069148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13DE-5762-41CD-8CE5-4B39954E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Benefits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543A3-5142-AAA9-7455-D1FF41D68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Flexibility: You can swap </a:t>
            </a:r>
            <a:r>
              <a:rPr lang="en-GB" dirty="0" err="1"/>
              <a:t>behaviors</a:t>
            </a:r>
            <a:r>
              <a:rPr lang="en-GB" dirty="0"/>
              <a:t> without changing the code that uses them.</a:t>
            </a:r>
          </a:p>
          <a:p>
            <a:r>
              <a:rPr lang="en-GB" dirty="0"/>
              <a:t>Testability: Each strategy can be tested in isolation.</a:t>
            </a:r>
          </a:p>
          <a:p>
            <a:endParaRPr lang="en-GB" dirty="0"/>
          </a:p>
          <a:p>
            <a:r>
              <a:rPr lang="en-GB" dirty="0"/>
              <a:t>Encapsulation: Details of specific algorithms are hidden from the rest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68376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8A32-4803-7FE5-484D-A3480D9D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Command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DB67-995D-E743-82FA-C21F1C293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 is a </a:t>
            </a:r>
            <a:r>
              <a:rPr lang="en-GB" dirty="0" err="1"/>
              <a:t>behavioral</a:t>
            </a:r>
            <a:r>
              <a:rPr lang="en-GB" dirty="0"/>
              <a:t> design pattern that turns a request or action into a standalone object. </a:t>
            </a:r>
          </a:p>
          <a:p>
            <a:r>
              <a:rPr lang="en-GB" dirty="0"/>
              <a:t>It encapsulates requests as objects, allowing you to queue, log, or undo actions.</a:t>
            </a:r>
          </a:p>
          <a:p>
            <a:r>
              <a:rPr lang="en-GB" b="1" dirty="0"/>
              <a:t> Key Components of Command Pattern</a:t>
            </a:r>
            <a:endParaRPr lang="en-GB" dirty="0"/>
          </a:p>
          <a:p>
            <a:pPr lvl="1"/>
            <a:r>
              <a:rPr lang="en-GB" b="1" dirty="0"/>
              <a:t>Command Interface</a:t>
            </a:r>
            <a:r>
              <a:rPr lang="en-GB" dirty="0"/>
              <a:t>: Declares the execute() method.</a:t>
            </a:r>
          </a:p>
          <a:p>
            <a:pPr lvl="1"/>
            <a:r>
              <a:rPr lang="en-GB" b="1" dirty="0"/>
              <a:t>Concrete Commands</a:t>
            </a:r>
            <a:r>
              <a:rPr lang="en-GB" dirty="0"/>
              <a:t>: Implement the interface and call methods on the receiver.</a:t>
            </a:r>
          </a:p>
          <a:p>
            <a:pPr lvl="1"/>
            <a:r>
              <a:rPr lang="en-GB" b="1" dirty="0"/>
              <a:t>Receiver</a:t>
            </a:r>
            <a:r>
              <a:rPr lang="en-GB" dirty="0"/>
              <a:t>: The actual business logic (e.g., Light).</a:t>
            </a:r>
          </a:p>
          <a:p>
            <a:pPr lvl="1"/>
            <a:r>
              <a:rPr lang="en-GB" b="1" dirty="0"/>
              <a:t>Invoker</a:t>
            </a:r>
            <a:r>
              <a:rPr lang="en-GB" dirty="0"/>
              <a:t>: Stores and executes commands.</a:t>
            </a:r>
          </a:p>
          <a:p>
            <a:pPr lvl="1"/>
            <a:r>
              <a:rPr lang="en-GB" b="1" dirty="0"/>
              <a:t>Client</a:t>
            </a:r>
            <a:r>
              <a:rPr lang="en-GB" dirty="0"/>
              <a:t>: Creates commands and assigns them to the invoker.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6785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BE8C3-0DBF-86FB-3B8C-F4B7C7F0D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024"/>
            <a:ext cx="5181600" cy="598493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&lt;?</a:t>
            </a:r>
            <a:r>
              <a:rPr lang="en-GB" dirty="0" err="1"/>
              <a:t>php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// Command interface</a:t>
            </a:r>
          </a:p>
          <a:p>
            <a:pPr marL="0" indent="0">
              <a:buNone/>
            </a:pPr>
            <a:r>
              <a:rPr lang="en-GB" dirty="0"/>
              <a:t>interface Command {</a:t>
            </a:r>
          </a:p>
          <a:p>
            <a:pPr marL="0" indent="0">
              <a:buNone/>
            </a:pPr>
            <a:r>
              <a:rPr lang="en-GB" dirty="0"/>
              <a:t>    public function execute();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Receiver</a:t>
            </a:r>
          </a:p>
          <a:p>
            <a:pPr marL="0" indent="0">
              <a:buNone/>
            </a:pPr>
            <a:r>
              <a:rPr lang="en-GB" dirty="0"/>
              <a:t>class Light {</a:t>
            </a:r>
          </a:p>
          <a:p>
            <a:pPr marL="0" indent="0">
              <a:buNone/>
            </a:pPr>
            <a:r>
              <a:rPr lang="en-GB" dirty="0"/>
              <a:t>    public function on() {</a:t>
            </a:r>
          </a:p>
          <a:p>
            <a:pPr marL="0" indent="0">
              <a:buNone/>
            </a:pPr>
            <a:r>
              <a:rPr lang="en-GB" dirty="0"/>
              <a:t>        echo "Light is ON\n";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public function off() {</a:t>
            </a:r>
          </a:p>
          <a:p>
            <a:pPr marL="0" indent="0">
              <a:buNone/>
            </a:pPr>
            <a:r>
              <a:rPr lang="en-GB" dirty="0"/>
              <a:t>        echo "Light is OFF\n";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Concrete Commands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LightOnCommand</a:t>
            </a:r>
            <a:r>
              <a:rPr lang="en-GB" dirty="0"/>
              <a:t> implements Command {</a:t>
            </a:r>
          </a:p>
          <a:p>
            <a:pPr marL="0" indent="0">
              <a:buNone/>
            </a:pPr>
            <a:r>
              <a:rPr lang="en-GB" dirty="0"/>
              <a:t>    private $light;</a:t>
            </a:r>
          </a:p>
          <a:p>
            <a:pPr marL="0" indent="0">
              <a:buNone/>
            </a:pPr>
            <a:r>
              <a:rPr lang="en-GB" dirty="0"/>
              <a:t>    public function __construct(Light $light) {</a:t>
            </a:r>
          </a:p>
          <a:p>
            <a:pPr marL="0" indent="0">
              <a:buNone/>
            </a:pPr>
            <a:r>
              <a:rPr lang="en-GB" dirty="0"/>
              <a:t>        $this-&gt;light = $light;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public function execute() {</a:t>
            </a:r>
          </a:p>
          <a:p>
            <a:pPr marL="0" indent="0">
              <a:buNone/>
            </a:pPr>
            <a:r>
              <a:rPr lang="en-GB" dirty="0"/>
              <a:t>        $this-&gt;light-&gt;on();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39E445-D4C9-8342-4CA1-CB805829A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176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LightOffCommand</a:t>
            </a:r>
            <a:r>
              <a:rPr lang="en-GB" dirty="0"/>
              <a:t> implements Command {</a:t>
            </a:r>
          </a:p>
          <a:p>
            <a:pPr marL="0" indent="0">
              <a:buNone/>
            </a:pPr>
            <a:r>
              <a:rPr lang="en-GB" dirty="0"/>
              <a:t>    private $light;</a:t>
            </a:r>
          </a:p>
          <a:p>
            <a:pPr marL="0" indent="0">
              <a:buNone/>
            </a:pPr>
            <a:r>
              <a:rPr lang="en-GB" dirty="0"/>
              <a:t>    public function __construct(Light $light) {</a:t>
            </a:r>
          </a:p>
          <a:p>
            <a:pPr marL="0" indent="0">
              <a:buNone/>
            </a:pPr>
            <a:r>
              <a:rPr lang="en-GB" dirty="0"/>
              <a:t>        $this-&gt;light = $light;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public function execute() {</a:t>
            </a:r>
          </a:p>
          <a:p>
            <a:pPr marL="0" indent="0">
              <a:buNone/>
            </a:pPr>
            <a:r>
              <a:rPr lang="en-GB" dirty="0"/>
              <a:t>        $this-&gt;light-&gt;off();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Invoker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RemoteControl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$command;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setCommand</a:t>
            </a:r>
            <a:r>
              <a:rPr lang="en-GB" dirty="0"/>
              <a:t>(Command $command) {</a:t>
            </a:r>
          </a:p>
          <a:p>
            <a:pPr marL="0" indent="0">
              <a:buNone/>
            </a:pPr>
            <a:r>
              <a:rPr lang="en-GB" dirty="0"/>
              <a:t>        $this-&gt;command = $command;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pressButton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$this-&gt;command-&gt;execute();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Client code</a:t>
            </a:r>
          </a:p>
          <a:p>
            <a:pPr marL="0" indent="0">
              <a:buNone/>
            </a:pPr>
            <a:r>
              <a:rPr lang="en-GB" dirty="0"/>
              <a:t>$light = new Light();</a:t>
            </a:r>
          </a:p>
          <a:p>
            <a:pPr marL="0" indent="0">
              <a:buNone/>
            </a:pPr>
            <a:r>
              <a:rPr lang="en-GB" dirty="0"/>
              <a:t>$remote = new </a:t>
            </a:r>
            <a:r>
              <a:rPr lang="en-GB" dirty="0" err="1"/>
              <a:t>RemoteControl</a:t>
            </a:r>
            <a:r>
              <a:rPr lang="en-GB" dirty="0"/>
              <a:t>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$remote-&gt;</a:t>
            </a:r>
            <a:r>
              <a:rPr lang="en-GB" dirty="0" err="1"/>
              <a:t>setCommand</a:t>
            </a:r>
            <a:r>
              <a:rPr lang="en-GB" dirty="0"/>
              <a:t>(new </a:t>
            </a:r>
            <a:r>
              <a:rPr lang="en-GB" dirty="0" err="1"/>
              <a:t>LightOnCommand</a:t>
            </a:r>
            <a:r>
              <a:rPr lang="en-GB" dirty="0"/>
              <a:t>($light));</a:t>
            </a:r>
          </a:p>
          <a:p>
            <a:pPr marL="0" indent="0">
              <a:buNone/>
            </a:pPr>
            <a:r>
              <a:rPr lang="en-GB" dirty="0"/>
              <a:t>$remote-&gt;</a:t>
            </a:r>
            <a:r>
              <a:rPr lang="en-GB" dirty="0" err="1"/>
              <a:t>pressButton</a:t>
            </a:r>
            <a:r>
              <a:rPr lang="en-GB" dirty="0"/>
              <a:t>(); // Output: Light is 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$remote-&gt;</a:t>
            </a:r>
            <a:r>
              <a:rPr lang="en-GB" dirty="0" err="1"/>
              <a:t>setCommand</a:t>
            </a:r>
            <a:r>
              <a:rPr lang="en-GB" dirty="0"/>
              <a:t>(new </a:t>
            </a:r>
            <a:r>
              <a:rPr lang="en-GB" dirty="0" err="1"/>
              <a:t>LightOffCommand</a:t>
            </a:r>
            <a:r>
              <a:rPr lang="en-GB" dirty="0"/>
              <a:t>($light));</a:t>
            </a:r>
          </a:p>
          <a:p>
            <a:pPr marL="0" indent="0">
              <a:buNone/>
            </a:pPr>
            <a:r>
              <a:rPr lang="en-GB" dirty="0"/>
              <a:t>$remote-&gt;</a:t>
            </a:r>
            <a:r>
              <a:rPr lang="en-GB" dirty="0" err="1"/>
              <a:t>pressButton</a:t>
            </a:r>
            <a:r>
              <a:rPr lang="en-GB" dirty="0"/>
              <a:t>(); // Output: Light is OFF</a:t>
            </a:r>
          </a:p>
          <a:p>
            <a:pPr marL="0" indent="0">
              <a:buNone/>
            </a:pPr>
            <a:r>
              <a:rPr lang="en-GB" dirty="0"/>
              <a:t>?&gt;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25820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BA9F-6417-7A5D-C80B-69A3835B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Chain of Responsibility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1545E-6E7E-7818-F93B-C49F9824A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it lets you pass a request through a chain of handlers until one processes it. </a:t>
            </a:r>
          </a:p>
          <a:p>
            <a:r>
              <a:rPr lang="en-GB" dirty="0"/>
              <a:t>Each handler decides whether to process the request or pass it to the next handler in the chain.</a:t>
            </a:r>
          </a:p>
          <a:p>
            <a:r>
              <a:rPr lang="en-GB" dirty="0"/>
              <a:t>This is often used in approval workflows, middleware, or validation pipelines.</a:t>
            </a:r>
          </a:p>
          <a:p>
            <a:r>
              <a:rPr lang="en-GB" b="1" dirty="0"/>
              <a:t>Core Idea</a:t>
            </a:r>
            <a:endParaRPr lang="en-GB" dirty="0"/>
          </a:p>
          <a:p>
            <a:pPr lvl="1"/>
            <a:r>
              <a:rPr lang="en-GB" b="1" dirty="0"/>
              <a:t>Handler Interface</a:t>
            </a:r>
            <a:r>
              <a:rPr lang="en-GB" dirty="0"/>
              <a:t>: Declares methods for setting the next handler and handling requests.</a:t>
            </a:r>
          </a:p>
          <a:p>
            <a:pPr lvl="1"/>
            <a:r>
              <a:rPr lang="en-GB" b="1" dirty="0"/>
              <a:t>Concrete Handlers</a:t>
            </a:r>
            <a:r>
              <a:rPr lang="en-GB" dirty="0"/>
              <a:t>: Each handler decides whether to process or forward the request.</a:t>
            </a:r>
          </a:p>
          <a:p>
            <a:pPr lvl="1"/>
            <a:r>
              <a:rPr lang="en-GB" b="1" dirty="0"/>
              <a:t>Client</a:t>
            </a:r>
            <a:r>
              <a:rPr lang="en-GB" dirty="0"/>
              <a:t>: Initiates the request without knowing which handler will process it.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0307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98A3-D643-A11A-BE84-08A48D06D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04"/>
            <a:ext cx="5181600" cy="60306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dirty="0"/>
              <a:t>interface Handler {</a:t>
            </a:r>
          </a:p>
          <a:p>
            <a:pPr marL="0" indent="0">
              <a:buNone/>
            </a:pPr>
            <a:r>
              <a:rPr lang="en-GB" sz="1400" dirty="0"/>
              <a:t>    public function </a:t>
            </a:r>
            <a:r>
              <a:rPr lang="en-GB" sz="1400" dirty="0" err="1"/>
              <a:t>setNext</a:t>
            </a:r>
            <a:r>
              <a:rPr lang="en-GB" sz="1400" dirty="0"/>
              <a:t>(Handler $handler): Handler;</a:t>
            </a:r>
          </a:p>
          <a:p>
            <a:pPr marL="0" indent="0">
              <a:buNone/>
            </a:pPr>
            <a:r>
              <a:rPr lang="en-GB" sz="1400" dirty="0"/>
              <a:t>    public function handle(string $request): ?string;</a:t>
            </a:r>
          </a:p>
          <a:p>
            <a:pPr marL="0" indent="0">
              <a:buNone/>
            </a:pPr>
            <a:r>
              <a:rPr lang="en-GB" sz="1400" dirty="0"/>
              <a:t>}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abstract class </a:t>
            </a:r>
            <a:r>
              <a:rPr lang="en-GB" sz="1400" dirty="0" err="1"/>
              <a:t>AbstractHandler</a:t>
            </a:r>
            <a:r>
              <a:rPr lang="en-GB" sz="1400" dirty="0"/>
              <a:t> implements Handler {</a:t>
            </a:r>
          </a:p>
          <a:p>
            <a:pPr marL="0" indent="0">
              <a:buNone/>
            </a:pPr>
            <a:r>
              <a:rPr lang="en-GB" sz="1400" dirty="0"/>
              <a:t>    private ?Handler $</a:t>
            </a:r>
            <a:r>
              <a:rPr lang="en-GB" sz="1400" dirty="0" err="1"/>
              <a:t>nextHandler</a:t>
            </a:r>
            <a:r>
              <a:rPr lang="en-GB" sz="1400" dirty="0"/>
              <a:t> = null;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    public function </a:t>
            </a:r>
            <a:r>
              <a:rPr lang="en-GB" sz="1400" dirty="0" err="1"/>
              <a:t>setNext</a:t>
            </a:r>
            <a:r>
              <a:rPr lang="en-GB" sz="1400" dirty="0"/>
              <a:t>(Handler $handler): Handler {</a:t>
            </a:r>
          </a:p>
          <a:p>
            <a:pPr marL="0" indent="0">
              <a:buNone/>
            </a:pPr>
            <a:r>
              <a:rPr lang="en-GB" sz="1400" dirty="0"/>
              <a:t>        $this-&gt;</a:t>
            </a:r>
            <a:r>
              <a:rPr lang="en-GB" sz="1400" dirty="0" err="1"/>
              <a:t>nextHandler</a:t>
            </a:r>
            <a:r>
              <a:rPr lang="en-GB" sz="1400" dirty="0"/>
              <a:t> = $handler;</a:t>
            </a:r>
          </a:p>
          <a:p>
            <a:pPr marL="0" indent="0">
              <a:buNone/>
            </a:pPr>
            <a:r>
              <a:rPr lang="en-GB" sz="1400" dirty="0"/>
              <a:t>        return $handler;</a:t>
            </a:r>
          </a:p>
          <a:p>
            <a:pPr marL="0" indent="0">
              <a:buNone/>
            </a:pPr>
            <a:r>
              <a:rPr lang="en-GB" sz="1400" dirty="0"/>
              <a:t>    }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    public function handle(string $request): ?string {</a:t>
            </a:r>
          </a:p>
          <a:p>
            <a:pPr marL="0" indent="0">
              <a:buNone/>
            </a:pPr>
            <a:r>
              <a:rPr lang="en-GB" sz="1400" dirty="0"/>
              <a:t>        if ($this-&gt;</a:t>
            </a:r>
            <a:r>
              <a:rPr lang="en-GB" sz="1400" dirty="0" err="1"/>
              <a:t>nextHandler</a:t>
            </a:r>
            <a:r>
              <a:rPr lang="en-GB" sz="1400" dirty="0"/>
              <a:t>) {</a:t>
            </a:r>
          </a:p>
          <a:p>
            <a:pPr marL="0" indent="0">
              <a:buNone/>
            </a:pPr>
            <a:r>
              <a:rPr lang="en-GB" sz="1400" dirty="0"/>
              <a:t>            return $this-&gt;</a:t>
            </a:r>
            <a:r>
              <a:rPr lang="en-GB" sz="1400" dirty="0" err="1"/>
              <a:t>nextHandler</a:t>
            </a:r>
            <a:r>
              <a:rPr lang="en-GB" sz="1400" dirty="0"/>
              <a:t>-&gt;handle($request);</a:t>
            </a:r>
          </a:p>
          <a:p>
            <a:pPr marL="0" indent="0">
              <a:buNone/>
            </a:pPr>
            <a:r>
              <a:rPr lang="en-GB" sz="1400" dirty="0"/>
              <a:t>        }</a:t>
            </a:r>
          </a:p>
          <a:p>
            <a:pPr marL="0" indent="0">
              <a:buNone/>
            </a:pPr>
            <a:r>
              <a:rPr lang="en-GB" sz="1400" dirty="0"/>
              <a:t>        return null;</a:t>
            </a:r>
          </a:p>
          <a:p>
            <a:pPr marL="0" indent="0">
              <a:buNone/>
            </a:pPr>
            <a:r>
              <a:rPr lang="en-GB" sz="1400" dirty="0"/>
              <a:t>    }</a:t>
            </a:r>
          </a:p>
          <a:p>
            <a:pPr marL="0" indent="0">
              <a:buNone/>
            </a:pPr>
            <a:r>
              <a:rPr lang="en-GB" sz="1400" dirty="0"/>
              <a:t>}</a:t>
            </a:r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7C9735-492C-2185-4264-873C5BC43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-73152"/>
            <a:ext cx="5181600" cy="625011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sz="1100" dirty="0"/>
              <a:t>class </a:t>
            </a:r>
            <a:r>
              <a:rPr lang="en-GB" sz="1100" dirty="0" err="1"/>
              <a:t>ChatBot</a:t>
            </a:r>
            <a:r>
              <a:rPr lang="en-GB" sz="1100" dirty="0"/>
              <a:t> extends </a:t>
            </a:r>
            <a:r>
              <a:rPr lang="en-GB" sz="1100" dirty="0" err="1"/>
              <a:t>AbstractHandler</a:t>
            </a:r>
            <a:r>
              <a:rPr lang="en-GB" sz="1100" dirty="0"/>
              <a:t> {</a:t>
            </a:r>
          </a:p>
          <a:p>
            <a:pPr marL="0" indent="0">
              <a:buNone/>
            </a:pPr>
            <a:r>
              <a:rPr lang="en-GB" sz="1100" dirty="0"/>
              <a:t>    public function handle(string $request): ?string {</a:t>
            </a:r>
          </a:p>
          <a:p>
            <a:pPr marL="0" indent="0">
              <a:buNone/>
            </a:pPr>
            <a:r>
              <a:rPr lang="en-GB" sz="1100" dirty="0"/>
              <a:t>        if ($request === "basic") {</a:t>
            </a:r>
          </a:p>
          <a:p>
            <a:pPr marL="0" indent="0">
              <a:buNone/>
            </a:pPr>
            <a:r>
              <a:rPr lang="en-GB" sz="1100" dirty="0"/>
              <a:t>            return "Bot: I've resolved your basic issue.";</a:t>
            </a:r>
          </a:p>
          <a:p>
            <a:pPr marL="0" indent="0">
              <a:buNone/>
            </a:pPr>
            <a:r>
              <a:rPr lang="en-GB" sz="1100" dirty="0"/>
              <a:t>        }</a:t>
            </a:r>
          </a:p>
          <a:p>
            <a:pPr marL="0" indent="0">
              <a:buNone/>
            </a:pPr>
            <a:r>
              <a:rPr lang="en-GB" sz="1100" dirty="0"/>
              <a:t>        return parent::handle($request);</a:t>
            </a:r>
          </a:p>
          <a:p>
            <a:pPr marL="0" indent="0">
              <a:buNone/>
            </a:pPr>
            <a:r>
              <a:rPr lang="en-GB" sz="1100" dirty="0"/>
              <a:t>    }</a:t>
            </a:r>
          </a:p>
          <a:p>
            <a:pPr marL="0" indent="0">
              <a:buNone/>
            </a:pPr>
            <a:r>
              <a:rPr lang="en-GB" sz="1100" dirty="0"/>
              <a:t>}</a:t>
            </a:r>
          </a:p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sz="1100" dirty="0"/>
              <a:t>class </a:t>
            </a:r>
            <a:r>
              <a:rPr lang="en-GB" sz="1100" dirty="0" err="1"/>
              <a:t>SeniorEngineer</a:t>
            </a:r>
            <a:r>
              <a:rPr lang="en-GB" sz="1100" dirty="0"/>
              <a:t> extends </a:t>
            </a:r>
            <a:r>
              <a:rPr lang="en-GB" sz="1100" dirty="0" err="1"/>
              <a:t>AbstractHandler</a:t>
            </a:r>
            <a:r>
              <a:rPr lang="en-GB" sz="1100" dirty="0"/>
              <a:t> {</a:t>
            </a:r>
          </a:p>
          <a:p>
            <a:pPr marL="0" indent="0">
              <a:buNone/>
            </a:pPr>
            <a:r>
              <a:rPr lang="en-GB" sz="1100" dirty="0"/>
              <a:t>    public function handle(string $request): ?string {</a:t>
            </a:r>
          </a:p>
          <a:p>
            <a:pPr marL="0" indent="0">
              <a:buNone/>
            </a:pPr>
            <a:r>
              <a:rPr lang="en-GB" sz="1100" dirty="0"/>
              <a:t>        if ($request === "complex") {</a:t>
            </a:r>
          </a:p>
          <a:p>
            <a:pPr marL="0" indent="0">
              <a:buNone/>
            </a:pPr>
            <a:r>
              <a:rPr lang="en-GB" sz="1100" dirty="0"/>
              <a:t>            return "Engineer: I've fixed the complex bug.";</a:t>
            </a:r>
          </a:p>
          <a:p>
            <a:pPr marL="0" indent="0">
              <a:buNone/>
            </a:pPr>
            <a:r>
              <a:rPr lang="en-GB" sz="1100" dirty="0"/>
              <a:t>        }</a:t>
            </a:r>
          </a:p>
          <a:p>
            <a:pPr marL="0" indent="0">
              <a:buNone/>
            </a:pPr>
            <a:r>
              <a:rPr lang="en-GB" sz="1100" dirty="0"/>
              <a:t>        return parent::handle($request);</a:t>
            </a:r>
          </a:p>
          <a:p>
            <a:pPr marL="0" indent="0">
              <a:buNone/>
            </a:pPr>
            <a:r>
              <a:rPr lang="en-GB" sz="1100" dirty="0"/>
              <a:t>    }</a:t>
            </a:r>
          </a:p>
          <a:p>
            <a:pPr marL="0" indent="0">
              <a:buNone/>
            </a:pPr>
            <a:r>
              <a:rPr lang="en-GB" sz="1100" dirty="0"/>
              <a:t>}</a:t>
            </a:r>
          </a:p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sz="1100" dirty="0"/>
              <a:t>// Client Code</a:t>
            </a:r>
          </a:p>
          <a:p>
            <a:pPr marL="0" indent="0">
              <a:buNone/>
            </a:pPr>
            <a:r>
              <a:rPr lang="en-GB" sz="1100" dirty="0"/>
              <a:t>$bot = new </a:t>
            </a:r>
            <a:r>
              <a:rPr lang="en-GB" sz="1100" dirty="0" err="1"/>
              <a:t>ChatBot</a:t>
            </a:r>
            <a:r>
              <a:rPr lang="en-GB" sz="1100" dirty="0"/>
              <a:t>();</a:t>
            </a:r>
          </a:p>
          <a:p>
            <a:pPr marL="0" indent="0">
              <a:buNone/>
            </a:pPr>
            <a:r>
              <a:rPr lang="en-GB" sz="1100" dirty="0"/>
              <a:t>$engineer = new </a:t>
            </a:r>
            <a:r>
              <a:rPr lang="en-GB" sz="1100" dirty="0" err="1"/>
              <a:t>SeniorEngineer</a:t>
            </a:r>
            <a:r>
              <a:rPr lang="en-GB" sz="1100" dirty="0"/>
              <a:t>();</a:t>
            </a:r>
          </a:p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sz="1100" dirty="0"/>
              <a:t>$bot-&gt;</a:t>
            </a:r>
            <a:r>
              <a:rPr lang="en-GB" sz="1100" dirty="0" err="1"/>
              <a:t>setNext</a:t>
            </a:r>
            <a:r>
              <a:rPr lang="en-GB" sz="1100" dirty="0"/>
              <a:t>($engineer);</a:t>
            </a:r>
          </a:p>
          <a:p>
            <a:pPr marL="0" indent="0">
              <a:buNone/>
            </a:pPr>
            <a:endParaRPr lang="en-GB" sz="1100" dirty="0"/>
          </a:p>
          <a:p>
            <a:pPr marL="0" indent="0">
              <a:buNone/>
            </a:pPr>
            <a:r>
              <a:rPr lang="en-GB" sz="1100" dirty="0"/>
              <a:t>echo $bot-&gt;handle("complex"); // Output: Engineer: I've fixed the complex bug.</a:t>
            </a:r>
          </a:p>
          <a:p>
            <a:pPr marL="0" indent="0">
              <a:buNone/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42832368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2DD0-C84B-2D1E-91C2-1AAB43D3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State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91295-340B-D09D-3E42-42EFDFA9B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pattern allows an object to change its </a:t>
            </a:r>
            <a:r>
              <a:rPr lang="en-GB" dirty="0" err="1"/>
              <a:t>behavior</a:t>
            </a:r>
            <a:r>
              <a:rPr lang="en-GB" dirty="0"/>
              <a:t> when its internal state changes — it appears as if the object has changed its class. </a:t>
            </a:r>
          </a:p>
          <a:p>
            <a:r>
              <a:rPr lang="en-GB" dirty="0"/>
              <a:t>allows an object to change its </a:t>
            </a:r>
            <a:r>
              <a:rPr lang="en-GB" dirty="0" err="1"/>
              <a:t>behavior</a:t>
            </a:r>
            <a:r>
              <a:rPr lang="en-GB" dirty="0"/>
              <a:t> dynamically when its internal state changes.</a:t>
            </a:r>
          </a:p>
          <a:p>
            <a:r>
              <a:rPr lang="en-GB" dirty="0"/>
              <a:t>Instead of using massive switch or if-else blocks to check a status variable, you extract state-specific </a:t>
            </a:r>
            <a:r>
              <a:rPr lang="en-GB" dirty="0" err="1"/>
              <a:t>behaviors</a:t>
            </a:r>
            <a:r>
              <a:rPr lang="en-GB" dirty="0"/>
              <a:t> into separate classes</a:t>
            </a:r>
          </a:p>
          <a:p>
            <a:r>
              <a:rPr lang="en-GB" dirty="0"/>
              <a:t>A classic example is a </a:t>
            </a:r>
            <a:r>
              <a:rPr lang="en-GB" b="1" dirty="0"/>
              <a:t>context</a:t>
            </a:r>
            <a:r>
              <a:rPr lang="en-GB" dirty="0"/>
              <a:t> (like a Document or a TCP connection) that behaves differently depending on its state.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49258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C43A-785A-3A67-013D-A9A98213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Core Components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FDDE7-4692-52FE-565D-2DC181A5D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State Interface</a:t>
            </a:r>
            <a:r>
              <a:rPr lang="en-GB" dirty="0"/>
              <a:t>: Declares methods each state must implement. (e.g., Draft, Published, Deleted)</a:t>
            </a:r>
          </a:p>
          <a:p>
            <a:pPr lvl="0"/>
            <a:r>
              <a:rPr lang="en-GB" b="1" dirty="0"/>
              <a:t>Concrete States</a:t>
            </a:r>
            <a:r>
              <a:rPr lang="en-GB" dirty="0"/>
              <a:t>: Implement </a:t>
            </a:r>
            <a:r>
              <a:rPr lang="en-GB" dirty="0" err="1"/>
              <a:t>behavior</a:t>
            </a:r>
            <a:r>
              <a:rPr lang="en-GB" dirty="0"/>
              <a:t> for a particular state.</a:t>
            </a:r>
          </a:p>
          <a:p>
            <a:pPr lvl="0"/>
            <a:r>
              <a:rPr lang="en-GB" b="1" dirty="0"/>
              <a:t>Context</a:t>
            </a:r>
            <a:r>
              <a:rPr lang="en-GB" dirty="0"/>
              <a:t>: Maintains a reference to the current state and delegates </a:t>
            </a:r>
            <a:r>
              <a:rPr lang="en-GB" dirty="0" err="1"/>
              <a:t>behavior</a:t>
            </a:r>
            <a:r>
              <a:rPr lang="en-GB" dirty="0"/>
              <a:t> to it.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6617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11B72-0BF2-4E72-FAF5-CBD63F588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"/>
            <a:ext cx="5181600" cy="59483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// 1. The State Interface</a:t>
            </a:r>
          </a:p>
          <a:p>
            <a:pPr marL="0" indent="0">
              <a:buNone/>
            </a:pPr>
            <a:r>
              <a:rPr lang="en-GB" dirty="0"/>
              <a:t>interface State {</a:t>
            </a:r>
          </a:p>
          <a:p>
            <a:pPr marL="0" indent="0">
              <a:buNone/>
            </a:pPr>
            <a:r>
              <a:rPr lang="en-GB" dirty="0"/>
              <a:t>    public function publish(Document $doc);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2. Concrete States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DraftState</a:t>
            </a:r>
            <a:r>
              <a:rPr lang="en-GB" dirty="0"/>
              <a:t> implements State {</a:t>
            </a:r>
          </a:p>
          <a:p>
            <a:pPr marL="0" indent="0">
              <a:buNone/>
            </a:pPr>
            <a:r>
              <a:rPr lang="en-GB" dirty="0"/>
              <a:t>    public function publish(Document $doc) {</a:t>
            </a:r>
          </a:p>
          <a:p>
            <a:pPr marL="0" indent="0">
              <a:buNone/>
            </a:pPr>
            <a:r>
              <a:rPr lang="en-GB" dirty="0"/>
              <a:t>        echo "Moving document to Moderation...\n";</a:t>
            </a:r>
          </a:p>
          <a:p>
            <a:pPr marL="0" indent="0">
              <a:buNone/>
            </a:pPr>
            <a:r>
              <a:rPr lang="en-GB" dirty="0"/>
              <a:t>        $doc-&gt;</a:t>
            </a:r>
            <a:r>
              <a:rPr lang="en-GB" dirty="0" err="1"/>
              <a:t>transitionTo</a:t>
            </a:r>
            <a:r>
              <a:rPr lang="en-GB" dirty="0"/>
              <a:t>(new </a:t>
            </a:r>
            <a:r>
              <a:rPr lang="en-GB" dirty="0" err="1"/>
              <a:t>ModerationState</a:t>
            </a:r>
            <a:r>
              <a:rPr lang="en-GB" dirty="0"/>
              <a:t>());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PublishedState</a:t>
            </a:r>
            <a:r>
              <a:rPr lang="en-GB" dirty="0"/>
              <a:t> implements State {</a:t>
            </a:r>
          </a:p>
          <a:p>
            <a:pPr marL="0" indent="0">
              <a:buNone/>
            </a:pPr>
            <a:r>
              <a:rPr lang="en-GB" dirty="0"/>
              <a:t>    public function publish(Document $doc) {</a:t>
            </a:r>
          </a:p>
          <a:p>
            <a:pPr marL="0" indent="0">
              <a:buNone/>
            </a:pPr>
            <a:r>
              <a:rPr lang="en-GB" dirty="0"/>
              <a:t>        echo "Document is already published. No action taken.\n";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FC78A7-FC85-D0E2-1B0D-2D8D55DDA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176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3. The Context</a:t>
            </a:r>
          </a:p>
          <a:p>
            <a:pPr marL="0" indent="0">
              <a:buNone/>
            </a:pPr>
            <a:r>
              <a:rPr lang="en-GB" dirty="0"/>
              <a:t>class Document {</a:t>
            </a:r>
          </a:p>
          <a:p>
            <a:pPr marL="0" indent="0">
              <a:buNone/>
            </a:pPr>
            <a:r>
              <a:rPr lang="en-GB" dirty="0"/>
              <a:t>    private State $state;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__construct(State $state) {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transitionTo</a:t>
            </a:r>
            <a:r>
              <a:rPr lang="en-GB" dirty="0"/>
              <a:t>($state);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transitionTo</a:t>
            </a:r>
            <a:r>
              <a:rPr lang="en-GB" dirty="0"/>
              <a:t>(State $state) {</a:t>
            </a:r>
          </a:p>
          <a:p>
            <a:pPr marL="0" indent="0">
              <a:buNone/>
            </a:pPr>
            <a:r>
              <a:rPr lang="en-GB" dirty="0"/>
              <a:t>        $this-&gt;state = $state;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publish() {</a:t>
            </a:r>
          </a:p>
          <a:p>
            <a:pPr marL="0" indent="0">
              <a:buNone/>
            </a:pPr>
            <a:r>
              <a:rPr lang="en-GB" dirty="0"/>
              <a:t>        $this-&gt;state-&gt;publish($this);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</a:t>
            </a:r>
          </a:p>
          <a:p>
            <a:pPr marL="0" indent="0">
              <a:buNone/>
            </a:pPr>
            <a:r>
              <a:rPr lang="en-GB" dirty="0"/>
              <a:t>$doc = new Document(new </a:t>
            </a:r>
            <a:r>
              <a:rPr lang="en-GB" dirty="0" err="1"/>
              <a:t>DraftState</a:t>
            </a:r>
            <a:r>
              <a:rPr lang="en-GB" dirty="0"/>
              <a:t>());</a:t>
            </a:r>
          </a:p>
          <a:p>
            <a:pPr marL="0" indent="0">
              <a:buNone/>
            </a:pPr>
            <a:r>
              <a:rPr lang="en-GB" dirty="0"/>
              <a:t>$doc-&gt;publish(); // Outputs: Moving document to Moderation...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8192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B2EB-53F7-4A43-359D-BC023E1D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Iterator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53073-04A9-F70C-E3D1-D2D6F29A4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provides a way to access elements of a collection sequentially without exposing its underlying representation.</a:t>
            </a:r>
          </a:p>
          <a:p>
            <a:endParaRPr lang="en-GB" dirty="0"/>
          </a:p>
          <a:p>
            <a:r>
              <a:rPr lang="en-GB" dirty="0"/>
              <a:t>is a </a:t>
            </a:r>
            <a:r>
              <a:rPr lang="en-GB" dirty="0" err="1"/>
              <a:t>behavioral</a:t>
            </a:r>
            <a:r>
              <a:rPr lang="en-GB" dirty="0"/>
              <a:t> design pattern that allows you to traverse the elements of a collection without exposing its underlying internal structure (like an array or a linked list).</a:t>
            </a:r>
          </a:p>
          <a:p>
            <a:endParaRPr lang="en-GB" dirty="0"/>
          </a:p>
          <a:p>
            <a:r>
              <a:rPr lang="en-GB" dirty="0"/>
              <a:t> In PHP, this is most commonly achieved by implementing built-in interfaces that allow objects to be used directly in foreach loops</a:t>
            </a:r>
          </a:p>
        </p:txBody>
      </p:sp>
    </p:spTree>
    <p:extLst>
      <p:ext uri="{BB962C8B-B14F-4D97-AF65-F5344CB8AC3E}">
        <p14:creationId xmlns:p14="http://schemas.microsoft.com/office/powerpoint/2010/main" val="2239499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C9D0-E0BE-64AA-3784-4B667B13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Core PHP Interfaces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E21A-03EE-D5BA-7592-BD201DC28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Iterator: Requires you to implement five specific methods to manage the traversal state manually:</a:t>
            </a:r>
          </a:p>
          <a:p>
            <a:pPr lvl="1"/>
            <a:r>
              <a:rPr lang="en-GB" dirty="0"/>
              <a:t>rewind(): Resets the iterator to the first element.</a:t>
            </a:r>
          </a:p>
          <a:p>
            <a:pPr lvl="1"/>
            <a:r>
              <a:rPr lang="en-GB" dirty="0"/>
              <a:t>current(): Returns the current element.</a:t>
            </a:r>
          </a:p>
          <a:p>
            <a:pPr lvl="1"/>
            <a:r>
              <a:rPr lang="en-GB" dirty="0"/>
              <a:t>key(): Returns the key of the current element.</a:t>
            </a:r>
          </a:p>
          <a:p>
            <a:pPr lvl="1"/>
            <a:r>
              <a:rPr lang="en-GB" dirty="0"/>
              <a:t>next(): Moves forward to the next element.</a:t>
            </a:r>
          </a:p>
          <a:p>
            <a:pPr lvl="1"/>
            <a:r>
              <a:rPr lang="en-GB" dirty="0"/>
              <a:t>valid(): Checks if the current position is valid.</a:t>
            </a:r>
          </a:p>
          <a:p>
            <a:endParaRPr lang="en-GB" dirty="0"/>
          </a:p>
          <a:p>
            <a:r>
              <a:rPr lang="en-GB" dirty="0" err="1"/>
              <a:t>IteratorAggregate</a:t>
            </a:r>
            <a:r>
              <a:rPr lang="en-GB" dirty="0"/>
              <a:t>: Instead of managing the state itself, the class implements a single </a:t>
            </a:r>
            <a:r>
              <a:rPr lang="en-GB" dirty="0" err="1"/>
              <a:t>getIterator</a:t>
            </a:r>
            <a:r>
              <a:rPr lang="en-GB" dirty="0"/>
              <a:t>() method that returns an external iterator (like an </a:t>
            </a:r>
            <a:r>
              <a:rPr lang="en-GB" dirty="0" err="1"/>
              <a:t>ArrayIterator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720398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ACE473-070E-040E-8A35-AF1CD4C6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BC7F-1FAE-9469-54C0-1A53634576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class Playlist implements </a:t>
            </a:r>
            <a:r>
              <a:rPr lang="en-GB" dirty="0" err="1"/>
              <a:t>IteratorAggregate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array $songs = [];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addSong</a:t>
            </a:r>
            <a:r>
              <a:rPr lang="en-GB" dirty="0"/>
              <a:t>(string $song) {</a:t>
            </a:r>
          </a:p>
          <a:p>
            <a:pPr marL="0" indent="0">
              <a:buNone/>
            </a:pPr>
            <a:r>
              <a:rPr lang="en-GB" dirty="0"/>
              <a:t>        $this-&gt;songs[] = $song;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getIterator</a:t>
            </a:r>
            <a:r>
              <a:rPr lang="en-GB" dirty="0"/>
              <a:t>(): Traversable {</a:t>
            </a:r>
          </a:p>
          <a:p>
            <a:pPr marL="0" indent="0">
              <a:buNone/>
            </a:pPr>
            <a:r>
              <a:rPr lang="en-GB" dirty="0"/>
              <a:t>        // Delegate iteration to PHP's built-in </a:t>
            </a:r>
            <a:r>
              <a:rPr lang="en-GB" dirty="0" err="1"/>
              <a:t>ArrayIterator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return new </a:t>
            </a:r>
            <a:r>
              <a:rPr lang="en-GB" dirty="0" err="1"/>
              <a:t>ArrayIterator</a:t>
            </a:r>
            <a:r>
              <a:rPr lang="en-GB" dirty="0"/>
              <a:t>($this-&gt;songs);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140493-37A9-EF7F-F37C-7AB72388C0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myPlaylist</a:t>
            </a:r>
            <a:r>
              <a:rPr lang="en-GB" dirty="0"/>
              <a:t> = new Playlist();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myPlaylist</a:t>
            </a:r>
            <a:r>
              <a:rPr lang="en-GB" dirty="0"/>
              <a:t>-&gt;</a:t>
            </a:r>
            <a:r>
              <a:rPr lang="en-GB" dirty="0" err="1"/>
              <a:t>addSong</a:t>
            </a:r>
            <a:r>
              <a:rPr lang="en-GB" dirty="0"/>
              <a:t>("Song A");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myPlaylist</a:t>
            </a:r>
            <a:r>
              <a:rPr lang="en-GB" dirty="0"/>
              <a:t>-&gt;</a:t>
            </a:r>
            <a:r>
              <a:rPr lang="en-GB" dirty="0" err="1"/>
              <a:t>addSong</a:t>
            </a:r>
            <a:r>
              <a:rPr lang="en-GB" dirty="0"/>
              <a:t>("Song B");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foreach ($</a:t>
            </a:r>
            <a:r>
              <a:rPr lang="en-GB" dirty="0" err="1"/>
              <a:t>myPlaylist</a:t>
            </a:r>
            <a:r>
              <a:rPr lang="en-GB" dirty="0"/>
              <a:t> as $song) {</a:t>
            </a:r>
          </a:p>
          <a:p>
            <a:pPr marL="0" indent="0">
              <a:buNone/>
            </a:pPr>
            <a:r>
              <a:rPr lang="en-GB" dirty="0"/>
              <a:t>    echo $song . "\n";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9526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8653-1649-8BA4-CC5A-18545082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Mediator Pattern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AF08E-8E8B-E174-9AD3-4F527AFFE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is a </a:t>
            </a:r>
            <a:r>
              <a:rPr lang="en-GB" b="1" dirty="0" err="1"/>
              <a:t>behavioral</a:t>
            </a:r>
            <a:r>
              <a:rPr lang="en-GB" b="1" dirty="0"/>
              <a:t> design pattern</a:t>
            </a:r>
            <a:r>
              <a:rPr lang="en-GB" dirty="0"/>
              <a:t> that defines an object that encapsulates how a set of objects interact. </a:t>
            </a:r>
          </a:p>
          <a:p>
            <a:r>
              <a:rPr lang="en-GB" dirty="0"/>
              <a:t>Instead of objects referring to each other directly, they communicate through a mediator, reducing coupling.</a:t>
            </a:r>
          </a:p>
          <a:p>
            <a:r>
              <a:rPr lang="en-GB" dirty="0"/>
              <a:t>a </a:t>
            </a:r>
            <a:r>
              <a:rPr lang="en-GB" dirty="0" err="1"/>
              <a:t>behavioral</a:t>
            </a:r>
            <a:r>
              <a:rPr lang="en-GB" dirty="0"/>
              <a:t> design pattern that centralizes communication between objects to reduce direct dependencies.</a:t>
            </a:r>
          </a:p>
          <a:p>
            <a:r>
              <a:rPr lang="en-GB" dirty="0"/>
              <a:t> Instead of classes interacting with each other directly—which creates tight coupling—they communicate through a single "mediator" object.</a:t>
            </a:r>
          </a:p>
        </p:txBody>
      </p:sp>
    </p:spTree>
    <p:extLst>
      <p:ext uri="{BB962C8B-B14F-4D97-AF65-F5344CB8AC3E}">
        <p14:creationId xmlns:p14="http://schemas.microsoft.com/office/powerpoint/2010/main" val="16542462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EF50-616A-C1A3-1139-0B22B8A1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A711-F6C9-3306-D04F-B12CCC8A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Loose Coupling</a:t>
            </a:r>
            <a:r>
              <a:rPr lang="en-GB" dirty="0"/>
              <a:t>: Components don't need to know about each other's existence or implementation details; they only interact with the mediator.</a:t>
            </a:r>
          </a:p>
          <a:p>
            <a:r>
              <a:rPr lang="en-GB" b="1" dirty="0"/>
              <a:t>Centralized Control</a:t>
            </a:r>
            <a:r>
              <a:rPr lang="en-GB" dirty="0"/>
              <a:t>: Logic for how multiple objects interact is contained in one place, making it easier to manage complex workflows.</a:t>
            </a:r>
          </a:p>
          <a:p>
            <a:r>
              <a:rPr lang="en-GB" b="1" dirty="0"/>
              <a:t>Single Responsibility</a:t>
            </a:r>
            <a:r>
              <a:rPr lang="en-GB" dirty="0"/>
              <a:t>: Components focus on their own business logic rather than communication orchestration. [</a:t>
            </a:r>
            <a:r>
              <a:rPr lang="en-GB" dirty="0">
                <a:hlinkClick r:id="rId2"/>
              </a:rPr>
              <a:t>1</a:t>
            </a:r>
            <a:r>
              <a:rPr lang="en-GB" dirty="0"/>
              <a:t>, </a:t>
            </a:r>
            <a:r>
              <a:rPr lang="en-GB" dirty="0">
                <a:hlinkClick r:id="rId3"/>
              </a:rPr>
              <a:t>2</a:t>
            </a:r>
            <a:r>
              <a:rPr lang="en-GB" dirty="0"/>
              <a:t>, </a:t>
            </a:r>
            <a:r>
              <a:rPr lang="en-GB" dirty="0">
                <a:hlinkClick r:id="rId4"/>
              </a:rPr>
              <a:t>3</a:t>
            </a:r>
            <a:r>
              <a:rPr lang="en-GB" dirty="0"/>
              <a:t>, </a:t>
            </a:r>
            <a:r>
              <a:rPr lang="en-GB" dirty="0">
                <a:hlinkClick r:id="rId5"/>
              </a:rPr>
              <a:t>4</a:t>
            </a:r>
            <a:r>
              <a:rPr lang="en-GB" dirty="0"/>
              <a:t>, </a:t>
            </a:r>
            <a:r>
              <a:rPr lang="en-GB" dirty="0">
                <a:hlinkClick r:id="rId6"/>
              </a:rPr>
              <a:t>5</a:t>
            </a:r>
            <a:r>
              <a:rPr lang="en-GB" dirty="0"/>
              <a:t>, </a:t>
            </a:r>
            <a:r>
              <a:rPr lang="en-GB" dirty="0">
                <a:hlinkClick r:id="rId7"/>
              </a:rPr>
              <a:t>6</a:t>
            </a:r>
            <a:r>
              <a:rPr lang="en-GB" dirty="0"/>
              <a:t>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3612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1FF-A3B6-9217-7E27-DE712665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📌 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B6C37-CB54-6C05-1C1B-F507247E5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Chat applications</a:t>
            </a:r>
            <a:r>
              <a:rPr lang="en-GB" dirty="0"/>
              <a:t> → Centralized message distribution.</a:t>
            </a:r>
          </a:p>
          <a:p>
            <a:pPr lvl="0"/>
            <a:r>
              <a:rPr lang="en-GB" b="1" dirty="0"/>
              <a:t>Air traffic control systems</a:t>
            </a:r>
            <a:r>
              <a:rPr lang="en-GB" dirty="0"/>
              <a:t> → Planes communicate via the control tower.</a:t>
            </a:r>
          </a:p>
          <a:p>
            <a:pPr lvl="0"/>
            <a:r>
              <a:rPr lang="en-GB" b="1" dirty="0"/>
              <a:t>UI frameworks</a:t>
            </a:r>
            <a:r>
              <a:rPr lang="en-GB" dirty="0"/>
              <a:t> → Widgets interact through a mediator.</a:t>
            </a:r>
          </a:p>
          <a:p>
            <a:pPr lvl="0"/>
            <a:r>
              <a:rPr lang="en-GB" b="1" dirty="0"/>
              <a:t>Workflow engines</a:t>
            </a:r>
            <a:r>
              <a:rPr lang="en-GB" dirty="0"/>
              <a:t> → Components coordinate through a central mediator.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651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2BA9-257B-C1EE-49AB-36CE15FD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4008"/>
            <a:ext cx="5181600" cy="611295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ChatMediator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sendMessage</a:t>
            </a:r>
            <a:r>
              <a:rPr lang="en-GB" dirty="0"/>
              <a:t>(string $</a:t>
            </a:r>
            <a:r>
              <a:rPr lang="en-GB" dirty="0" err="1"/>
              <a:t>msg</a:t>
            </a:r>
            <a:r>
              <a:rPr lang="en-GB" dirty="0"/>
              <a:t>, User $user): void;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abstract class User {</a:t>
            </a:r>
          </a:p>
          <a:p>
            <a:pPr marL="0" indent="0">
              <a:buNone/>
            </a:pPr>
            <a:r>
              <a:rPr lang="en-GB" dirty="0"/>
              <a:t>    protected </a:t>
            </a:r>
            <a:r>
              <a:rPr lang="en-GB" dirty="0" err="1"/>
              <a:t>ChatMediator</a:t>
            </a:r>
            <a:r>
              <a:rPr lang="en-GB" dirty="0"/>
              <a:t> $mediator;</a:t>
            </a:r>
          </a:p>
          <a:p>
            <a:pPr marL="0" indent="0">
              <a:buNone/>
            </a:pPr>
            <a:r>
              <a:rPr lang="en-GB" dirty="0"/>
              <a:t>    protected string $name;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</a:t>
            </a:r>
            <a:r>
              <a:rPr lang="en-GB" dirty="0" err="1"/>
              <a:t>ChatMediator</a:t>
            </a:r>
            <a:r>
              <a:rPr lang="en-GB" dirty="0"/>
              <a:t> $mediator, string $name) {</a:t>
            </a:r>
          </a:p>
          <a:p>
            <a:pPr marL="0" indent="0">
              <a:buNone/>
            </a:pPr>
            <a:r>
              <a:rPr lang="en-GB" dirty="0"/>
              <a:t>        $this-&gt;mediator = $mediator;</a:t>
            </a:r>
          </a:p>
          <a:p>
            <a:pPr marL="0" indent="0">
              <a:buNone/>
            </a:pPr>
            <a:r>
              <a:rPr lang="en-GB" dirty="0"/>
              <a:t>        $this-&gt;name = $name;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abstract public function send(string $</a:t>
            </a:r>
            <a:r>
              <a:rPr lang="en-GB" dirty="0" err="1"/>
              <a:t>msg</a:t>
            </a:r>
            <a:r>
              <a:rPr lang="en-GB" dirty="0"/>
              <a:t>): void;</a:t>
            </a:r>
          </a:p>
          <a:p>
            <a:pPr marL="0" indent="0">
              <a:buNone/>
            </a:pPr>
            <a:r>
              <a:rPr lang="en-GB" dirty="0"/>
              <a:t>    abstract public function receive(string $</a:t>
            </a:r>
            <a:r>
              <a:rPr lang="en-GB" dirty="0" err="1"/>
              <a:t>msg</a:t>
            </a:r>
            <a:r>
              <a:rPr lang="en-GB" dirty="0"/>
              <a:t>): void;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ChatRoom</a:t>
            </a:r>
            <a:r>
              <a:rPr lang="en-GB" dirty="0"/>
              <a:t> implements </a:t>
            </a:r>
            <a:r>
              <a:rPr lang="en-GB" dirty="0" err="1"/>
              <a:t>ChatMediator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array $users = [];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addUser</a:t>
            </a:r>
            <a:r>
              <a:rPr lang="en-GB" dirty="0"/>
              <a:t>(User $user): void {</a:t>
            </a:r>
          </a:p>
          <a:p>
            <a:pPr marL="0" indent="0">
              <a:buNone/>
            </a:pPr>
            <a:r>
              <a:rPr lang="en-GB" dirty="0"/>
              <a:t>        $this-&gt;users[] = $user;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sendMessage</a:t>
            </a:r>
            <a:r>
              <a:rPr lang="en-GB" dirty="0"/>
              <a:t>(string $</a:t>
            </a:r>
            <a:r>
              <a:rPr lang="en-GB" dirty="0" err="1"/>
              <a:t>msg</a:t>
            </a:r>
            <a:r>
              <a:rPr lang="en-GB" dirty="0"/>
              <a:t>, User $user): void {</a:t>
            </a:r>
          </a:p>
          <a:p>
            <a:pPr marL="0" indent="0">
              <a:buNone/>
            </a:pPr>
            <a:r>
              <a:rPr lang="en-GB" dirty="0"/>
              <a:t>        foreach ($this-&gt;users as $u) {</a:t>
            </a:r>
          </a:p>
          <a:p>
            <a:pPr marL="0" indent="0">
              <a:buNone/>
            </a:pPr>
            <a:r>
              <a:rPr lang="en-GB" dirty="0"/>
              <a:t>            // Don't send message to the sender</a:t>
            </a:r>
          </a:p>
          <a:p>
            <a:pPr marL="0" indent="0">
              <a:buNone/>
            </a:pPr>
            <a:r>
              <a:rPr lang="en-GB" dirty="0"/>
              <a:t>            if ($u !== $user) {</a:t>
            </a:r>
          </a:p>
          <a:p>
            <a:pPr marL="0" indent="0">
              <a:buNone/>
            </a:pPr>
            <a:r>
              <a:rPr lang="en-GB" dirty="0"/>
              <a:t>                $u-&gt;receive($</a:t>
            </a:r>
            <a:r>
              <a:rPr lang="en-GB" dirty="0" err="1"/>
              <a:t>msg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            }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668F38-509A-A3C2-745A-9A1E9AD56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4008"/>
            <a:ext cx="5181600" cy="611295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ConcreteUser</a:t>
            </a:r>
            <a:r>
              <a:rPr lang="en-GB" dirty="0"/>
              <a:t> extends User {</a:t>
            </a:r>
          </a:p>
          <a:p>
            <a:pPr marL="0" indent="0">
              <a:buNone/>
            </a:pPr>
            <a:r>
              <a:rPr lang="en-GB" dirty="0"/>
              <a:t>    public function send(string $</a:t>
            </a:r>
            <a:r>
              <a:rPr lang="en-GB" dirty="0" err="1"/>
              <a:t>msg</a:t>
            </a:r>
            <a:r>
              <a:rPr lang="en-GB" dirty="0"/>
              <a:t>): void {</a:t>
            </a:r>
          </a:p>
          <a:p>
            <a:pPr marL="0" indent="0">
              <a:buNone/>
            </a:pPr>
            <a:r>
              <a:rPr lang="en-GB" dirty="0"/>
              <a:t>        echo "{$this-&gt;name} sending: $</a:t>
            </a:r>
            <a:r>
              <a:rPr lang="en-GB" dirty="0" err="1"/>
              <a:t>msg</a:t>
            </a:r>
            <a:r>
              <a:rPr lang="en-GB" dirty="0"/>
              <a:t>\n";</a:t>
            </a:r>
          </a:p>
          <a:p>
            <a:pPr marL="0" indent="0">
              <a:buNone/>
            </a:pPr>
            <a:r>
              <a:rPr lang="en-GB" dirty="0"/>
              <a:t>        $this-&gt;mediator-&gt;</a:t>
            </a:r>
            <a:r>
              <a:rPr lang="en-GB" dirty="0" err="1"/>
              <a:t>sendMessage</a:t>
            </a:r>
            <a:r>
              <a:rPr lang="en-GB" dirty="0"/>
              <a:t>($</a:t>
            </a:r>
            <a:r>
              <a:rPr lang="en-GB" dirty="0" err="1"/>
              <a:t>msg</a:t>
            </a:r>
            <a:r>
              <a:rPr lang="en-GB" dirty="0"/>
              <a:t>, $this);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receive(string $</a:t>
            </a:r>
            <a:r>
              <a:rPr lang="en-GB" dirty="0" err="1"/>
              <a:t>msg</a:t>
            </a:r>
            <a:r>
              <a:rPr lang="en-GB" dirty="0"/>
              <a:t>): void {</a:t>
            </a:r>
          </a:p>
          <a:p>
            <a:pPr marL="0" indent="0">
              <a:buNone/>
            </a:pPr>
            <a:r>
              <a:rPr lang="en-GB" dirty="0"/>
              <a:t>        echo "{$this-&gt;name} received: $</a:t>
            </a:r>
            <a:r>
              <a:rPr lang="en-GB" dirty="0" err="1"/>
              <a:t>msg</a:t>
            </a:r>
            <a:r>
              <a:rPr lang="en-GB" dirty="0"/>
              <a:t>\n";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</a:t>
            </a:r>
          </a:p>
          <a:p>
            <a:pPr marL="0" indent="0">
              <a:buNone/>
            </a:pPr>
            <a:r>
              <a:rPr lang="en-GB" dirty="0"/>
              <a:t>$mediator = new </a:t>
            </a:r>
            <a:r>
              <a:rPr lang="en-GB" dirty="0" err="1"/>
              <a:t>ChatRoom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alice</a:t>
            </a:r>
            <a:r>
              <a:rPr lang="en-GB" dirty="0"/>
              <a:t> = new </a:t>
            </a:r>
            <a:r>
              <a:rPr lang="en-GB" dirty="0" err="1"/>
              <a:t>ConcreteUser</a:t>
            </a:r>
            <a:r>
              <a:rPr lang="en-GB" dirty="0"/>
              <a:t>($mediator, "Alice");</a:t>
            </a:r>
          </a:p>
          <a:p>
            <a:pPr marL="0" indent="0">
              <a:buNone/>
            </a:pPr>
            <a:r>
              <a:rPr lang="en-GB" dirty="0"/>
              <a:t>$bob = new </a:t>
            </a:r>
            <a:r>
              <a:rPr lang="en-GB" dirty="0" err="1"/>
              <a:t>ConcreteUser</a:t>
            </a:r>
            <a:r>
              <a:rPr lang="en-GB" dirty="0"/>
              <a:t>($mediator, "Bob");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$mediator-&gt;</a:t>
            </a:r>
            <a:r>
              <a:rPr lang="en-GB" dirty="0" err="1"/>
              <a:t>addUser</a:t>
            </a:r>
            <a:r>
              <a:rPr lang="en-GB" dirty="0"/>
              <a:t>($</a:t>
            </a:r>
            <a:r>
              <a:rPr lang="en-GB" dirty="0" err="1"/>
              <a:t>alice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$mediator-&gt;</a:t>
            </a:r>
            <a:r>
              <a:rPr lang="en-GB" dirty="0" err="1"/>
              <a:t>addUser</a:t>
            </a:r>
            <a:r>
              <a:rPr lang="en-GB" dirty="0"/>
              <a:t>($bob);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alice</a:t>
            </a:r>
            <a:r>
              <a:rPr lang="en-GB" dirty="0"/>
              <a:t>-&gt;send("Hi Bob!");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7521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932873-C1AD-B153-F0BC-A9791F46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7104F-E8E8-DFA5-0E56-ABACDC842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interface Mediator {</a:t>
            </a:r>
          </a:p>
          <a:p>
            <a:pPr marL="0" indent="0">
              <a:buNone/>
            </a:pPr>
            <a:r>
              <a:rPr lang="en-GB" dirty="0"/>
              <a:t>    public function notify(object $sender, string $event): void;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FormMediator</a:t>
            </a:r>
            <a:r>
              <a:rPr lang="en-GB" dirty="0"/>
              <a:t> implements Mediator {</a:t>
            </a:r>
          </a:p>
          <a:p>
            <a:pPr marL="0" indent="0">
              <a:buNone/>
            </a:pPr>
            <a:r>
              <a:rPr lang="en-GB" dirty="0"/>
              <a:t>    public function __construct(</a:t>
            </a:r>
          </a:p>
          <a:p>
            <a:pPr marL="0" indent="0">
              <a:buNone/>
            </a:pPr>
            <a:r>
              <a:rPr lang="en-GB" dirty="0"/>
              <a:t>        private Checkbox $</a:t>
            </a:r>
            <a:r>
              <a:rPr lang="en-GB" dirty="0" err="1"/>
              <a:t>customToggle</a:t>
            </a: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        private </a:t>
            </a:r>
            <a:r>
              <a:rPr lang="en-GB" dirty="0" err="1"/>
              <a:t>TextField</a:t>
            </a:r>
            <a:r>
              <a:rPr lang="en-GB" dirty="0"/>
              <a:t> $</a:t>
            </a:r>
            <a:r>
              <a:rPr lang="en-GB" dirty="0" err="1"/>
              <a:t>customInput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) {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customToggle</a:t>
            </a:r>
            <a:r>
              <a:rPr lang="en-GB" dirty="0"/>
              <a:t>-&gt;</a:t>
            </a:r>
            <a:r>
              <a:rPr lang="en-GB" dirty="0" err="1"/>
              <a:t>setMediator</a:t>
            </a:r>
            <a:r>
              <a:rPr lang="en-GB" dirty="0"/>
              <a:t>($this);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customInput</a:t>
            </a:r>
            <a:r>
              <a:rPr lang="en-GB" dirty="0"/>
              <a:t>-&gt;</a:t>
            </a:r>
            <a:r>
              <a:rPr lang="en-GB" dirty="0" err="1"/>
              <a:t>setMediator</a:t>
            </a:r>
            <a:r>
              <a:rPr lang="en-GB" dirty="0"/>
              <a:t>($this);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2A44-80BF-DC1C-3DA6-47391BB6D2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notify(object $sender, string $event): void {</a:t>
            </a:r>
          </a:p>
          <a:p>
            <a:pPr marL="0" indent="0">
              <a:buNone/>
            </a:pPr>
            <a:r>
              <a:rPr lang="en-GB" dirty="0"/>
              <a:t>        if ($sender === $this-&gt;</a:t>
            </a:r>
            <a:r>
              <a:rPr lang="en-GB" dirty="0" err="1"/>
              <a:t>customToggle</a:t>
            </a:r>
            <a:r>
              <a:rPr lang="en-GB" dirty="0"/>
              <a:t> &amp;&amp; $event === 'checked') {</a:t>
            </a:r>
          </a:p>
          <a:p>
            <a:pPr marL="0" indent="0">
              <a:buNone/>
            </a:pPr>
            <a:r>
              <a:rPr lang="en-GB" dirty="0"/>
              <a:t>            $this-&gt;</a:t>
            </a:r>
            <a:r>
              <a:rPr lang="en-GB" dirty="0" err="1"/>
              <a:t>customInput</a:t>
            </a:r>
            <a:r>
              <a:rPr lang="en-GB" dirty="0"/>
              <a:t>-&gt;enable();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Checkbox {</a:t>
            </a:r>
          </a:p>
          <a:p>
            <a:pPr marL="0" indent="0">
              <a:buNone/>
            </a:pPr>
            <a:r>
              <a:rPr lang="en-GB" dirty="0"/>
              <a:t>    private Mediator $mediator;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setMediator</a:t>
            </a:r>
            <a:r>
              <a:rPr lang="en-GB" dirty="0"/>
              <a:t>(Mediator $m) { $this-&gt;mediator = $m; }</a:t>
            </a:r>
          </a:p>
          <a:p>
            <a:pPr marL="0" indent="0">
              <a:buNone/>
            </a:pPr>
            <a:r>
              <a:rPr lang="en-GB" dirty="0"/>
              <a:t>    </a:t>
            </a:r>
          </a:p>
          <a:p>
            <a:pPr marL="0" indent="0">
              <a:buNone/>
            </a:pPr>
            <a:r>
              <a:rPr lang="en-GB" dirty="0"/>
              <a:t>    public function check() {</a:t>
            </a:r>
          </a:p>
          <a:p>
            <a:pPr marL="0" indent="0">
              <a:buNone/>
            </a:pPr>
            <a:r>
              <a:rPr lang="en-GB" dirty="0"/>
              <a:t>        // Logic to check box...</a:t>
            </a:r>
          </a:p>
          <a:p>
            <a:pPr marL="0" indent="0">
              <a:buNone/>
            </a:pPr>
            <a:r>
              <a:rPr lang="en-GB" dirty="0"/>
              <a:t>        $this-&gt;mediator-&gt;notify($this, 'checked');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0453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3472-5D00-9912-D31C-FC2E6397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Memento Pattern in PHP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5DB7F-BDC3-3A17-00B7-1989D0905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a </a:t>
            </a:r>
            <a:r>
              <a:rPr lang="en-GB" b="1" dirty="0" err="1"/>
              <a:t>behavioral</a:t>
            </a:r>
            <a:r>
              <a:rPr lang="en-GB" b="1" dirty="0"/>
              <a:t> design pattern</a:t>
            </a:r>
            <a:r>
              <a:rPr lang="en-GB" dirty="0"/>
              <a:t> that allows to capture and restore an object’s state without exposing its internal details.</a:t>
            </a:r>
          </a:p>
          <a:p>
            <a:r>
              <a:rPr lang="en-GB" dirty="0"/>
              <a:t>Used  to capture and restore an object's internal state without violating encapsulation. </a:t>
            </a:r>
          </a:p>
          <a:p>
            <a:r>
              <a:rPr lang="en-GB" dirty="0"/>
              <a:t>is primarily used to implement "undo" or "rollback" features in applications like text editors or configuration managers. </a:t>
            </a:r>
          </a:p>
        </p:txBody>
      </p:sp>
    </p:spTree>
    <p:extLst>
      <p:ext uri="{BB962C8B-B14F-4D97-AF65-F5344CB8AC3E}">
        <p14:creationId xmlns:p14="http://schemas.microsoft.com/office/powerpoint/2010/main" val="8895295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3E3F3-74B4-DA6D-0C11-C0DAEF2F8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0"/>
            <a:ext cx="5181600" cy="6176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// The Memento: Holds the state</a:t>
            </a:r>
          </a:p>
          <a:p>
            <a:pPr marL="0" indent="0">
              <a:buNone/>
            </a:pPr>
            <a:r>
              <a:rPr lang="en-GB" dirty="0"/>
              <a:t>class Memento {</a:t>
            </a:r>
          </a:p>
          <a:p>
            <a:pPr marL="0" indent="0">
              <a:buNone/>
            </a:pPr>
            <a:r>
              <a:rPr lang="en-GB" dirty="0"/>
              <a:t>    private string $state;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__construct(string $state) {</a:t>
            </a:r>
          </a:p>
          <a:p>
            <a:pPr marL="0" indent="0">
              <a:buNone/>
            </a:pPr>
            <a:r>
              <a:rPr lang="en-GB" dirty="0"/>
              <a:t>        $this-&gt;state = $state;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getState</a:t>
            </a:r>
            <a:r>
              <a:rPr lang="en-GB" dirty="0"/>
              <a:t>(): string {</a:t>
            </a:r>
          </a:p>
          <a:p>
            <a:pPr marL="0" indent="0">
              <a:buNone/>
            </a:pPr>
            <a:r>
              <a:rPr lang="en-GB" dirty="0"/>
              <a:t>        return $this-&gt;state;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// The Originator: The object to be saved</a:t>
            </a:r>
          </a:p>
          <a:p>
            <a:pPr marL="0" indent="0">
              <a:buNone/>
            </a:pPr>
            <a:r>
              <a:rPr lang="en-GB" dirty="0"/>
              <a:t>class Editor {</a:t>
            </a:r>
          </a:p>
          <a:p>
            <a:pPr marL="0" indent="0">
              <a:buNone/>
            </a:pPr>
            <a:r>
              <a:rPr lang="en-GB" dirty="0"/>
              <a:t>    private string $content = "";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type(string $words): void {</a:t>
            </a:r>
          </a:p>
          <a:p>
            <a:pPr marL="0" indent="0">
              <a:buNone/>
            </a:pPr>
            <a:r>
              <a:rPr lang="en-GB" dirty="0"/>
              <a:t>        $this-&gt;content .= $words;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save(): Memento {</a:t>
            </a:r>
          </a:p>
          <a:p>
            <a:pPr marL="0" indent="0">
              <a:buNone/>
            </a:pPr>
            <a:r>
              <a:rPr lang="en-GB" dirty="0"/>
              <a:t>        return new Memento($this-&gt;content);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restore(Memento $memento): void {</a:t>
            </a:r>
          </a:p>
          <a:p>
            <a:pPr marL="0" indent="0">
              <a:buNone/>
            </a:pPr>
            <a:r>
              <a:rPr lang="en-GB" dirty="0"/>
              <a:t>        $this-&gt;content = $memento-&gt;</a:t>
            </a:r>
            <a:r>
              <a:rPr lang="en-GB" dirty="0" err="1"/>
              <a:t>getState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getContent</a:t>
            </a:r>
            <a:r>
              <a:rPr lang="en-GB" dirty="0"/>
              <a:t>(): string {</a:t>
            </a:r>
          </a:p>
          <a:p>
            <a:pPr marL="0" indent="0">
              <a:buNone/>
            </a:pPr>
            <a:r>
              <a:rPr lang="en-GB" dirty="0"/>
              <a:t>        return $this-&gt;content;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D642C-B08A-81EC-55B5-1C9CE77BF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176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The Caretaker: Manages history</a:t>
            </a:r>
          </a:p>
          <a:p>
            <a:pPr marL="0" indent="0">
              <a:buNone/>
            </a:pPr>
            <a:r>
              <a:rPr lang="en-GB" dirty="0"/>
              <a:t>class History {</a:t>
            </a:r>
          </a:p>
          <a:p>
            <a:pPr marL="0" indent="0">
              <a:buNone/>
            </a:pPr>
            <a:r>
              <a:rPr lang="en-GB" dirty="0"/>
              <a:t>    private array $mementos = [];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push(Memento $memento): void {</a:t>
            </a:r>
          </a:p>
          <a:p>
            <a:pPr marL="0" indent="0">
              <a:buNone/>
            </a:pPr>
            <a:r>
              <a:rPr lang="en-GB" dirty="0"/>
              <a:t>        $this-&gt;mementos[] = $memento;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pop(): ?Memento {</a:t>
            </a:r>
          </a:p>
          <a:p>
            <a:pPr marL="0" indent="0">
              <a:buNone/>
            </a:pPr>
            <a:r>
              <a:rPr lang="en-GB" dirty="0"/>
              <a:t>        return </a:t>
            </a:r>
            <a:r>
              <a:rPr lang="en-GB" dirty="0" err="1"/>
              <a:t>array_pop</a:t>
            </a:r>
            <a:r>
              <a:rPr lang="en-GB" dirty="0"/>
              <a:t>($this-&gt;mementos);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</a:t>
            </a:r>
          </a:p>
          <a:p>
            <a:pPr marL="0" indent="0">
              <a:buNone/>
            </a:pPr>
            <a:r>
              <a:rPr lang="en-GB" dirty="0"/>
              <a:t>$editor = new Editor();</a:t>
            </a:r>
          </a:p>
          <a:p>
            <a:pPr marL="0" indent="0">
              <a:buNone/>
            </a:pPr>
            <a:r>
              <a:rPr lang="en-GB" dirty="0"/>
              <a:t>$history = new History();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$editor-&gt;type("First sentence. ");</a:t>
            </a:r>
          </a:p>
          <a:p>
            <a:pPr marL="0" indent="0">
              <a:buNone/>
            </a:pPr>
            <a:r>
              <a:rPr lang="en-GB" dirty="0"/>
              <a:t>$history-&gt;push($editor-&gt;save()); // Save Point 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$editor-&gt;type("Second sentence.");</a:t>
            </a:r>
          </a:p>
          <a:p>
            <a:pPr marL="0" indent="0">
              <a:buNone/>
            </a:pPr>
            <a:r>
              <a:rPr lang="en-GB" dirty="0"/>
              <a:t>echo $editor-&gt;</a:t>
            </a:r>
            <a:r>
              <a:rPr lang="en-GB" dirty="0" err="1"/>
              <a:t>getContent</a:t>
            </a:r>
            <a:r>
              <a:rPr lang="en-GB" dirty="0"/>
              <a:t>(); // "First sentence. Second sentence."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$editor-&gt;restore($history-&gt;pop()); // Undo</a:t>
            </a:r>
          </a:p>
          <a:p>
            <a:pPr marL="0" indent="0">
              <a:buNone/>
            </a:pPr>
            <a:r>
              <a:rPr lang="en-GB" dirty="0"/>
              <a:t>echo $editor-&gt;</a:t>
            </a:r>
            <a:r>
              <a:rPr lang="en-GB" dirty="0" err="1"/>
              <a:t>getContent</a:t>
            </a:r>
            <a:r>
              <a:rPr lang="en-GB" dirty="0"/>
              <a:t>(); // "First sentence. "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7314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2BAE-C464-C545-12AC-A2D1EC6F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📌 Use Cases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88AA-6B10-0145-D21F-F4C713EE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Undo/redo functionality</a:t>
            </a:r>
            <a:r>
              <a:rPr lang="en-GB" dirty="0"/>
              <a:t> in editors.</a:t>
            </a:r>
          </a:p>
          <a:p>
            <a:pPr lvl="0"/>
            <a:r>
              <a:rPr lang="en-GB" b="1" dirty="0"/>
              <a:t>Game save states</a:t>
            </a:r>
            <a:r>
              <a:rPr lang="en-GB" dirty="0"/>
              <a:t>.</a:t>
            </a:r>
          </a:p>
          <a:p>
            <a:pPr lvl="0"/>
            <a:r>
              <a:rPr lang="en-GB" b="1" dirty="0"/>
              <a:t>Transaction rollback</a:t>
            </a:r>
            <a:r>
              <a:rPr lang="en-GB" dirty="0"/>
              <a:t> in financial systems.</a:t>
            </a:r>
          </a:p>
          <a:p>
            <a:r>
              <a:rPr lang="en-GB" b="1" dirty="0"/>
              <a:t>Configuration snapshots</a:t>
            </a:r>
            <a:r>
              <a:rPr lang="en-GB" dirty="0"/>
              <a:t> for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17974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8589</Words>
  <Application>Microsoft Office PowerPoint</Application>
  <PresentationFormat>Widescreen</PresentationFormat>
  <Paragraphs>1270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Aptos</vt:lpstr>
      <vt:lpstr>Aptos Display</vt:lpstr>
      <vt:lpstr>Arial</vt:lpstr>
      <vt:lpstr>Office Theme</vt:lpstr>
      <vt:lpstr>Design pattern in php</vt:lpstr>
      <vt:lpstr>PowerPoint Presentation</vt:lpstr>
      <vt:lpstr>PowerPoint Presentation</vt:lpstr>
      <vt:lpstr> Creational Patterns </vt:lpstr>
      <vt:lpstr>Structural Patterns </vt:lpstr>
      <vt:lpstr>Behavioral Patterns </vt:lpstr>
      <vt:lpstr> Creational Patterns </vt:lpstr>
      <vt:lpstr>Singleton </vt:lpstr>
      <vt:lpstr>PowerPoint Presentation</vt:lpstr>
      <vt:lpstr>PowerPoint Presentation</vt:lpstr>
      <vt:lpstr>PowerPoint Presentation</vt:lpstr>
      <vt:lpstr>Factory Method Pattern </vt:lpstr>
      <vt:lpstr>PowerPoint Presentation</vt:lpstr>
      <vt:lpstr>PowerPoint Presentation</vt:lpstr>
      <vt:lpstr>Abstract Factory Pattern </vt:lpstr>
      <vt:lpstr>PowerPoint Presentation</vt:lpstr>
      <vt:lpstr>PowerPoint Presentation</vt:lpstr>
      <vt:lpstr>🔑 Key Points </vt:lpstr>
      <vt:lpstr>Builder Pattern </vt:lpstr>
      <vt:lpstr>PowerPoint Presentation</vt:lpstr>
      <vt:lpstr>PowerPoint Presentation</vt:lpstr>
      <vt:lpstr>Prototype Pattern</vt:lpstr>
      <vt:lpstr>🔑 Key Points </vt:lpstr>
      <vt:lpstr>PowerPoint Presentation</vt:lpstr>
      <vt:lpstr>PowerPoint Presentation</vt:lpstr>
      <vt:lpstr>Structural Patterns </vt:lpstr>
      <vt:lpstr>Adapter pattern </vt:lpstr>
      <vt:lpstr>Why Use It? </vt:lpstr>
      <vt:lpstr>Core Components </vt:lpstr>
      <vt:lpstr>PowerPoint Presentation</vt:lpstr>
      <vt:lpstr>Use Cases </vt:lpstr>
      <vt:lpstr>Decorator Pattern</vt:lpstr>
      <vt:lpstr>Key Concepts </vt:lpstr>
      <vt:lpstr>PowerPoint Presentation</vt:lpstr>
      <vt:lpstr>Common Use Cases </vt:lpstr>
      <vt:lpstr> Composite Pattern </vt:lpstr>
      <vt:lpstr>PowerPoint Presentation</vt:lpstr>
      <vt:lpstr>Use Cases </vt:lpstr>
      <vt:lpstr>Facade Pattern </vt:lpstr>
      <vt:lpstr>PowerPoint Presentation</vt:lpstr>
      <vt:lpstr>🔑 Key Points </vt:lpstr>
      <vt:lpstr>Use Cases </vt:lpstr>
      <vt:lpstr>Proxy Pattern  </vt:lpstr>
      <vt:lpstr>Key Points </vt:lpstr>
      <vt:lpstr>PowerPoint Presentation</vt:lpstr>
      <vt:lpstr>📌 Use Cases </vt:lpstr>
      <vt:lpstr>🔄 Behavioral Patterns </vt:lpstr>
      <vt:lpstr>👀 Observer Pattern  </vt:lpstr>
      <vt:lpstr>PowerPoint Presentation</vt:lpstr>
      <vt:lpstr>📌 Use Cases </vt:lpstr>
      <vt:lpstr> Strategy Pattern  </vt:lpstr>
      <vt:lpstr>Core Components </vt:lpstr>
      <vt:lpstr>PowerPoint Presentation</vt:lpstr>
      <vt:lpstr>📌 Use Cases </vt:lpstr>
      <vt:lpstr>When to Use It </vt:lpstr>
      <vt:lpstr>Key Benefits </vt:lpstr>
      <vt:lpstr>Command Pattern</vt:lpstr>
      <vt:lpstr>PowerPoint Presentation</vt:lpstr>
      <vt:lpstr>Chain of Responsibility pattern</vt:lpstr>
      <vt:lpstr>PowerPoint Presentation</vt:lpstr>
      <vt:lpstr>State Pattern</vt:lpstr>
      <vt:lpstr>Core Components </vt:lpstr>
      <vt:lpstr>PowerPoint Presentation</vt:lpstr>
      <vt:lpstr>Iterator Pattern</vt:lpstr>
      <vt:lpstr>Core PHP Interfaces </vt:lpstr>
      <vt:lpstr>PowerPoint Presentation</vt:lpstr>
      <vt:lpstr>Mediator Pattern </vt:lpstr>
      <vt:lpstr>Key Concepts</vt:lpstr>
      <vt:lpstr>📌 Use Cases </vt:lpstr>
      <vt:lpstr>PowerPoint Presentation</vt:lpstr>
      <vt:lpstr>PowerPoint Presentation</vt:lpstr>
      <vt:lpstr>Memento Pattern in PHP </vt:lpstr>
      <vt:lpstr>PowerPoint Presentation</vt:lpstr>
      <vt:lpstr>📌 Use Cases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2</cp:revision>
  <dcterms:created xsi:type="dcterms:W3CDTF">2026-05-17T22:31:50Z</dcterms:created>
  <dcterms:modified xsi:type="dcterms:W3CDTF">2026-05-18T00:44:15Z</dcterms:modified>
</cp:coreProperties>
</file>